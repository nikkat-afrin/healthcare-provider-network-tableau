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5" r:id="rId8"/>
    <p:sldId id="262" r:id="rId9"/>
    <p:sldId id="267" r:id="rId10"/>
    <p:sldId id="263" r:id="rId11"/>
    <p:sldId id="264" r:id="rId12"/>
    <p:sldId id="266" r:id="rId13"/>
    <p:sldId id="268" r:id="rId14"/>
    <p:sldId id="269" r:id="rId15"/>
    <p:sldId id="270" r:id="rId16"/>
    <p:sldId id="271" r:id="rId17"/>
    <p:sldId id="272"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80" autoAdjust="0"/>
    <p:restoredTop sz="94660"/>
  </p:normalViewPr>
  <p:slideViewPr>
    <p:cSldViewPr>
      <p:cViewPr>
        <p:scale>
          <a:sx n="69" d="100"/>
          <a:sy n="69" d="100"/>
        </p:scale>
        <p:origin x="460" y="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ant Patel" userId="1bf57210f1463475" providerId="LiveId" clId="{4406B09F-8B80-4D4B-9909-D3E57542267C}"/>
    <pc:docChg chg="undo custSel addSld delSld">
      <pc:chgData name="Vedant Patel" userId="1bf57210f1463475" providerId="LiveId" clId="{4406B09F-8B80-4D4B-9909-D3E57542267C}" dt="2024-05-06T21:37:04.896" v="5" actId="680"/>
      <pc:docMkLst>
        <pc:docMk/>
      </pc:docMkLst>
      <pc:sldChg chg="new del">
        <pc:chgData name="Vedant Patel" userId="1bf57210f1463475" providerId="LiveId" clId="{4406B09F-8B80-4D4B-9909-D3E57542267C}" dt="2024-05-06T21:37:04.896" v="5" actId="680"/>
        <pc:sldMkLst>
          <pc:docMk/>
          <pc:sldMk cId="646543512" sldId="273"/>
        </pc:sldMkLst>
      </pc:sldChg>
      <pc:sldChg chg="new del">
        <pc:chgData name="Vedant Patel" userId="1bf57210f1463475" providerId="LiveId" clId="{4406B09F-8B80-4D4B-9909-D3E57542267C}" dt="2024-05-06T21:37:03.671" v="4" actId="680"/>
        <pc:sldMkLst>
          <pc:docMk/>
          <pc:sldMk cId="3163890740" sldId="274"/>
        </pc:sldMkLst>
      </pc:sldChg>
      <pc:sldChg chg="new del">
        <pc:chgData name="Vedant Patel" userId="1bf57210f1463475" providerId="LiveId" clId="{4406B09F-8B80-4D4B-9909-D3E57542267C}" dt="2024-05-06T21:37:02.765" v="3" actId="680"/>
        <pc:sldMkLst>
          <pc:docMk/>
          <pc:sldMk cId="2698680244" sldId="275"/>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0000"/>
          </a:solidFill>
        </p:spPr>
        <p:txBody>
          <a:bodyPr wrap="square" lIns="0" tIns="0" rIns="0" bIns="0" rtlCol="0"/>
          <a:lstStyle/>
          <a:p>
            <a:endParaRPr/>
          </a:p>
        </p:txBody>
      </p:sp>
      <p:sp>
        <p:nvSpPr>
          <p:cNvPr id="17" name="bg object 17"/>
          <p:cNvSpPr/>
          <p:nvPr/>
        </p:nvSpPr>
        <p:spPr>
          <a:xfrm>
            <a:off x="800862" y="724662"/>
            <a:ext cx="1638300" cy="0"/>
          </a:xfrm>
          <a:custGeom>
            <a:avLst/>
            <a:gdLst/>
            <a:ahLst/>
            <a:cxnLst/>
            <a:rect l="l" t="t" r="r" b="b"/>
            <a:pathLst>
              <a:path w="1638300">
                <a:moveTo>
                  <a:pt x="0" y="0"/>
                </a:moveTo>
                <a:lnTo>
                  <a:pt x="1638300" y="0"/>
                </a:lnTo>
              </a:path>
            </a:pathLst>
          </a:custGeom>
          <a:ln w="44450">
            <a:solidFill>
              <a:srgbClr val="FFFFFF"/>
            </a:solidFill>
          </a:ln>
        </p:spPr>
        <p:txBody>
          <a:bodyPr wrap="square" lIns="0" tIns="0" rIns="0" bIns="0" rtlCol="0"/>
          <a:lstStyle/>
          <a:p>
            <a:endParaRPr/>
          </a:p>
        </p:txBody>
      </p:sp>
      <p:pic>
        <p:nvPicPr>
          <p:cNvPr id="18" name="bg object 18"/>
          <p:cNvPicPr/>
          <p:nvPr/>
        </p:nvPicPr>
        <p:blipFill>
          <a:blip r:embed="rId2" cstate="print"/>
          <a:stretch>
            <a:fillRect/>
          </a:stretch>
        </p:blipFill>
        <p:spPr>
          <a:xfrm>
            <a:off x="4876800" y="0"/>
            <a:ext cx="7315200" cy="6857997"/>
          </a:xfrm>
          <a:prstGeom prst="rect">
            <a:avLst/>
          </a:prstGeom>
        </p:spPr>
      </p:pic>
      <p:sp>
        <p:nvSpPr>
          <p:cNvPr id="2" name="Holder 2"/>
          <p:cNvSpPr>
            <a:spLocks noGrp="1"/>
          </p:cNvSpPr>
          <p:nvPr>
            <p:ph type="ctrTitle"/>
          </p:nvPr>
        </p:nvSpPr>
        <p:spPr>
          <a:xfrm>
            <a:off x="1144016" y="1475993"/>
            <a:ext cx="2732404" cy="1854200"/>
          </a:xfrm>
          <a:prstGeom prst="rect">
            <a:avLst/>
          </a:prstGeom>
        </p:spPr>
        <p:txBody>
          <a:bodyPr wrap="square" lIns="0" tIns="0" rIns="0" bIns="0">
            <a:spAutoFit/>
          </a:bodyPr>
          <a:lstStyle>
            <a:lvl1pPr>
              <a:defRPr sz="3600" b="0" i="0">
                <a:solidFill>
                  <a:schemeClr val="tx1"/>
                </a:solidFill>
                <a:latin typeface="Tahoma"/>
                <a:cs typeface="Tahom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Georgia"/>
                <a:cs typeface="Georg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6" name="Holder 6"/>
          <p:cNvSpPr>
            <a:spLocks noGrp="1"/>
          </p:cNvSpPr>
          <p:nvPr>
            <p:ph type="sldNum" sz="quarter" idx="7"/>
          </p:nvPr>
        </p:nvSpPr>
        <p:spPr/>
        <p:txBody>
          <a:bodyPr lIns="0" tIns="0" rIns="0" bIns="0"/>
          <a:lstStyle>
            <a:lvl1pPr>
              <a:defRPr sz="1800" b="0" i="0">
                <a:solidFill>
                  <a:schemeClr val="bg1"/>
                </a:solidFill>
                <a:latin typeface="Georgia"/>
                <a:cs typeface="Georgia"/>
              </a:defRPr>
            </a:lvl1pPr>
          </a:lstStyle>
          <a:p>
            <a:pPr marL="153670">
              <a:lnSpc>
                <a:spcPts val="2125"/>
              </a:lnSpc>
            </a:pPr>
            <a:fld id="{81D60167-4931-47E6-BA6A-407CBD079E47}" type="slidenum">
              <a:rPr spc="-50" dirty="0">
                <a:solidFill>
                  <a:srgbClr val="000000"/>
                </a:solidFill>
              </a:rPr>
              <a:t>‹#›</a:t>
            </a:fld>
            <a:endParaRPr spc="-50" dirty="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05433" y="724662"/>
            <a:ext cx="10589260" cy="0"/>
          </a:xfrm>
          <a:custGeom>
            <a:avLst/>
            <a:gdLst/>
            <a:ahLst/>
            <a:cxnLst/>
            <a:rect l="l" t="t" r="r" b="b"/>
            <a:pathLst>
              <a:path w="10589260">
                <a:moveTo>
                  <a:pt x="0" y="0"/>
                </a:moveTo>
                <a:lnTo>
                  <a:pt x="10588752" y="0"/>
                </a:lnTo>
              </a:path>
            </a:pathLst>
          </a:custGeom>
          <a:ln w="44450">
            <a:solidFill>
              <a:srgbClr val="000000"/>
            </a:solidFill>
          </a:ln>
        </p:spPr>
        <p:txBody>
          <a:bodyPr wrap="square" lIns="0" tIns="0" rIns="0" bIns="0" rtlCol="0"/>
          <a:lstStyle/>
          <a:p>
            <a:endParaRPr/>
          </a:p>
        </p:txBody>
      </p:sp>
      <p:sp>
        <p:nvSpPr>
          <p:cNvPr id="17" name="bg object 17"/>
          <p:cNvSpPr/>
          <p:nvPr/>
        </p:nvSpPr>
        <p:spPr>
          <a:xfrm>
            <a:off x="809244" y="6146291"/>
            <a:ext cx="10582910" cy="0"/>
          </a:xfrm>
          <a:custGeom>
            <a:avLst/>
            <a:gdLst/>
            <a:ahLst/>
            <a:cxnLst/>
            <a:rect l="l" t="t" r="r" b="b"/>
            <a:pathLst>
              <a:path w="10582910">
                <a:moveTo>
                  <a:pt x="0" y="0"/>
                </a:moveTo>
                <a:lnTo>
                  <a:pt x="10582783" y="0"/>
                </a:lnTo>
              </a:path>
            </a:pathLst>
          </a:custGeom>
          <a:ln w="12700">
            <a:solidFill>
              <a:srgbClr val="0000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Georgia"/>
                <a:cs typeface="Georg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6" name="Holder 6"/>
          <p:cNvSpPr>
            <a:spLocks noGrp="1"/>
          </p:cNvSpPr>
          <p:nvPr>
            <p:ph type="sldNum" sz="quarter" idx="7"/>
          </p:nvPr>
        </p:nvSpPr>
        <p:spPr/>
        <p:txBody>
          <a:bodyPr lIns="0" tIns="0" rIns="0" bIns="0"/>
          <a:lstStyle>
            <a:lvl1pPr>
              <a:defRPr sz="1800" b="0" i="0">
                <a:solidFill>
                  <a:schemeClr val="bg1"/>
                </a:solidFill>
                <a:latin typeface="Georgia"/>
                <a:cs typeface="Georgia"/>
              </a:defRPr>
            </a:lvl1pPr>
          </a:lstStyle>
          <a:p>
            <a:pPr marL="153670">
              <a:lnSpc>
                <a:spcPts val="2125"/>
              </a:lnSpc>
            </a:pPr>
            <a:fld id="{81D60167-4931-47E6-BA6A-407CBD079E47}" type="slidenum">
              <a:rPr spc="-50" dirty="0">
                <a:solidFill>
                  <a:srgbClr val="000000"/>
                </a:solidFill>
              </a:rPr>
              <a:t>‹#›</a:t>
            </a:fld>
            <a:endParaRPr spc="-50" dirty="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Tahoma"/>
                <a:cs typeface="Tahom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7" name="Holder 7"/>
          <p:cNvSpPr>
            <a:spLocks noGrp="1"/>
          </p:cNvSpPr>
          <p:nvPr>
            <p:ph type="sldNum" sz="quarter" idx="7"/>
          </p:nvPr>
        </p:nvSpPr>
        <p:spPr/>
        <p:txBody>
          <a:bodyPr lIns="0" tIns="0" rIns="0" bIns="0"/>
          <a:lstStyle>
            <a:lvl1pPr>
              <a:defRPr sz="1800" b="0" i="0">
                <a:solidFill>
                  <a:schemeClr val="bg1"/>
                </a:solidFill>
                <a:latin typeface="Georgia"/>
                <a:cs typeface="Georgia"/>
              </a:defRPr>
            </a:lvl1pPr>
          </a:lstStyle>
          <a:p>
            <a:pPr marL="153670">
              <a:lnSpc>
                <a:spcPts val="2125"/>
              </a:lnSpc>
            </a:pPr>
            <a:fld id="{81D60167-4931-47E6-BA6A-407CBD079E47}" type="slidenum">
              <a:rPr spc="-50" dirty="0">
                <a:solidFill>
                  <a:srgbClr val="000000"/>
                </a:solidFill>
              </a:rPr>
              <a:t>‹#›</a:t>
            </a:fld>
            <a:endParaRPr spc="-50" dirty="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315961" y="1733550"/>
            <a:ext cx="0" cy="3390900"/>
          </a:xfrm>
          <a:custGeom>
            <a:avLst/>
            <a:gdLst/>
            <a:ahLst/>
            <a:cxnLst/>
            <a:rect l="l" t="t" r="r" b="b"/>
            <a:pathLst>
              <a:path h="3390900">
                <a:moveTo>
                  <a:pt x="0" y="3390900"/>
                </a:moveTo>
                <a:lnTo>
                  <a:pt x="0" y="0"/>
                </a:lnTo>
              </a:path>
            </a:pathLst>
          </a:custGeom>
          <a:ln w="44450">
            <a:solidFill>
              <a:srgbClr val="0000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5" name="Holder 5"/>
          <p:cNvSpPr>
            <a:spLocks noGrp="1"/>
          </p:cNvSpPr>
          <p:nvPr>
            <p:ph type="sldNum" sz="quarter" idx="7"/>
          </p:nvPr>
        </p:nvSpPr>
        <p:spPr/>
        <p:txBody>
          <a:bodyPr lIns="0" tIns="0" rIns="0" bIns="0"/>
          <a:lstStyle>
            <a:lvl1pPr>
              <a:defRPr sz="1800" b="0" i="0">
                <a:solidFill>
                  <a:schemeClr val="bg1"/>
                </a:solidFill>
                <a:latin typeface="Georgia"/>
                <a:cs typeface="Georgia"/>
              </a:defRPr>
            </a:lvl1pPr>
          </a:lstStyle>
          <a:p>
            <a:pPr marL="153670">
              <a:lnSpc>
                <a:spcPts val="2125"/>
              </a:lnSpc>
            </a:pPr>
            <a:fld id="{81D60167-4931-47E6-BA6A-407CBD079E47}" type="slidenum">
              <a:rPr spc="-50" dirty="0">
                <a:solidFill>
                  <a:srgbClr val="000000"/>
                </a:solidFill>
              </a:rPr>
              <a:t>‹#›</a:t>
            </a:fld>
            <a:endParaRPr spc="-50" dirty="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4" name="Holder 4"/>
          <p:cNvSpPr>
            <a:spLocks noGrp="1"/>
          </p:cNvSpPr>
          <p:nvPr>
            <p:ph type="sldNum" sz="quarter" idx="7"/>
          </p:nvPr>
        </p:nvSpPr>
        <p:spPr/>
        <p:txBody>
          <a:bodyPr lIns="0" tIns="0" rIns="0" bIns="0"/>
          <a:lstStyle>
            <a:lvl1pPr>
              <a:defRPr sz="1800" b="0" i="0">
                <a:solidFill>
                  <a:schemeClr val="bg1"/>
                </a:solidFill>
                <a:latin typeface="Georgia"/>
                <a:cs typeface="Georgia"/>
              </a:defRPr>
            </a:lvl1pPr>
          </a:lstStyle>
          <a:p>
            <a:pPr marL="153670">
              <a:lnSpc>
                <a:spcPts val="2125"/>
              </a:lnSpc>
            </a:pPr>
            <a:fld id="{81D60167-4931-47E6-BA6A-407CBD079E47}" type="slidenum">
              <a:rPr spc="-50" dirty="0">
                <a:solidFill>
                  <a:srgbClr val="000000"/>
                </a:solidFill>
              </a:rPr>
              <a:t>‹#›</a:t>
            </a:fld>
            <a:endParaRPr spc="-50" dirty="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988" y="12903"/>
            <a:ext cx="12253976" cy="574675"/>
          </a:xfrm>
          <a:prstGeom prst="rect">
            <a:avLst/>
          </a:prstGeom>
        </p:spPr>
        <p:txBody>
          <a:bodyPr wrap="square" lIns="0" tIns="0" rIns="0" bIns="0">
            <a:spAutoFit/>
          </a:bodyPr>
          <a:lstStyle>
            <a:lvl1pPr>
              <a:defRPr sz="3600" b="0" i="0">
                <a:solidFill>
                  <a:schemeClr val="tx1"/>
                </a:solidFill>
                <a:latin typeface="Tahoma"/>
                <a:cs typeface="Tahoma"/>
              </a:defRPr>
            </a:lvl1pPr>
          </a:lstStyle>
          <a:p>
            <a:endParaRPr/>
          </a:p>
        </p:txBody>
      </p:sp>
      <p:sp>
        <p:nvSpPr>
          <p:cNvPr id="3" name="Holder 3"/>
          <p:cNvSpPr>
            <a:spLocks noGrp="1"/>
          </p:cNvSpPr>
          <p:nvPr>
            <p:ph type="body" idx="1"/>
          </p:nvPr>
        </p:nvSpPr>
        <p:spPr>
          <a:xfrm>
            <a:off x="6370446" y="2230093"/>
            <a:ext cx="4995545" cy="2843529"/>
          </a:xfrm>
          <a:prstGeom prst="rect">
            <a:avLst/>
          </a:prstGeom>
        </p:spPr>
        <p:txBody>
          <a:bodyPr wrap="square" lIns="0" tIns="0" rIns="0" bIns="0">
            <a:spAutoFit/>
          </a:bodyPr>
          <a:lstStyle>
            <a:lvl1pPr>
              <a:defRPr sz="2400" b="0" i="0">
                <a:solidFill>
                  <a:schemeClr val="tx1"/>
                </a:solidFill>
                <a:latin typeface="Georgia"/>
                <a:cs typeface="Georgi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5/6/2024</a:t>
            </a:fld>
            <a:endParaRPr lang="en-US"/>
          </a:p>
        </p:txBody>
      </p:sp>
      <p:sp>
        <p:nvSpPr>
          <p:cNvPr id="6" name="Holder 6"/>
          <p:cNvSpPr>
            <a:spLocks noGrp="1"/>
          </p:cNvSpPr>
          <p:nvPr>
            <p:ph type="sldNum" sz="quarter" idx="7"/>
          </p:nvPr>
        </p:nvSpPr>
        <p:spPr>
          <a:xfrm>
            <a:off x="11231244" y="6384281"/>
            <a:ext cx="321563" cy="303911"/>
          </a:xfrm>
          <a:prstGeom prst="rect">
            <a:avLst/>
          </a:prstGeom>
        </p:spPr>
        <p:txBody>
          <a:bodyPr wrap="square" lIns="0" tIns="0" rIns="0" bIns="0">
            <a:spAutoFit/>
          </a:bodyPr>
          <a:lstStyle>
            <a:lvl1pPr>
              <a:defRPr sz="1800" b="0" i="0">
                <a:solidFill>
                  <a:schemeClr val="bg1"/>
                </a:solidFill>
                <a:latin typeface="Georgia"/>
                <a:cs typeface="Georgia"/>
              </a:defRPr>
            </a:lvl1pPr>
          </a:lstStyle>
          <a:p>
            <a:pPr marL="153670">
              <a:lnSpc>
                <a:spcPts val="2125"/>
              </a:lnSpc>
            </a:pPr>
            <a:fld id="{81D60167-4931-47E6-BA6A-407CBD079E47}" type="slidenum">
              <a:rPr spc="-50" dirty="0">
                <a:solidFill>
                  <a:srgbClr val="000000"/>
                </a:solidFill>
              </a:rPr>
              <a:t>‹#›</a:t>
            </a:fld>
            <a:endParaRPr spc="-50" dirty="0">
              <a:solidFill>
                <a:srgbClr val="000000"/>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2.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273050" marR="5080" indent="-260985">
              <a:lnSpc>
                <a:spcPct val="100000"/>
              </a:lnSpc>
              <a:spcBef>
                <a:spcPts val="95"/>
              </a:spcBef>
            </a:pPr>
            <a:r>
              <a:rPr sz="4000" b="1" spc="-450" dirty="0">
                <a:solidFill>
                  <a:srgbClr val="FFFFFF"/>
                </a:solidFill>
                <a:latin typeface="Tahoma"/>
                <a:cs typeface="Tahoma"/>
              </a:rPr>
              <a:t>NYC</a:t>
            </a:r>
            <a:r>
              <a:rPr sz="4000" b="1" spc="-200" dirty="0">
                <a:solidFill>
                  <a:srgbClr val="FFFFFF"/>
                </a:solidFill>
                <a:latin typeface="Tahoma"/>
                <a:cs typeface="Tahoma"/>
              </a:rPr>
              <a:t> </a:t>
            </a:r>
            <a:r>
              <a:rPr sz="4000" b="1" spc="-505" dirty="0">
                <a:solidFill>
                  <a:srgbClr val="FFFFFF"/>
                </a:solidFill>
                <a:latin typeface="Tahoma"/>
                <a:cs typeface="Tahoma"/>
              </a:rPr>
              <a:t>HEALTH </a:t>
            </a:r>
            <a:r>
              <a:rPr sz="4000" b="1" spc="-605" dirty="0">
                <a:solidFill>
                  <a:srgbClr val="FFFFFF"/>
                </a:solidFill>
                <a:latin typeface="Tahoma"/>
                <a:cs typeface="Tahoma"/>
              </a:rPr>
              <a:t>PROVIDER </a:t>
            </a:r>
            <a:r>
              <a:rPr sz="4000" b="1" spc="-550" dirty="0">
                <a:solidFill>
                  <a:srgbClr val="FFFFFF"/>
                </a:solidFill>
                <a:latin typeface="Tahoma"/>
                <a:cs typeface="Tahoma"/>
              </a:rPr>
              <a:t>NETWORK</a:t>
            </a:r>
            <a:endParaRPr sz="4000">
              <a:latin typeface="Tahoma"/>
              <a:cs typeface="Tahoma"/>
            </a:endParaRPr>
          </a:p>
        </p:txBody>
      </p:sp>
      <p:sp>
        <p:nvSpPr>
          <p:cNvPr id="3" name="object 3"/>
          <p:cNvSpPr txBox="1"/>
          <p:nvPr/>
        </p:nvSpPr>
        <p:spPr>
          <a:xfrm>
            <a:off x="912063" y="4605629"/>
            <a:ext cx="2963545" cy="756920"/>
          </a:xfrm>
          <a:prstGeom prst="rect">
            <a:avLst/>
          </a:prstGeom>
        </p:spPr>
        <p:txBody>
          <a:bodyPr vert="horz" wrap="square" lIns="0" tIns="12700" rIns="0" bIns="0" rtlCol="0">
            <a:spAutoFit/>
          </a:bodyPr>
          <a:lstStyle/>
          <a:p>
            <a:pPr marL="12700" marR="5080" indent="237490">
              <a:lnSpc>
                <a:spcPct val="120000"/>
              </a:lnSpc>
              <a:spcBef>
                <a:spcPts val="100"/>
              </a:spcBef>
            </a:pPr>
            <a:r>
              <a:rPr sz="2000" b="1" spc="-280" dirty="0">
                <a:solidFill>
                  <a:srgbClr val="FFFFFF"/>
                </a:solidFill>
                <a:latin typeface="Tahoma"/>
                <a:cs typeface="Tahoma"/>
              </a:rPr>
              <a:t>GROUP</a:t>
            </a:r>
            <a:r>
              <a:rPr sz="2000" b="1" spc="-135" dirty="0">
                <a:solidFill>
                  <a:srgbClr val="FFFFFF"/>
                </a:solidFill>
                <a:latin typeface="Tahoma"/>
                <a:cs typeface="Tahoma"/>
              </a:rPr>
              <a:t> </a:t>
            </a:r>
            <a:r>
              <a:rPr sz="2000" b="1" spc="-185" dirty="0">
                <a:solidFill>
                  <a:srgbClr val="FFFFFF"/>
                </a:solidFill>
                <a:latin typeface="Tahoma"/>
                <a:cs typeface="Tahoma"/>
              </a:rPr>
              <a:t>NAME</a:t>
            </a:r>
            <a:r>
              <a:rPr sz="2000" b="1" spc="-130" dirty="0">
                <a:solidFill>
                  <a:srgbClr val="FFFFFF"/>
                </a:solidFill>
                <a:latin typeface="Tahoma"/>
                <a:cs typeface="Tahoma"/>
              </a:rPr>
              <a:t> </a:t>
            </a:r>
            <a:r>
              <a:rPr sz="2000" b="1" spc="-200" dirty="0">
                <a:solidFill>
                  <a:srgbClr val="FFFFFF"/>
                </a:solidFill>
                <a:latin typeface="Tahoma"/>
                <a:cs typeface="Tahoma"/>
              </a:rPr>
              <a:t>-</a:t>
            </a:r>
            <a:r>
              <a:rPr sz="2000" b="1" spc="-130" dirty="0">
                <a:solidFill>
                  <a:srgbClr val="FFFFFF"/>
                </a:solidFill>
                <a:latin typeface="Tahoma"/>
                <a:cs typeface="Tahoma"/>
              </a:rPr>
              <a:t> </a:t>
            </a:r>
            <a:r>
              <a:rPr sz="2000" b="1" spc="-290" dirty="0">
                <a:solidFill>
                  <a:srgbClr val="FFFFFF"/>
                </a:solidFill>
                <a:latin typeface="Tahoma"/>
                <a:cs typeface="Tahoma"/>
              </a:rPr>
              <a:t>POWER </a:t>
            </a:r>
            <a:r>
              <a:rPr sz="2000" b="1" spc="-270" dirty="0">
                <a:solidFill>
                  <a:srgbClr val="FFFFFF"/>
                </a:solidFill>
                <a:latin typeface="Tahoma"/>
                <a:cs typeface="Tahoma"/>
              </a:rPr>
              <a:t>VISUALIZATION</a:t>
            </a:r>
            <a:r>
              <a:rPr sz="2000" b="1" spc="-120" dirty="0">
                <a:solidFill>
                  <a:srgbClr val="FFFFFF"/>
                </a:solidFill>
                <a:latin typeface="Tahoma"/>
                <a:cs typeface="Tahoma"/>
              </a:rPr>
              <a:t> </a:t>
            </a:r>
            <a:r>
              <a:rPr sz="2000" b="1" spc="-270" dirty="0">
                <a:solidFill>
                  <a:srgbClr val="FFFFFF"/>
                </a:solidFill>
                <a:latin typeface="Tahoma"/>
                <a:cs typeface="Tahoma"/>
              </a:rPr>
              <a:t>SOLUTIONS</a:t>
            </a:r>
            <a:endParaRPr sz="2000">
              <a:latin typeface="Tahoma"/>
              <a:cs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715761" y="738377"/>
            <a:ext cx="5676900" cy="0"/>
          </a:xfrm>
          <a:custGeom>
            <a:avLst/>
            <a:gdLst/>
            <a:ahLst/>
            <a:cxnLst/>
            <a:rect l="l" t="t" r="r" b="b"/>
            <a:pathLst>
              <a:path w="5676900">
                <a:moveTo>
                  <a:pt x="0" y="0"/>
                </a:moveTo>
                <a:lnTo>
                  <a:pt x="5676899" y="0"/>
                </a:lnTo>
              </a:path>
            </a:pathLst>
          </a:custGeom>
          <a:ln w="44450">
            <a:solidFill>
              <a:srgbClr val="000000"/>
            </a:solidFill>
          </a:ln>
        </p:spPr>
        <p:txBody>
          <a:bodyPr wrap="square" lIns="0" tIns="0" rIns="0" bIns="0" rtlCol="0"/>
          <a:lstStyle/>
          <a:p>
            <a:endParaRPr/>
          </a:p>
        </p:txBody>
      </p:sp>
      <p:sp>
        <p:nvSpPr>
          <p:cNvPr id="3" name="object 3"/>
          <p:cNvSpPr/>
          <p:nvPr/>
        </p:nvSpPr>
        <p:spPr>
          <a:xfrm>
            <a:off x="5715000" y="6134100"/>
            <a:ext cx="5676900" cy="0"/>
          </a:xfrm>
          <a:custGeom>
            <a:avLst/>
            <a:gdLst/>
            <a:ahLst/>
            <a:cxnLst/>
            <a:rect l="l" t="t" r="r" b="b"/>
            <a:pathLst>
              <a:path w="5676900">
                <a:moveTo>
                  <a:pt x="0" y="0"/>
                </a:moveTo>
                <a:lnTo>
                  <a:pt x="5676900" y="0"/>
                </a:lnTo>
              </a:path>
            </a:pathLst>
          </a:custGeom>
          <a:ln w="12700">
            <a:solidFill>
              <a:srgbClr val="000000"/>
            </a:solidFill>
          </a:ln>
        </p:spPr>
        <p:txBody>
          <a:bodyPr wrap="square" lIns="0" tIns="0" rIns="0" bIns="0" rtlCol="0"/>
          <a:lstStyle/>
          <a:p>
            <a:endParaRPr/>
          </a:p>
        </p:txBody>
      </p:sp>
      <p:sp>
        <p:nvSpPr>
          <p:cNvPr id="4" name="object 4"/>
          <p:cNvSpPr txBox="1">
            <a:spLocks noGrp="1"/>
          </p:cNvSpPr>
          <p:nvPr>
            <p:ph type="title"/>
          </p:nvPr>
        </p:nvSpPr>
        <p:spPr>
          <a:xfrm>
            <a:off x="5684265" y="872185"/>
            <a:ext cx="1868805" cy="635000"/>
          </a:xfrm>
          <a:prstGeom prst="rect">
            <a:avLst/>
          </a:prstGeom>
        </p:spPr>
        <p:txBody>
          <a:bodyPr vert="horz" wrap="square" lIns="0" tIns="12065" rIns="0" bIns="0" rtlCol="0">
            <a:spAutoFit/>
          </a:bodyPr>
          <a:lstStyle/>
          <a:p>
            <a:pPr marL="12700">
              <a:lnSpc>
                <a:spcPct val="100000"/>
              </a:lnSpc>
              <a:spcBef>
                <a:spcPts val="95"/>
              </a:spcBef>
            </a:pPr>
            <a:r>
              <a:rPr sz="4000" spc="-100" dirty="0"/>
              <a:t>AGENDA</a:t>
            </a:r>
            <a:endParaRPr sz="4000"/>
          </a:p>
        </p:txBody>
      </p:sp>
      <p:grpSp>
        <p:nvGrpSpPr>
          <p:cNvPr id="5" name="object 5"/>
          <p:cNvGrpSpPr/>
          <p:nvPr/>
        </p:nvGrpSpPr>
        <p:grpSpPr>
          <a:xfrm>
            <a:off x="5669279" y="2132076"/>
            <a:ext cx="772795" cy="774700"/>
            <a:chOff x="5669279" y="2132076"/>
            <a:chExt cx="772795" cy="774700"/>
          </a:xfrm>
        </p:grpSpPr>
        <p:sp>
          <p:nvSpPr>
            <p:cNvPr id="6" name="object 6"/>
            <p:cNvSpPr/>
            <p:nvPr/>
          </p:nvSpPr>
          <p:spPr>
            <a:xfrm>
              <a:off x="5669279" y="2132076"/>
              <a:ext cx="772795" cy="774700"/>
            </a:xfrm>
            <a:custGeom>
              <a:avLst/>
              <a:gdLst/>
              <a:ahLst/>
              <a:cxnLst/>
              <a:rect l="l" t="t" r="r" b="b"/>
              <a:pathLst>
                <a:path w="772795" h="774700">
                  <a:moveTo>
                    <a:pt x="386334" y="0"/>
                  </a:moveTo>
                  <a:lnTo>
                    <a:pt x="337874" y="3016"/>
                  </a:lnTo>
                  <a:lnTo>
                    <a:pt x="291210" y="11825"/>
                  </a:lnTo>
                  <a:lnTo>
                    <a:pt x="246704" y="26061"/>
                  </a:lnTo>
                  <a:lnTo>
                    <a:pt x="204719" y="45363"/>
                  </a:lnTo>
                  <a:lnTo>
                    <a:pt x="165615" y="69367"/>
                  </a:lnTo>
                  <a:lnTo>
                    <a:pt x="129756" y="97710"/>
                  </a:lnTo>
                  <a:lnTo>
                    <a:pt x="97504" y="130028"/>
                  </a:lnTo>
                  <a:lnTo>
                    <a:pt x="69219" y="165959"/>
                  </a:lnTo>
                  <a:lnTo>
                    <a:pt x="45266" y="205140"/>
                  </a:lnTo>
                  <a:lnTo>
                    <a:pt x="26005" y="247207"/>
                  </a:lnTo>
                  <a:lnTo>
                    <a:pt x="11799" y="291798"/>
                  </a:lnTo>
                  <a:lnTo>
                    <a:pt x="3010" y="338548"/>
                  </a:lnTo>
                  <a:lnTo>
                    <a:pt x="0" y="387096"/>
                  </a:lnTo>
                  <a:lnTo>
                    <a:pt x="3010" y="435643"/>
                  </a:lnTo>
                  <a:lnTo>
                    <a:pt x="11799" y="482393"/>
                  </a:lnTo>
                  <a:lnTo>
                    <a:pt x="26005" y="526984"/>
                  </a:lnTo>
                  <a:lnTo>
                    <a:pt x="45266" y="569051"/>
                  </a:lnTo>
                  <a:lnTo>
                    <a:pt x="69219" y="608232"/>
                  </a:lnTo>
                  <a:lnTo>
                    <a:pt x="97504" y="644163"/>
                  </a:lnTo>
                  <a:lnTo>
                    <a:pt x="129756" y="676481"/>
                  </a:lnTo>
                  <a:lnTo>
                    <a:pt x="165615" y="704824"/>
                  </a:lnTo>
                  <a:lnTo>
                    <a:pt x="204719" y="728828"/>
                  </a:lnTo>
                  <a:lnTo>
                    <a:pt x="246704" y="748130"/>
                  </a:lnTo>
                  <a:lnTo>
                    <a:pt x="291210" y="762366"/>
                  </a:lnTo>
                  <a:lnTo>
                    <a:pt x="337874" y="771175"/>
                  </a:lnTo>
                  <a:lnTo>
                    <a:pt x="386334" y="774191"/>
                  </a:lnTo>
                  <a:lnTo>
                    <a:pt x="434793" y="771175"/>
                  </a:lnTo>
                  <a:lnTo>
                    <a:pt x="481457" y="762366"/>
                  </a:lnTo>
                  <a:lnTo>
                    <a:pt x="525963" y="748130"/>
                  </a:lnTo>
                  <a:lnTo>
                    <a:pt x="567948" y="728828"/>
                  </a:lnTo>
                  <a:lnTo>
                    <a:pt x="607052" y="704824"/>
                  </a:lnTo>
                  <a:lnTo>
                    <a:pt x="642911" y="676481"/>
                  </a:lnTo>
                  <a:lnTo>
                    <a:pt x="675163" y="644163"/>
                  </a:lnTo>
                  <a:lnTo>
                    <a:pt x="703448" y="608232"/>
                  </a:lnTo>
                  <a:lnTo>
                    <a:pt x="727401" y="569051"/>
                  </a:lnTo>
                  <a:lnTo>
                    <a:pt x="746662" y="526984"/>
                  </a:lnTo>
                  <a:lnTo>
                    <a:pt x="760868" y="482393"/>
                  </a:lnTo>
                  <a:lnTo>
                    <a:pt x="769657" y="435643"/>
                  </a:lnTo>
                  <a:lnTo>
                    <a:pt x="772668" y="387096"/>
                  </a:lnTo>
                  <a:lnTo>
                    <a:pt x="769657" y="338548"/>
                  </a:lnTo>
                  <a:lnTo>
                    <a:pt x="760868" y="291798"/>
                  </a:lnTo>
                  <a:lnTo>
                    <a:pt x="746662" y="247207"/>
                  </a:lnTo>
                  <a:lnTo>
                    <a:pt x="727401" y="205140"/>
                  </a:lnTo>
                  <a:lnTo>
                    <a:pt x="703448" y="165959"/>
                  </a:lnTo>
                  <a:lnTo>
                    <a:pt x="675163" y="130028"/>
                  </a:lnTo>
                  <a:lnTo>
                    <a:pt x="642911" y="97710"/>
                  </a:lnTo>
                  <a:lnTo>
                    <a:pt x="607052" y="69367"/>
                  </a:lnTo>
                  <a:lnTo>
                    <a:pt x="567948" y="45363"/>
                  </a:lnTo>
                  <a:lnTo>
                    <a:pt x="525963" y="26061"/>
                  </a:lnTo>
                  <a:lnTo>
                    <a:pt x="481457" y="11825"/>
                  </a:lnTo>
                  <a:lnTo>
                    <a:pt x="434793" y="3016"/>
                  </a:lnTo>
                  <a:lnTo>
                    <a:pt x="386334" y="0"/>
                  </a:lnTo>
                  <a:close/>
                </a:path>
              </a:pathLst>
            </a:custGeom>
            <a:solidFill>
              <a:srgbClr val="D4D0D2"/>
            </a:solidFill>
          </p:spPr>
          <p:txBody>
            <a:bodyPr wrap="square" lIns="0" tIns="0" rIns="0" bIns="0" rtlCol="0"/>
            <a:lstStyle/>
            <a:p>
              <a:endParaRPr/>
            </a:p>
          </p:txBody>
        </p:sp>
        <p:sp>
          <p:nvSpPr>
            <p:cNvPr id="7" name="object 7"/>
            <p:cNvSpPr/>
            <p:nvPr/>
          </p:nvSpPr>
          <p:spPr>
            <a:xfrm>
              <a:off x="5875301" y="2338129"/>
              <a:ext cx="364490" cy="365125"/>
            </a:xfrm>
            <a:custGeom>
              <a:avLst/>
              <a:gdLst/>
              <a:ahLst/>
              <a:cxnLst/>
              <a:rect l="l" t="t" r="r" b="b"/>
              <a:pathLst>
                <a:path w="364489" h="365125">
                  <a:moveTo>
                    <a:pt x="293021" y="248398"/>
                  </a:moveTo>
                  <a:lnTo>
                    <a:pt x="222420" y="248398"/>
                  </a:lnTo>
                  <a:lnTo>
                    <a:pt x="242724" y="268713"/>
                  </a:lnTo>
                  <a:lnTo>
                    <a:pt x="242298" y="275083"/>
                  </a:lnTo>
                  <a:lnTo>
                    <a:pt x="315634" y="361516"/>
                  </a:lnTo>
                  <a:lnTo>
                    <a:pt x="323940" y="364748"/>
                  </a:lnTo>
                  <a:lnTo>
                    <a:pt x="340552" y="364748"/>
                  </a:lnTo>
                  <a:lnTo>
                    <a:pt x="348858" y="361516"/>
                  </a:lnTo>
                  <a:lnTo>
                    <a:pt x="355319" y="355052"/>
                  </a:lnTo>
                  <a:lnTo>
                    <a:pt x="362060" y="344209"/>
                  </a:lnTo>
                  <a:lnTo>
                    <a:pt x="364259" y="332024"/>
                  </a:lnTo>
                  <a:lnTo>
                    <a:pt x="361873" y="319926"/>
                  </a:lnTo>
                  <a:lnTo>
                    <a:pt x="354857" y="309343"/>
                  </a:lnTo>
                  <a:lnTo>
                    <a:pt x="297175" y="251630"/>
                  </a:lnTo>
                  <a:lnTo>
                    <a:pt x="293021" y="248398"/>
                  </a:lnTo>
                  <a:close/>
                </a:path>
                <a:path w="364489" h="365125">
                  <a:moveTo>
                    <a:pt x="138435" y="0"/>
                  </a:moveTo>
                  <a:lnTo>
                    <a:pt x="94800" y="7091"/>
                  </a:lnTo>
                  <a:lnTo>
                    <a:pt x="56813" y="26815"/>
                  </a:lnTo>
                  <a:lnTo>
                    <a:pt x="26801" y="56845"/>
                  </a:lnTo>
                  <a:lnTo>
                    <a:pt x="7087" y="94853"/>
                  </a:lnTo>
                  <a:lnTo>
                    <a:pt x="0" y="138512"/>
                  </a:lnTo>
                  <a:lnTo>
                    <a:pt x="7087" y="182171"/>
                  </a:lnTo>
                  <a:lnTo>
                    <a:pt x="26801" y="220178"/>
                  </a:lnTo>
                  <a:lnTo>
                    <a:pt x="56814" y="250208"/>
                  </a:lnTo>
                  <a:lnTo>
                    <a:pt x="94801" y="269932"/>
                  </a:lnTo>
                  <a:lnTo>
                    <a:pt x="138436" y="277024"/>
                  </a:lnTo>
                  <a:lnTo>
                    <a:pt x="161487" y="275083"/>
                  </a:lnTo>
                  <a:lnTo>
                    <a:pt x="183370" y="269463"/>
                  </a:lnTo>
                  <a:lnTo>
                    <a:pt x="203782" y="260467"/>
                  </a:lnTo>
                  <a:lnTo>
                    <a:pt x="221707" y="248859"/>
                  </a:lnTo>
                  <a:lnTo>
                    <a:pt x="137974" y="248859"/>
                  </a:lnTo>
                  <a:lnTo>
                    <a:pt x="94972" y="240116"/>
                  </a:lnTo>
                  <a:lnTo>
                    <a:pt x="59758" y="216309"/>
                  </a:lnTo>
                  <a:lnTo>
                    <a:pt x="35964" y="181075"/>
                  </a:lnTo>
                  <a:lnTo>
                    <a:pt x="27225" y="138050"/>
                  </a:lnTo>
                  <a:lnTo>
                    <a:pt x="35964" y="95025"/>
                  </a:lnTo>
                  <a:lnTo>
                    <a:pt x="59758" y="59791"/>
                  </a:lnTo>
                  <a:lnTo>
                    <a:pt x="94972" y="35984"/>
                  </a:lnTo>
                  <a:lnTo>
                    <a:pt x="137974" y="27240"/>
                  </a:lnTo>
                  <a:lnTo>
                    <a:pt x="220482" y="27240"/>
                  </a:lnTo>
                  <a:lnTo>
                    <a:pt x="220057" y="26815"/>
                  </a:lnTo>
                  <a:lnTo>
                    <a:pt x="182070" y="7091"/>
                  </a:lnTo>
                  <a:lnTo>
                    <a:pt x="138435" y="0"/>
                  </a:lnTo>
                  <a:close/>
                </a:path>
                <a:path w="364489" h="365125">
                  <a:moveTo>
                    <a:pt x="220482" y="27240"/>
                  </a:moveTo>
                  <a:lnTo>
                    <a:pt x="137974" y="27240"/>
                  </a:lnTo>
                  <a:lnTo>
                    <a:pt x="180975" y="35984"/>
                  </a:lnTo>
                  <a:lnTo>
                    <a:pt x="216190" y="59791"/>
                  </a:lnTo>
                  <a:lnTo>
                    <a:pt x="239984" y="95025"/>
                  </a:lnTo>
                  <a:lnTo>
                    <a:pt x="248723" y="138050"/>
                  </a:lnTo>
                  <a:lnTo>
                    <a:pt x="239984" y="181075"/>
                  </a:lnTo>
                  <a:lnTo>
                    <a:pt x="216190" y="216309"/>
                  </a:lnTo>
                  <a:lnTo>
                    <a:pt x="180976" y="240116"/>
                  </a:lnTo>
                  <a:lnTo>
                    <a:pt x="137974" y="248859"/>
                  </a:lnTo>
                  <a:lnTo>
                    <a:pt x="221707" y="248859"/>
                  </a:lnTo>
                  <a:lnTo>
                    <a:pt x="222420" y="248398"/>
                  </a:lnTo>
                  <a:lnTo>
                    <a:pt x="293021" y="248398"/>
                  </a:lnTo>
                  <a:lnTo>
                    <a:pt x="290823" y="246688"/>
                  </a:lnTo>
                  <a:lnTo>
                    <a:pt x="283736" y="243608"/>
                  </a:lnTo>
                  <a:lnTo>
                    <a:pt x="279266" y="242857"/>
                  </a:lnTo>
                  <a:lnTo>
                    <a:pt x="268565" y="242857"/>
                  </a:lnTo>
                  <a:lnTo>
                    <a:pt x="248261" y="222542"/>
                  </a:lnTo>
                  <a:lnTo>
                    <a:pt x="260324" y="204088"/>
                  </a:lnTo>
                  <a:lnTo>
                    <a:pt x="269315" y="183643"/>
                  </a:lnTo>
                  <a:lnTo>
                    <a:pt x="274932" y="161640"/>
                  </a:lnTo>
                  <a:lnTo>
                    <a:pt x="276871" y="138512"/>
                  </a:lnTo>
                  <a:lnTo>
                    <a:pt x="269783" y="94853"/>
                  </a:lnTo>
                  <a:lnTo>
                    <a:pt x="250070" y="56845"/>
                  </a:lnTo>
                  <a:lnTo>
                    <a:pt x="220482" y="27240"/>
                  </a:lnTo>
                  <a:close/>
                </a:path>
                <a:path w="364489" h="365125">
                  <a:moveTo>
                    <a:pt x="276215" y="242345"/>
                  </a:moveTo>
                  <a:lnTo>
                    <a:pt x="268565" y="242857"/>
                  </a:lnTo>
                  <a:lnTo>
                    <a:pt x="279266" y="242857"/>
                  </a:lnTo>
                  <a:lnTo>
                    <a:pt x="276215" y="242345"/>
                  </a:lnTo>
                  <a:close/>
                </a:path>
              </a:pathLst>
            </a:custGeom>
            <a:solidFill>
              <a:srgbClr val="734A67"/>
            </a:solidFill>
          </p:spPr>
          <p:txBody>
            <a:bodyPr wrap="square" lIns="0" tIns="0" rIns="0" bIns="0" rtlCol="0"/>
            <a:lstStyle/>
            <a:p>
              <a:endParaRPr/>
            </a:p>
          </p:txBody>
        </p:sp>
        <p:sp>
          <p:nvSpPr>
            <p:cNvPr id="8" name="object 8"/>
            <p:cNvSpPr/>
            <p:nvPr/>
          </p:nvSpPr>
          <p:spPr>
            <a:xfrm>
              <a:off x="5875301" y="2338129"/>
              <a:ext cx="364490" cy="365125"/>
            </a:xfrm>
            <a:custGeom>
              <a:avLst/>
              <a:gdLst/>
              <a:ahLst/>
              <a:cxnLst/>
              <a:rect l="l" t="t" r="r" b="b"/>
              <a:pathLst>
                <a:path w="364489" h="365125">
                  <a:moveTo>
                    <a:pt x="354857" y="309343"/>
                  </a:moveTo>
                  <a:lnTo>
                    <a:pt x="297175" y="251630"/>
                  </a:lnTo>
                  <a:lnTo>
                    <a:pt x="290823" y="246688"/>
                  </a:lnTo>
                  <a:lnTo>
                    <a:pt x="283735" y="243608"/>
                  </a:lnTo>
                  <a:lnTo>
                    <a:pt x="276215" y="242345"/>
                  </a:lnTo>
                  <a:lnTo>
                    <a:pt x="268565" y="242857"/>
                  </a:lnTo>
                  <a:lnTo>
                    <a:pt x="248261" y="222542"/>
                  </a:lnTo>
                  <a:lnTo>
                    <a:pt x="260324" y="204088"/>
                  </a:lnTo>
                  <a:lnTo>
                    <a:pt x="269315" y="183643"/>
                  </a:lnTo>
                  <a:lnTo>
                    <a:pt x="274932" y="161640"/>
                  </a:lnTo>
                  <a:lnTo>
                    <a:pt x="276871" y="138512"/>
                  </a:lnTo>
                  <a:lnTo>
                    <a:pt x="269783" y="94853"/>
                  </a:lnTo>
                  <a:lnTo>
                    <a:pt x="250070" y="56845"/>
                  </a:lnTo>
                  <a:lnTo>
                    <a:pt x="220057" y="26815"/>
                  </a:lnTo>
                  <a:lnTo>
                    <a:pt x="182070" y="7091"/>
                  </a:lnTo>
                  <a:lnTo>
                    <a:pt x="138435" y="0"/>
                  </a:lnTo>
                  <a:lnTo>
                    <a:pt x="94800" y="7091"/>
                  </a:lnTo>
                  <a:lnTo>
                    <a:pt x="56813" y="26815"/>
                  </a:lnTo>
                  <a:lnTo>
                    <a:pt x="26801" y="56845"/>
                  </a:lnTo>
                  <a:lnTo>
                    <a:pt x="7087" y="94853"/>
                  </a:lnTo>
                  <a:lnTo>
                    <a:pt x="0" y="138512"/>
                  </a:lnTo>
                  <a:lnTo>
                    <a:pt x="7087" y="182171"/>
                  </a:lnTo>
                  <a:lnTo>
                    <a:pt x="26801" y="220178"/>
                  </a:lnTo>
                  <a:lnTo>
                    <a:pt x="56814" y="250208"/>
                  </a:lnTo>
                  <a:lnTo>
                    <a:pt x="94801" y="269932"/>
                  </a:lnTo>
                  <a:lnTo>
                    <a:pt x="138436" y="277024"/>
                  </a:lnTo>
                  <a:lnTo>
                    <a:pt x="161487" y="275083"/>
                  </a:lnTo>
                  <a:lnTo>
                    <a:pt x="183370" y="269463"/>
                  </a:lnTo>
                  <a:lnTo>
                    <a:pt x="203782" y="260467"/>
                  </a:lnTo>
                  <a:lnTo>
                    <a:pt x="222420" y="248398"/>
                  </a:lnTo>
                  <a:lnTo>
                    <a:pt x="242724" y="268713"/>
                  </a:lnTo>
                  <a:lnTo>
                    <a:pt x="309173" y="355052"/>
                  </a:lnTo>
                  <a:lnTo>
                    <a:pt x="315634" y="361516"/>
                  </a:lnTo>
                  <a:lnTo>
                    <a:pt x="323940" y="364748"/>
                  </a:lnTo>
                  <a:lnTo>
                    <a:pt x="332246" y="364748"/>
                  </a:lnTo>
                  <a:lnTo>
                    <a:pt x="340552" y="364748"/>
                  </a:lnTo>
                  <a:lnTo>
                    <a:pt x="348858" y="361516"/>
                  </a:lnTo>
                  <a:lnTo>
                    <a:pt x="355319" y="355052"/>
                  </a:lnTo>
                  <a:lnTo>
                    <a:pt x="362060" y="344209"/>
                  </a:lnTo>
                  <a:lnTo>
                    <a:pt x="364259" y="332024"/>
                  </a:lnTo>
                  <a:lnTo>
                    <a:pt x="361873" y="319926"/>
                  </a:lnTo>
                  <a:lnTo>
                    <a:pt x="354857" y="309343"/>
                  </a:lnTo>
                  <a:close/>
                </a:path>
              </a:pathLst>
            </a:custGeom>
            <a:ln w="5385">
              <a:solidFill>
                <a:srgbClr val="734A67"/>
              </a:solidFill>
            </a:ln>
          </p:spPr>
          <p:txBody>
            <a:bodyPr wrap="square" lIns="0" tIns="0" rIns="0" bIns="0" rtlCol="0"/>
            <a:lstStyle/>
            <a:p>
              <a:endParaRPr/>
            </a:p>
          </p:txBody>
        </p:sp>
        <p:pic>
          <p:nvPicPr>
            <p:cNvPr id="9" name="object 9"/>
            <p:cNvPicPr/>
            <p:nvPr/>
          </p:nvPicPr>
          <p:blipFill>
            <a:blip r:embed="rId2" cstate="print"/>
            <a:stretch>
              <a:fillRect/>
            </a:stretch>
          </p:blipFill>
          <p:spPr>
            <a:xfrm>
              <a:off x="5899834" y="2362677"/>
              <a:ext cx="226882" cy="227004"/>
            </a:xfrm>
            <a:prstGeom prst="rect">
              <a:avLst/>
            </a:prstGeom>
          </p:spPr>
        </p:pic>
      </p:grpSp>
      <p:sp>
        <p:nvSpPr>
          <p:cNvPr id="10" name="object 10"/>
          <p:cNvSpPr/>
          <p:nvPr/>
        </p:nvSpPr>
        <p:spPr>
          <a:xfrm>
            <a:off x="5832347" y="2295144"/>
            <a:ext cx="448309" cy="448309"/>
          </a:xfrm>
          <a:custGeom>
            <a:avLst/>
            <a:gdLst/>
            <a:ahLst/>
            <a:cxnLst/>
            <a:rect l="l" t="t" r="r" b="b"/>
            <a:pathLst>
              <a:path w="448310" h="448310">
                <a:moveTo>
                  <a:pt x="0" y="448055"/>
                </a:moveTo>
                <a:lnTo>
                  <a:pt x="448055" y="448055"/>
                </a:lnTo>
                <a:lnTo>
                  <a:pt x="448055" y="0"/>
                </a:lnTo>
                <a:lnTo>
                  <a:pt x="0" y="0"/>
                </a:lnTo>
                <a:lnTo>
                  <a:pt x="0" y="448055"/>
                </a:lnTo>
                <a:close/>
              </a:path>
            </a:pathLst>
          </a:custGeom>
          <a:ln w="12700">
            <a:solidFill>
              <a:srgbClr val="FFFFFF"/>
            </a:solidFill>
          </a:ln>
        </p:spPr>
        <p:txBody>
          <a:bodyPr wrap="square" lIns="0" tIns="0" rIns="0" bIns="0" rtlCol="0"/>
          <a:lstStyle/>
          <a:p>
            <a:endParaRPr/>
          </a:p>
        </p:txBody>
      </p:sp>
      <p:sp>
        <p:nvSpPr>
          <p:cNvPr id="11" name="object 11"/>
          <p:cNvSpPr txBox="1"/>
          <p:nvPr/>
        </p:nvSpPr>
        <p:spPr>
          <a:xfrm>
            <a:off x="6596253" y="2257424"/>
            <a:ext cx="1539240" cy="503555"/>
          </a:xfrm>
          <a:prstGeom prst="rect">
            <a:avLst/>
          </a:prstGeom>
        </p:spPr>
        <p:txBody>
          <a:bodyPr vert="horz" wrap="square" lIns="0" tIns="27305" rIns="0" bIns="0" rtlCol="0">
            <a:spAutoFit/>
          </a:bodyPr>
          <a:lstStyle/>
          <a:p>
            <a:pPr marL="12700" marR="5080">
              <a:lnSpc>
                <a:spcPts val="1850"/>
              </a:lnSpc>
              <a:spcBef>
                <a:spcPts val="215"/>
              </a:spcBef>
            </a:pPr>
            <a:r>
              <a:rPr sz="1600" spc="-25" dirty="0">
                <a:latin typeface="Georgia"/>
                <a:cs typeface="Georgia"/>
              </a:rPr>
              <a:t>Exploratory</a:t>
            </a:r>
            <a:r>
              <a:rPr sz="1600" spc="-15" dirty="0">
                <a:latin typeface="Georgia"/>
                <a:cs typeface="Georgia"/>
              </a:rPr>
              <a:t> </a:t>
            </a:r>
            <a:r>
              <a:rPr sz="1600" spc="-20" dirty="0">
                <a:latin typeface="Georgia"/>
                <a:cs typeface="Georgia"/>
              </a:rPr>
              <a:t>Data </a:t>
            </a:r>
            <a:r>
              <a:rPr sz="1600" spc="-10" dirty="0">
                <a:latin typeface="Georgia"/>
                <a:cs typeface="Georgia"/>
              </a:rPr>
              <a:t>Analysis</a:t>
            </a:r>
            <a:endParaRPr sz="1600">
              <a:latin typeface="Georgia"/>
              <a:cs typeface="Georgia"/>
            </a:endParaRPr>
          </a:p>
        </p:txBody>
      </p:sp>
      <p:grpSp>
        <p:nvGrpSpPr>
          <p:cNvPr id="12" name="object 12"/>
          <p:cNvGrpSpPr/>
          <p:nvPr/>
        </p:nvGrpSpPr>
        <p:grpSpPr>
          <a:xfrm>
            <a:off x="8747759" y="2132076"/>
            <a:ext cx="772795" cy="774700"/>
            <a:chOff x="8747759" y="2132076"/>
            <a:chExt cx="772795" cy="774700"/>
          </a:xfrm>
        </p:grpSpPr>
        <p:sp>
          <p:nvSpPr>
            <p:cNvPr id="13" name="object 13"/>
            <p:cNvSpPr/>
            <p:nvPr/>
          </p:nvSpPr>
          <p:spPr>
            <a:xfrm>
              <a:off x="8747759" y="2132076"/>
              <a:ext cx="772795" cy="774700"/>
            </a:xfrm>
            <a:custGeom>
              <a:avLst/>
              <a:gdLst/>
              <a:ahLst/>
              <a:cxnLst/>
              <a:rect l="l" t="t" r="r" b="b"/>
              <a:pathLst>
                <a:path w="772795" h="774700">
                  <a:moveTo>
                    <a:pt x="386334" y="0"/>
                  </a:moveTo>
                  <a:lnTo>
                    <a:pt x="337874" y="3016"/>
                  </a:lnTo>
                  <a:lnTo>
                    <a:pt x="291210" y="11825"/>
                  </a:lnTo>
                  <a:lnTo>
                    <a:pt x="246704" y="26061"/>
                  </a:lnTo>
                  <a:lnTo>
                    <a:pt x="204719" y="45363"/>
                  </a:lnTo>
                  <a:lnTo>
                    <a:pt x="165615" y="69367"/>
                  </a:lnTo>
                  <a:lnTo>
                    <a:pt x="129756" y="97710"/>
                  </a:lnTo>
                  <a:lnTo>
                    <a:pt x="97504" y="130028"/>
                  </a:lnTo>
                  <a:lnTo>
                    <a:pt x="69219" y="165959"/>
                  </a:lnTo>
                  <a:lnTo>
                    <a:pt x="45266" y="205140"/>
                  </a:lnTo>
                  <a:lnTo>
                    <a:pt x="26005" y="247207"/>
                  </a:lnTo>
                  <a:lnTo>
                    <a:pt x="11799" y="291798"/>
                  </a:lnTo>
                  <a:lnTo>
                    <a:pt x="3010" y="338548"/>
                  </a:lnTo>
                  <a:lnTo>
                    <a:pt x="0" y="387096"/>
                  </a:lnTo>
                  <a:lnTo>
                    <a:pt x="3010" y="435643"/>
                  </a:lnTo>
                  <a:lnTo>
                    <a:pt x="11799" y="482393"/>
                  </a:lnTo>
                  <a:lnTo>
                    <a:pt x="26005" y="526984"/>
                  </a:lnTo>
                  <a:lnTo>
                    <a:pt x="45266" y="569051"/>
                  </a:lnTo>
                  <a:lnTo>
                    <a:pt x="69219" y="608232"/>
                  </a:lnTo>
                  <a:lnTo>
                    <a:pt x="97504" y="644163"/>
                  </a:lnTo>
                  <a:lnTo>
                    <a:pt x="129756" y="676481"/>
                  </a:lnTo>
                  <a:lnTo>
                    <a:pt x="165615" y="704824"/>
                  </a:lnTo>
                  <a:lnTo>
                    <a:pt x="204719" y="728828"/>
                  </a:lnTo>
                  <a:lnTo>
                    <a:pt x="246704" y="748130"/>
                  </a:lnTo>
                  <a:lnTo>
                    <a:pt x="291210" y="762366"/>
                  </a:lnTo>
                  <a:lnTo>
                    <a:pt x="337874" y="771175"/>
                  </a:lnTo>
                  <a:lnTo>
                    <a:pt x="386334" y="774191"/>
                  </a:lnTo>
                  <a:lnTo>
                    <a:pt x="434793" y="771175"/>
                  </a:lnTo>
                  <a:lnTo>
                    <a:pt x="481457" y="762366"/>
                  </a:lnTo>
                  <a:lnTo>
                    <a:pt x="525963" y="748130"/>
                  </a:lnTo>
                  <a:lnTo>
                    <a:pt x="567948" y="728828"/>
                  </a:lnTo>
                  <a:lnTo>
                    <a:pt x="607052" y="704824"/>
                  </a:lnTo>
                  <a:lnTo>
                    <a:pt x="642911" y="676481"/>
                  </a:lnTo>
                  <a:lnTo>
                    <a:pt x="675163" y="644163"/>
                  </a:lnTo>
                  <a:lnTo>
                    <a:pt x="703448" y="608232"/>
                  </a:lnTo>
                  <a:lnTo>
                    <a:pt x="727401" y="569051"/>
                  </a:lnTo>
                  <a:lnTo>
                    <a:pt x="746662" y="526984"/>
                  </a:lnTo>
                  <a:lnTo>
                    <a:pt x="760868" y="482393"/>
                  </a:lnTo>
                  <a:lnTo>
                    <a:pt x="769657" y="435643"/>
                  </a:lnTo>
                  <a:lnTo>
                    <a:pt x="772668" y="387096"/>
                  </a:lnTo>
                  <a:lnTo>
                    <a:pt x="769657" y="338548"/>
                  </a:lnTo>
                  <a:lnTo>
                    <a:pt x="760868" y="291798"/>
                  </a:lnTo>
                  <a:lnTo>
                    <a:pt x="746662" y="247207"/>
                  </a:lnTo>
                  <a:lnTo>
                    <a:pt x="727401" y="205140"/>
                  </a:lnTo>
                  <a:lnTo>
                    <a:pt x="703448" y="165959"/>
                  </a:lnTo>
                  <a:lnTo>
                    <a:pt x="675163" y="130028"/>
                  </a:lnTo>
                  <a:lnTo>
                    <a:pt x="642911" y="97710"/>
                  </a:lnTo>
                  <a:lnTo>
                    <a:pt x="607052" y="69367"/>
                  </a:lnTo>
                  <a:lnTo>
                    <a:pt x="567948" y="45363"/>
                  </a:lnTo>
                  <a:lnTo>
                    <a:pt x="525963" y="26061"/>
                  </a:lnTo>
                  <a:lnTo>
                    <a:pt x="481457" y="11825"/>
                  </a:lnTo>
                  <a:lnTo>
                    <a:pt x="434793" y="3016"/>
                  </a:lnTo>
                  <a:lnTo>
                    <a:pt x="386334" y="0"/>
                  </a:lnTo>
                  <a:close/>
                </a:path>
              </a:pathLst>
            </a:custGeom>
            <a:solidFill>
              <a:srgbClr val="D4D0D2"/>
            </a:solidFill>
          </p:spPr>
          <p:txBody>
            <a:bodyPr wrap="square" lIns="0" tIns="0" rIns="0" bIns="0" rtlCol="0"/>
            <a:lstStyle/>
            <a:p>
              <a:endParaRPr/>
            </a:p>
          </p:txBody>
        </p:sp>
        <p:pic>
          <p:nvPicPr>
            <p:cNvPr id="14" name="object 14"/>
            <p:cNvPicPr/>
            <p:nvPr/>
          </p:nvPicPr>
          <p:blipFill>
            <a:blip r:embed="rId3" cstate="print"/>
            <a:stretch>
              <a:fillRect/>
            </a:stretch>
          </p:blipFill>
          <p:spPr>
            <a:xfrm>
              <a:off x="8980621" y="2360368"/>
              <a:ext cx="116041" cy="116102"/>
            </a:xfrm>
            <a:prstGeom prst="rect">
              <a:avLst/>
            </a:prstGeom>
          </p:spPr>
        </p:pic>
      </p:grpSp>
      <p:grpSp>
        <p:nvGrpSpPr>
          <p:cNvPr id="15" name="object 15"/>
          <p:cNvGrpSpPr/>
          <p:nvPr/>
        </p:nvGrpSpPr>
        <p:grpSpPr>
          <a:xfrm>
            <a:off x="8904478" y="2288794"/>
            <a:ext cx="461009" cy="461009"/>
            <a:chOff x="8904478" y="2288794"/>
            <a:chExt cx="461009" cy="461009"/>
          </a:xfrm>
        </p:grpSpPr>
        <p:sp>
          <p:nvSpPr>
            <p:cNvPr id="16" name="object 16"/>
            <p:cNvSpPr/>
            <p:nvPr/>
          </p:nvSpPr>
          <p:spPr>
            <a:xfrm>
              <a:off x="8983591" y="2371472"/>
              <a:ext cx="309245" cy="306070"/>
            </a:xfrm>
            <a:custGeom>
              <a:avLst/>
              <a:gdLst/>
              <a:ahLst/>
              <a:cxnLst/>
              <a:rect l="l" t="t" r="r" b="b"/>
              <a:pathLst>
                <a:path w="309245" h="306069">
                  <a:moveTo>
                    <a:pt x="58945" y="117663"/>
                  </a:moveTo>
                  <a:lnTo>
                    <a:pt x="22230" y="128566"/>
                  </a:lnTo>
                  <a:lnTo>
                    <a:pt x="0" y="171654"/>
                  </a:lnTo>
                  <a:lnTo>
                    <a:pt x="0" y="305549"/>
                  </a:lnTo>
                  <a:lnTo>
                    <a:pt x="110472" y="305549"/>
                  </a:lnTo>
                  <a:lnTo>
                    <a:pt x="110471" y="200927"/>
                  </a:lnTo>
                  <a:lnTo>
                    <a:pt x="144308" y="200927"/>
                  </a:lnTo>
                  <a:lnTo>
                    <a:pt x="150160" y="198514"/>
                  </a:lnTo>
                  <a:lnTo>
                    <a:pt x="193900" y="154756"/>
                  </a:lnTo>
                  <a:lnTo>
                    <a:pt x="107656" y="154756"/>
                  </a:lnTo>
                  <a:lnTo>
                    <a:pt x="96462" y="135819"/>
                  </a:lnTo>
                  <a:lnTo>
                    <a:pt x="79469" y="123089"/>
                  </a:lnTo>
                  <a:lnTo>
                    <a:pt x="58945" y="117663"/>
                  </a:lnTo>
                  <a:close/>
                </a:path>
                <a:path w="309245" h="306069">
                  <a:moveTo>
                    <a:pt x="306546" y="0"/>
                  </a:moveTo>
                  <a:lnTo>
                    <a:pt x="303416" y="76"/>
                  </a:lnTo>
                  <a:lnTo>
                    <a:pt x="303035" y="126"/>
                  </a:lnTo>
                  <a:lnTo>
                    <a:pt x="147387" y="39006"/>
                  </a:lnTo>
                  <a:lnTo>
                    <a:pt x="147387" y="83422"/>
                  </a:lnTo>
                  <a:lnTo>
                    <a:pt x="178074" y="91133"/>
                  </a:lnTo>
                  <a:lnTo>
                    <a:pt x="181012" y="103699"/>
                  </a:lnTo>
                  <a:lnTo>
                    <a:pt x="181134" y="104799"/>
                  </a:lnTo>
                  <a:lnTo>
                    <a:pt x="178232" y="105880"/>
                  </a:lnTo>
                  <a:lnTo>
                    <a:pt x="175490" y="107662"/>
                  </a:lnTo>
                  <a:lnTo>
                    <a:pt x="173229" y="109970"/>
                  </a:lnTo>
                  <a:lnTo>
                    <a:pt x="128422" y="154756"/>
                  </a:lnTo>
                  <a:lnTo>
                    <a:pt x="193900" y="154756"/>
                  </a:lnTo>
                  <a:lnTo>
                    <a:pt x="206038" y="142613"/>
                  </a:lnTo>
                  <a:lnTo>
                    <a:pt x="211668" y="136892"/>
                  </a:lnTo>
                  <a:lnTo>
                    <a:pt x="213921" y="128658"/>
                  </a:lnTo>
                  <a:lnTo>
                    <a:pt x="211991" y="120867"/>
                  </a:lnTo>
                  <a:lnTo>
                    <a:pt x="233928" y="120867"/>
                  </a:lnTo>
                  <a:lnTo>
                    <a:pt x="239726" y="114080"/>
                  </a:lnTo>
                  <a:lnTo>
                    <a:pt x="226896" y="114080"/>
                  </a:lnTo>
                  <a:lnTo>
                    <a:pt x="204331" y="108585"/>
                  </a:lnTo>
                  <a:lnTo>
                    <a:pt x="200666" y="105526"/>
                  </a:lnTo>
                  <a:lnTo>
                    <a:pt x="196128" y="103699"/>
                  </a:lnTo>
                  <a:lnTo>
                    <a:pt x="191364" y="103368"/>
                  </a:lnTo>
                  <a:lnTo>
                    <a:pt x="189195" y="93626"/>
                  </a:lnTo>
                  <a:lnTo>
                    <a:pt x="308896" y="93626"/>
                  </a:lnTo>
                  <a:lnTo>
                    <a:pt x="308830" y="2177"/>
                  </a:lnTo>
                  <a:lnTo>
                    <a:pt x="306546" y="0"/>
                  </a:lnTo>
                  <a:close/>
                </a:path>
                <a:path w="309245" h="306069">
                  <a:moveTo>
                    <a:pt x="233928" y="120867"/>
                  </a:moveTo>
                  <a:lnTo>
                    <a:pt x="211991" y="120867"/>
                  </a:lnTo>
                  <a:lnTo>
                    <a:pt x="225834" y="124283"/>
                  </a:lnTo>
                  <a:lnTo>
                    <a:pt x="229845" y="124268"/>
                  </a:lnTo>
                  <a:lnTo>
                    <a:pt x="231853" y="123321"/>
                  </a:lnTo>
                  <a:lnTo>
                    <a:pt x="233928" y="120867"/>
                  </a:lnTo>
                  <a:close/>
                </a:path>
                <a:path w="309245" h="306069">
                  <a:moveTo>
                    <a:pt x="308896" y="107385"/>
                  </a:moveTo>
                  <a:lnTo>
                    <a:pt x="245446" y="107385"/>
                  </a:lnTo>
                  <a:lnTo>
                    <a:pt x="302620" y="121698"/>
                  </a:lnTo>
                  <a:lnTo>
                    <a:pt x="305593" y="122163"/>
                  </a:lnTo>
                  <a:lnTo>
                    <a:pt x="308377" y="120132"/>
                  </a:lnTo>
                  <a:lnTo>
                    <a:pt x="308896" y="116711"/>
                  </a:lnTo>
                  <a:lnTo>
                    <a:pt x="308896" y="107385"/>
                  </a:lnTo>
                  <a:close/>
                </a:path>
                <a:path w="309245" h="306069">
                  <a:moveTo>
                    <a:pt x="308896" y="93626"/>
                  </a:moveTo>
                  <a:lnTo>
                    <a:pt x="189195" y="93626"/>
                  </a:lnTo>
                  <a:lnTo>
                    <a:pt x="234787" y="104799"/>
                  </a:lnTo>
                  <a:lnTo>
                    <a:pt x="226896" y="114080"/>
                  </a:lnTo>
                  <a:lnTo>
                    <a:pt x="239726" y="114080"/>
                  </a:lnTo>
                  <a:lnTo>
                    <a:pt x="245446" y="107385"/>
                  </a:lnTo>
                  <a:lnTo>
                    <a:pt x="308896" y="107385"/>
                  </a:lnTo>
                  <a:lnTo>
                    <a:pt x="308896" y="93626"/>
                  </a:lnTo>
                  <a:close/>
                </a:path>
              </a:pathLst>
            </a:custGeom>
            <a:solidFill>
              <a:srgbClr val="734A67"/>
            </a:solidFill>
          </p:spPr>
          <p:txBody>
            <a:bodyPr wrap="square" lIns="0" tIns="0" rIns="0" bIns="0" rtlCol="0"/>
            <a:lstStyle/>
            <a:p>
              <a:endParaRPr/>
            </a:p>
          </p:txBody>
        </p:sp>
        <p:sp>
          <p:nvSpPr>
            <p:cNvPr id="17" name="object 17"/>
            <p:cNvSpPr/>
            <p:nvPr/>
          </p:nvSpPr>
          <p:spPr>
            <a:xfrm>
              <a:off x="8983591" y="2371472"/>
              <a:ext cx="309245" cy="306070"/>
            </a:xfrm>
            <a:custGeom>
              <a:avLst/>
              <a:gdLst/>
              <a:ahLst/>
              <a:cxnLst/>
              <a:rect l="l" t="t" r="r" b="b"/>
              <a:pathLst>
                <a:path w="309245" h="306069">
                  <a:moveTo>
                    <a:pt x="302666" y="223"/>
                  </a:moveTo>
                  <a:lnTo>
                    <a:pt x="147387" y="39006"/>
                  </a:lnTo>
                  <a:lnTo>
                    <a:pt x="147387" y="83422"/>
                  </a:lnTo>
                  <a:lnTo>
                    <a:pt x="178074" y="91133"/>
                  </a:lnTo>
                  <a:lnTo>
                    <a:pt x="181258" y="104753"/>
                  </a:lnTo>
                  <a:lnTo>
                    <a:pt x="178232" y="105880"/>
                  </a:lnTo>
                  <a:lnTo>
                    <a:pt x="175490" y="107662"/>
                  </a:lnTo>
                  <a:lnTo>
                    <a:pt x="173229" y="109970"/>
                  </a:lnTo>
                  <a:lnTo>
                    <a:pt x="128422" y="154756"/>
                  </a:lnTo>
                  <a:lnTo>
                    <a:pt x="107656" y="154756"/>
                  </a:lnTo>
                  <a:lnTo>
                    <a:pt x="96462" y="135819"/>
                  </a:lnTo>
                  <a:lnTo>
                    <a:pt x="79469" y="123089"/>
                  </a:lnTo>
                  <a:lnTo>
                    <a:pt x="58945" y="117663"/>
                  </a:lnTo>
                  <a:lnTo>
                    <a:pt x="37158" y="120640"/>
                  </a:lnTo>
                  <a:lnTo>
                    <a:pt x="22230" y="128566"/>
                  </a:lnTo>
                  <a:lnTo>
                    <a:pt x="10607" y="140334"/>
                  </a:lnTo>
                  <a:lnTo>
                    <a:pt x="2970" y="155008"/>
                  </a:lnTo>
                  <a:lnTo>
                    <a:pt x="0" y="171654"/>
                  </a:lnTo>
                  <a:lnTo>
                    <a:pt x="0" y="305549"/>
                  </a:lnTo>
                  <a:lnTo>
                    <a:pt x="110472" y="305549"/>
                  </a:lnTo>
                  <a:lnTo>
                    <a:pt x="110471" y="200927"/>
                  </a:lnTo>
                  <a:lnTo>
                    <a:pt x="138159" y="200927"/>
                  </a:lnTo>
                  <a:lnTo>
                    <a:pt x="206038" y="142613"/>
                  </a:lnTo>
                  <a:lnTo>
                    <a:pt x="213921" y="128658"/>
                  </a:lnTo>
                  <a:lnTo>
                    <a:pt x="211991" y="120867"/>
                  </a:lnTo>
                  <a:lnTo>
                    <a:pt x="225834" y="124283"/>
                  </a:lnTo>
                  <a:lnTo>
                    <a:pt x="227726" y="124283"/>
                  </a:lnTo>
                  <a:lnTo>
                    <a:pt x="229845" y="124268"/>
                  </a:lnTo>
                  <a:lnTo>
                    <a:pt x="231853" y="123321"/>
                  </a:lnTo>
                  <a:lnTo>
                    <a:pt x="233218" y="121698"/>
                  </a:lnTo>
                  <a:lnTo>
                    <a:pt x="245446" y="107385"/>
                  </a:lnTo>
                  <a:lnTo>
                    <a:pt x="302620" y="121698"/>
                  </a:lnTo>
                  <a:lnTo>
                    <a:pt x="305593" y="122163"/>
                  </a:lnTo>
                  <a:lnTo>
                    <a:pt x="308377" y="120132"/>
                  </a:lnTo>
                  <a:lnTo>
                    <a:pt x="308846" y="117161"/>
                  </a:lnTo>
                  <a:lnTo>
                    <a:pt x="308869" y="117011"/>
                  </a:lnTo>
                  <a:lnTo>
                    <a:pt x="308884" y="116861"/>
                  </a:lnTo>
                  <a:lnTo>
                    <a:pt x="308896" y="116711"/>
                  </a:lnTo>
                  <a:lnTo>
                    <a:pt x="308896" y="4932"/>
                  </a:lnTo>
                  <a:lnTo>
                    <a:pt x="308830" y="2177"/>
                  </a:lnTo>
                  <a:lnTo>
                    <a:pt x="306546" y="0"/>
                  </a:lnTo>
                  <a:lnTo>
                    <a:pt x="303797" y="65"/>
                  </a:lnTo>
                  <a:lnTo>
                    <a:pt x="303416" y="76"/>
                  </a:lnTo>
                  <a:lnTo>
                    <a:pt x="303035" y="126"/>
                  </a:lnTo>
                  <a:lnTo>
                    <a:pt x="302666" y="223"/>
                  </a:lnTo>
                  <a:close/>
                </a:path>
                <a:path w="309245" h="306069">
                  <a:moveTo>
                    <a:pt x="226896" y="114080"/>
                  </a:moveTo>
                  <a:lnTo>
                    <a:pt x="204331" y="108585"/>
                  </a:lnTo>
                  <a:lnTo>
                    <a:pt x="200666" y="105526"/>
                  </a:lnTo>
                  <a:lnTo>
                    <a:pt x="196128" y="103699"/>
                  </a:lnTo>
                  <a:lnTo>
                    <a:pt x="191364" y="103368"/>
                  </a:lnTo>
                  <a:lnTo>
                    <a:pt x="189195" y="93626"/>
                  </a:lnTo>
                  <a:lnTo>
                    <a:pt x="234787" y="104799"/>
                  </a:lnTo>
                  <a:lnTo>
                    <a:pt x="226896" y="114080"/>
                  </a:lnTo>
                  <a:close/>
                </a:path>
              </a:pathLst>
            </a:custGeom>
            <a:ln w="5385">
              <a:solidFill>
                <a:srgbClr val="734A67"/>
              </a:solidFill>
            </a:ln>
          </p:spPr>
          <p:txBody>
            <a:bodyPr wrap="square" lIns="0" tIns="0" rIns="0" bIns="0" rtlCol="0"/>
            <a:lstStyle/>
            <a:p>
              <a:endParaRPr/>
            </a:p>
          </p:txBody>
        </p:sp>
        <p:sp>
          <p:nvSpPr>
            <p:cNvPr id="18" name="object 18"/>
            <p:cNvSpPr/>
            <p:nvPr/>
          </p:nvSpPr>
          <p:spPr>
            <a:xfrm>
              <a:off x="9108275" y="2410571"/>
              <a:ext cx="13970" cy="41275"/>
            </a:xfrm>
            <a:custGeom>
              <a:avLst/>
              <a:gdLst/>
              <a:ahLst/>
              <a:cxnLst/>
              <a:rect l="l" t="t" r="r" b="b"/>
              <a:pathLst>
                <a:path w="13970" h="41275">
                  <a:moveTo>
                    <a:pt x="10459" y="0"/>
                  </a:moveTo>
                  <a:lnTo>
                    <a:pt x="3014" y="0"/>
                  </a:lnTo>
                  <a:lnTo>
                    <a:pt x="0" y="3016"/>
                  </a:lnTo>
                  <a:lnTo>
                    <a:pt x="0" y="38167"/>
                  </a:lnTo>
                  <a:lnTo>
                    <a:pt x="3014" y="41184"/>
                  </a:lnTo>
                  <a:lnTo>
                    <a:pt x="6737" y="41184"/>
                  </a:lnTo>
                  <a:lnTo>
                    <a:pt x="10459" y="41184"/>
                  </a:lnTo>
                  <a:lnTo>
                    <a:pt x="13474" y="38167"/>
                  </a:lnTo>
                  <a:lnTo>
                    <a:pt x="13474" y="3016"/>
                  </a:lnTo>
                  <a:lnTo>
                    <a:pt x="10459" y="0"/>
                  </a:lnTo>
                  <a:close/>
                </a:path>
              </a:pathLst>
            </a:custGeom>
            <a:solidFill>
              <a:srgbClr val="734A67"/>
            </a:solidFill>
          </p:spPr>
          <p:txBody>
            <a:bodyPr wrap="square" lIns="0" tIns="0" rIns="0" bIns="0" rtlCol="0"/>
            <a:lstStyle/>
            <a:p>
              <a:endParaRPr/>
            </a:p>
          </p:txBody>
        </p:sp>
        <p:sp>
          <p:nvSpPr>
            <p:cNvPr id="19" name="object 19"/>
            <p:cNvSpPr/>
            <p:nvPr/>
          </p:nvSpPr>
          <p:spPr>
            <a:xfrm>
              <a:off x="9108275" y="2410571"/>
              <a:ext cx="13970" cy="41275"/>
            </a:xfrm>
            <a:custGeom>
              <a:avLst/>
              <a:gdLst/>
              <a:ahLst/>
              <a:cxnLst/>
              <a:rect l="l" t="t" r="r" b="b"/>
              <a:pathLst>
                <a:path w="13970" h="41275">
                  <a:moveTo>
                    <a:pt x="6737" y="41184"/>
                  </a:moveTo>
                  <a:lnTo>
                    <a:pt x="10459" y="41184"/>
                  </a:lnTo>
                  <a:lnTo>
                    <a:pt x="13474" y="38167"/>
                  </a:lnTo>
                  <a:lnTo>
                    <a:pt x="13474" y="34443"/>
                  </a:lnTo>
                  <a:lnTo>
                    <a:pt x="13474" y="6740"/>
                  </a:lnTo>
                  <a:lnTo>
                    <a:pt x="13474" y="3016"/>
                  </a:lnTo>
                  <a:lnTo>
                    <a:pt x="10459" y="0"/>
                  </a:lnTo>
                  <a:lnTo>
                    <a:pt x="6737" y="0"/>
                  </a:lnTo>
                  <a:lnTo>
                    <a:pt x="3014" y="0"/>
                  </a:lnTo>
                  <a:lnTo>
                    <a:pt x="0" y="3016"/>
                  </a:lnTo>
                  <a:lnTo>
                    <a:pt x="0" y="6740"/>
                  </a:lnTo>
                  <a:lnTo>
                    <a:pt x="0" y="34443"/>
                  </a:lnTo>
                  <a:lnTo>
                    <a:pt x="0" y="38167"/>
                  </a:lnTo>
                  <a:lnTo>
                    <a:pt x="3014" y="41184"/>
                  </a:lnTo>
                  <a:lnTo>
                    <a:pt x="6737" y="41184"/>
                  </a:lnTo>
                  <a:close/>
                </a:path>
              </a:pathLst>
            </a:custGeom>
            <a:ln w="5383">
              <a:solidFill>
                <a:srgbClr val="734A67"/>
              </a:solidFill>
            </a:ln>
          </p:spPr>
          <p:txBody>
            <a:bodyPr wrap="square" lIns="0" tIns="0" rIns="0" bIns="0" rtlCol="0"/>
            <a:lstStyle/>
            <a:p>
              <a:endParaRPr/>
            </a:p>
          </p:txBody>
        </p:sp>
        <p:sp>
          <p:nvSpPr>
            <p:cNvPr id="20" name="object 20"/>
            <p:cNvSpPr/>
            <p:nvPr/>
          </p:nvSpPr>
          <p:spPr>
            <a:xfrm>
              <a:off x="8910828" y="2295144"/>
              <a:ext cx="448309" cy="448309"/>
            </a:xfrm>
            <a:custGeom>
              <a:avLst/>
              <a:gdLst/>
              <a:ahLst/>
              <a:cxnLst/>
              <a:rect l="l" t="t" r="r" b="b"/>
              <a:pathLst>
                <a:path w="448309" h="448310">
                  <a:moveTo>
                    <a:pt x="0" y="448055"/>
                  </a:moveTo>
                  <a:lnTo>
                    <a:pt x="448055" y="448055"/>
                  </a:lnTo>
                  <a:lnTo>
                    <a:pt x="448055" y="0"/>
                  </a:lnTo>
                  <a:lnTo>
                    <a:pt x="0" y="0"/>
                  </a:lnTo>
                  <a:lnTo>
                    <a:pt x="0" y="448055"/>
                  </a:lnTo>
                  <a:close/>
                </a:path>
              </a:pathLst>
            </a:custGeom>
            <a:ln w="12700">
              <a:solidFill>
                <a:srgbClr val="FFFFFF"/>
              </a:solidFill>
            </a:ln>
          </p:spPr>
          <p:txBody>
            <a:bodyPr wrap="square" lIns="0" tIns="0" rIns="0" bIns="0" rtlCol="0"/>
            <a:lstStyle/>
            <a:p>
              <a:endParaRPr/>
            </a:p>
          </p:txBody>
        </p:sp>
      </p:grpSp>
      <p:sp>
        <p:nvSpPr>
          <p:cNvPr id="21" name="object 21"/>
          <p:cNvSpPr txBox="1"/>
          <p:nvPr/>
        </p:nvSpPr>
        <p:spPr>
          <a:xfrm>
            <a:off x="9675368" y="2248357"/>
            <a:ext cx="1772920" cy="518159"/>
          </a:xfrm>
          <a:prstGeom prst="rect">
            <a:avLst/>
          </a:prstGeom>
        </p:spPr>
        <p:txBody>
          <a:bodyPr vert="horz" wrap="square" lIns="0" tIns="12065" rIns="0" bIns="0" rtlCol="0">
            <a:spAutoFit/>
          </a:bodyPr>
          <a:lstStyle/>
          <a:p>
            <a:pPr marL="12700">
              <a:lnSpc>
                <a:spcPct val="100000"/>
              </a:lnSpc>
              <a:spcBef>
                <a:spcPts val="95"/>
              </a:spcBef>
            </a:pPr>
            <a:r>
              <a:rPr sz="1600" spc="-30" dirty="0">
                <a:latin typeface="Georgia"/>
                <a:cs typeface="Georgia"/>
              </a:rPr>
              <a:t>Project</a:t>
            </a:r>
            <a:r>
              <a:rPr sz="1600" spc="-55" dirty="0">
                <a:latin typeface="Georgia"/>
                <a:cs typeface="Georgia"/>
              </a:rPr>
              <a:t> </a:t>
            </a:r>
            <a:r>
              <a:rPr sz="1600" spc="-50" dirty="0">
                <a:latin typeface="Georgia"/>
                <a:cs typeface="Georgia"/>
              </a:rPr>
              <a:t>Sponsor-</a:t>
            </a:r>
            <a:r>
              <a:rPr sz="1600" spc="-35" dirty="0">
                <a:latin typeface="Georgia"/>
                <a:cs typeface="Georgia"/>
              </a:rPr>
              <a:t> </a:t>
            </a:r>
            <a:r>
              <a:rPr sz="1600" spc="-25" dirty="0">
                <a:latin typeface="Georgia"/>
                <a:cs typeface="Georgia"/>
              </a:rPr>
              <a:t>Dr.</a:t>
            </a:r>
            <a:endParaRPr sz="1600">
              <a:latin typeface="Georgia"/>
              <a:cs typeface="Georgia"/>
            </a:endParaRPr>
          </a:p>
          <a:p>
            <a:pPr marL="12700">
              <a:lnSpc>
                <a:spcPct val="100000"/>
              </a:lnSpc>
              <a:spcBef>
                <a:spcPts val="40"/>
              </a:spcBef>
            </a:pPr>
            <a:r>
              <a:rPr sz="1600" spc="-25" dirty="0">
                <a:latin typeface="Georgia"/>
                <a:cs typeface="Georgia"/>
              </a:rPr>
              <a:t>Martinez</a:t>
            </a:r>
            <a:r>
              <a:rPr sz="1600" spc="-35" dirty="0">
                <a:latin typeface="Georgia"/>
                <a:cs typeface="Georgia"/>
              </a:rPr>
              <a:t> </a:t>
            </a:r>
            <a:r>
              <a:rPr sz="1600" spc="-20" dirty="0">
                <a:latin typeface="Tahoma"/>
                <a:cs typeface="Tahoma"/>
              </a:rPr>
              <a:t>Gomez</a:t>
            </a:r>
            <a:endParaRPr sz="1600">
              <a:latin typeface="Tahoma"/>
              <a:cs typeface="Tahoma"/>
            </a:endParaRPr>
          </a:p>
        </p:txBody>
      </p:sp>
      <p:sp>
        <p:nvSpPr>
          <p:cNvPr id="22" name="object 22"/>
          <p:cNvSpPr/>
          <p:nvPr/>
        </p:nvSpPr>
        <p:spPr>
          <a:xfrm>
            <a:off x="5669279" y="3547871"/>
            <a:ext cx="772795" cy="772795"/>
          </a:xfrm>
          <a:custGeom>
            <a:avLst/>
            <a:gdLst/>
            <a:ahLst/>
            <a:cxnLst/>
            <a:rect l="l" t="t" r="r" b="b"/>
            <a:pathLst>
              <a:path w="772795" h="772795">
                <a:moveTo>
                  <a:pt x="386334" y="0"/>
                </a:moveTo>
                <a:lnTo>
                  <a:pt x="337874" y="3010"/>
                </a:lnTo>
                <a:lnTo>
                  <a:pt x="291210" y="11799"/>
                </a:lnTo>
                <a:lnTo>
                  <a:pt x="246704" y="26005"/>
                </a:lnTo>
                <a:lnTo>
                  <a:pt x="204719" y="45266"/>
                </a:lnTo>
                <a:lnTo>
                  <a:pt x="165615" y="69219"/>
                </a:lnTo>
                <a:lnTo>
                  <a:pt x="129756" y="97504"/>
                </a:lnTo>
                <a:lnTo>
                  <a:pt x="97504" y="129756"/>
                </a:lnTo>
                <a:lnTo>
                  <a:pt x="69219" y="165615"/>
                </a:lnTo>
                <a:lnTo>
                  <a:pt x="45266" y="204719"/>
                </a:lnTo>
                <a:lnTo>
                  <a:pt x="26005" y="246704"/>
                </a:lnTo>
                <a:lnTo>
                  <a:pt x="11799" y="291210"/>
                </a:lnTo>
                <a:lnTo>
                  <a:pt x="3010" y="337874"/>
                </a:lnTo>
                <a:lnTo>
                  <a:pt x="0" y="386333"/>
                </a:lnTo>
                <a:lnTo>
                  <a:pt x="3010" y="434793"/>
                </a:lnTo>
                <a:lnTo>
                  <a:pt x="11799" y="481457"/>
                </a:lnTo>
                <a:lnTo>
                  <a:pt x="26005" y="525963"/>
                </a:lnTo>
                <a:lnTo>
                  <a:pt x="45266" y="567948"/>
                </a:lnTo>
                <a:lnTo>
                  <a:pt x="69219" y="607052"/>
                </a:lnTo>
                <a:lnTo>
                  <a:pt x="97504" y="642911"/>
                </a:lnTo>
                <a:lnTo>
                  <a:pt x="129756" y="675163"/>
                </a:lnTo>
                <a:lnTo>
                  <a:pt x="165615" y="703448"/>
                </a:lnTo>
                <a:lnTo>
                  <a:pt x="204719" y="727401"/>
                </a:lnTo>
                <a:lnTo>
                  <a:pt x="246704" y="746662"/>
                </a:lnTo>
                <a:lnTo>
                  <a:pt x="291210" y="760868"/>
                </a:lnTo>
                <a:lnTo>
                  <a:pt x="337874" y="769657"/>
                </a:lnTo>
                <a:lnTo>
                  <a:pt x="386334" y="772667"/>
                </a:lnTo>
                <a:lnTo>
                  <a:pt x="434793" y="769657"/>
                </a:lnTo>
                <a:lnTo>
                  <a:pt x="481457" y="760868"/>
                </a:lnTo>
                <a:lnTo>
                  <a:pt x="525963" y="746662"/>
                </a:lnTo>
                <a:lnTo>
                  <a:pt x="567948" y="727401"/>
                </a:lnTo>
                <a:lnTo>
                  <a:pt x="607052" y="703448"/>
                </a:lnTo>
                <a:lnTo>
                  <a:pt x="642911" y="675163"/>
                </a:lnTo>
                <a:lnTo>
                  <a:pt x="675163" y="642911"/>
                </a:lnTo>
                <a:lnTo>
                  <a:pt x="703448" y="607052"/>
                </a:lnTo>
                <a:lnTo>
                  <a:pt x="727401" y="567948"/>
                </a:lnTo>
                <a:lnTo>
                  <a:pt x="746662" y="525963"/>
                </a:lnTo>
                <a:lnTo>
                  <a:pt x="760868" y="481457"/>
                </a:lnTo>
                <a:lnTo>
                  <a:pt x="769657" y="434793"/>
                </a:lnTo>
                <a:lnTo>
                  <a:pt x="772668" y="386333"/>
                </a:lnTo>
                <a:lnTo>
                  <a:pt x="769657" y="337874"/>
                </a:lnTo>
                <a:lnTo>
                  <a:pt x="760868" y="291210"/>
                </a:lnTo>
                <a:lnTo>
                  <a:pt x="746662" y="246704"/>
                </a:lnTo>
                <a:lnTo>
                  <a:pt x="727401" y="204719"/>
                </a:lnTo>
                <a:lnTo>
                  <a:pt x="703448" y="165615"/>
                </a:lnTo>
                <a:lnTo>
                  <a:pt x="675163" y="129756"/>
                </a:lnTo>
                <a:lnTo>
                  <a:pt x="642911" y="97504"/>
                </a:lnTo>
                <a:lnTo>
                  <a:pt x="607052" y="69219"/>
                </a:lnTo>
                <a:lnTo>
                  <a:pt x="567948" y="45266"/>
                </a:lnTo>
                <a:lnTo>
                  <a:pt x="525963" y="26005"/>
                </a:lnTo>
                <a:lnTo>
                  <a:pt x="481457" y="11799"/>
                </a:lnTo>
                <a:lnTo>
                  <a:pt x="434793" y="3010"/>
                </a:lnTo>
                <a:lnTo>
                  <a:pt x="386334" y="0"/>
                </a:lnTo>
                <a:close/>
              </a:path>
            </a:pathLst>
          </a:custGeom>
          <a:solidFill>
            <a:srgbClr val="D4D0D2"/>
          </a:solidFill>
        </p:spPr>
        <p:txBody>
          <a:bodyPr wrap="square" lIns="0" tIns="0" rIns="0" bIns="0" rtlCol="0"/>
          <a:lstStyle/>
          <a:p>
            <a:endParaRPr/>
          </a:p>
        </p:txBody>
      </p:sp>
      <p:grpSp>
        <p:nvGrpSpPr>
          <p:cNvPr id="23" name="object 23"/>
          <p:cNvGrpSpPr/>
          <p:nvPr/>
        </p:nvGrpSpPr>
        <p:grpSpPr>
          <a:xfrm>
            <a:off x="5825997" y="3703065"/>
            <a:ext cx="461009" cy="461009"/>
            <a:chOff x="5825997" y="3703065"/>
            <a:chExt cx="461009" cy="461009"/>
          </a:xfrm>
        </p:grpSpPr>
        <p:sp>
          <p:nvSpPr>
            <p:cNvPr id="24" name="object 24"/>
            <p:cNvSpPr/>
            <p:nvPr/>
          </p:nvSpPr>
          <p:spPr>
            <a:xfrm>
              <a:off x="6047884" y="3855823"/>
              <a:ext cx="19050" cy="19050"/>
            </a:xfrm>
            <a:custGeom>
              <a:avLst/>
              <a:gdLst/>
              <a:ahLst/>
              <a:cxnLst/>
              <a:rect l="l" t="t" r="r" b="b"/>
              <a:pathLst>
                <a:path w="19050" h="19050">
                  <a:moveTo>
                    <a:pt x="14324" y="0"/>
                  </a:moveTo>
                  <a:lnTo>
                    <a:pt x="4133" y="0"/>
                  </a:lnTo>
                  <a:lnTo>
                    <a:pt x="0" y="4136"/>
                  </a:lnTo>
                  <a:lnTo>
                    <a:pt x="0" y="14335"/>
                  </a:lnTo>
                  <a:lnTo>
                    <a:pt x="4133" y="18468"/>
                  </a:lnTo>
                  <a:lnTo>
                    <a:pt x="14324" y="18468"/>
                  </a:lnTo>
                  <a:lnTo>
                    <a:pt x="18458" y="14336"/>
                  </a:lnTo>
                  <a:lnTo>
                    <a:pt x="18458" y="9234"/>
                  </a:lnTo>
                  <a:lnTo>
                    <a:pt x="18458" y="4136"/>
                  </a:lnTo>
                  <a:lnTo>
                    <a:pt x="14324" y="0"/>
                  </a:lnTo>
                  <a:close/>
                </a:path>
              </a:pathLst>
            </a:custGeom>
            <a:solidFill>
              <a:srgbClr val="734A67"/>
            </a:solidFill>
          </p:spPr>
          <p:txBody>
            <a:bodyPr wrap="square" lIns="0" tIns="0" rIns="0" bIns="0" rtlCol="0"/>
            <a:lstStyle/>
            <a:p>
              <a:endParaRPr/>
            </a:p>
          </p:txBody>
        </p:sp>
        <p:sp>
          <p:nvSpPr>
            <p:cNvPr id="25" name="object 25"/>
            <p:cNvSpPr/>
            <p:nvPr/>
          </p:nvSpPr>
          <p:spPr>
            <a:xfrm>
              <a:off x="6047884" y="3855823"/>
              <a:ext cx="19050" cy="19050"/>
            </a:xfrm>
            <a:custGeom>
              <a:avLst/>
              <a:gdLst/>
              <a:ahLst/>
              <a:cxnLst/>
              <a:rect l="l" t="t" r="r" b="b"/>
              <a:pathLst>
                <a:path w="19050" h="19050">
                  <a:moveTo>
                    <a:pt x="18458" y="9234"/>
                  </a:moveTo>
                  <a:lnTo>
                    <a:pt x="18458" y="14336"/>
                  </a:lnTo>
                  <a:lnTo>
                    <a:pt x="14324" y="18468"/>
                  </a:lnTo>
                  <a:lnTo>
                    <a:pt x="9229" y="18468"/>
                  </a:lnTo>
                  <a:lnTo>
                    <a:pt x="4133" y="18468"/>
                  </a:lnTo>
                  <a:lnTo>
                    <a:pt x="0" y="14335"/>
                  </a:lnTo>
                  <a:lnTo>
                    <a:pt x="0" y="9234"/>
                  </a:lnTo>
                  <a:lnTo>
                    <a:pt x="0" y="4136"/>
                  </a:lnTo>
                  <a:lnTo>
                    <a:pt x="4133" y="0"/>
                  </a:lnTo>
                  <a:lnTo>
                    <a:pt x="9229" y="0"/>
                  </a:lnTo>
                  <a:lnTo>
                    <a:pt x="14324" y="0"/>
                  </a:lnTo>
                  <a:lnTo>
                    <a:pt x="18458" y="4136"/>
                  </a:lnTo>
                  <a:lnTo>
                    <a:pt x="18458" y="9234"/>
                  </a:lnTo>
                  <a:close/>
                </a:path>
              </a:pathLst>
            </a:custGeom>
            <a:ln w="5385">
              <a:solidFill>
                <a:srgbClr val="734A67"/>
              </a:solidFill>
            </a:ln>
          </p:spPr>
          <p:txBody>
            <a:bodyPr wrap="square" lIns="0" tIns="0" rIns="0" bIns="0" rtlCol="0"/>
            <a:lstStyle/>
            <a:p>
              <a:endParaRPr/>
            </a:p>
          </p:txBody>
        </p:sp>
        <p:sp>
          <p:nvSpPr>
            <p:cNvPr id="26" name="object 26"/>
            <p:cNvSpPr/>
            <p:nvPr/>
          </p:nvSpPr>
          <p:spPr>
            <a:xfrm>
              <a:off x="6047884" y="4040506"/>
              <a:ext cx="19050" cy="19050"/>
            </a:xfrm>
            <a:custGeom>
              <a:avLst/>
              <a:gdLst/>
              <a:ahLst/>
              <a:cxnLst/>
              <a:rect l="l" t="t" r="r" b="b"/>
              <a:pathLst>
                <a:path w="19050" h="19050">
                  <a:moveTo>
                    <a:pt x="14324" y="0"/>
                  </a:moveTo>
                  <a:lnTo>
                    <a:pt x="4133" y="0"/>
                  </a:lnTo>
                  <a:lnTo>
                    <a:pt x="0" y="4136"/>
                  </a:lnTo>
                  <a:lnTo>
                    <a:pt x="0" y="14332"/>
                  </a:lnTo>
                  <a:lnTo>
                    <a:pt x="4133" y="18468"/>
                  </a:lnTo>
                  <a:lnTo>
                    <a:pt x="14324" y="18468"/>
                  </a:lnTo>
                  <a:lnTo>
                    <a:pt x="18458" y="14336"/>
                  </a:lnTo>
                  <a:lnTo>
                    <a:pt x="18458" y="9234"/>
                  </a:lnTo>
                  <a:lnTo>
                    <a:pt x="18458" y="4136"/>
                  </a:lnTo>
                  <a:lnTo>
                    <a:pt x="14324" y="0"/>
                  </a:lnTo>
                  <a:close/>
                </a:path>
              </a:pathLst>
            </a:custGeom>
            <a:solidFill>
              <a:srgbClr val="734A67"/>
            </a:solidFill>
          </p:spPr>
          <p:txBody>
            <a:bodyPr wrap="square" lIns="0" tIns="0" rIns="0" bIns="0" rtlCol="0"/>
            <a:lstStyle/>
            <a:p>
              <a:endParaRPr/>
            </a:p>
          </p:txBody>
        </p:sp>
        <p:sp>
          <p:nvSpPr>
            <p:cNvPr id="27" name="object 27"/>
            <p:cNvSpPr/>
            <p:nvPr/>
          </p:nvSpPr>
          <p:spPr>
            <a:xfrm>
              <a:off x="6047884" y="4040506"/>
              <a:ext cx="19050" cy="19050"/>
            </a:xfrm>
            <a:custGeom>
              <a:avLst/>
              <a:gdLst/>
              <a:ahLst/>
              <a:cxnLst/>
              <a:rect l="l" t="t" r="r" b="b"/>
              <a:pathLst>
                <a:path w="19050" h="19050">
                  <a:moveTo>
                    <a:pt x="18458" y="9234"/>
                  </a:moveTo>
                  <a:lnTo>
                    <a:pt x="18458" y="14336"/>
                  </a:lnTo>
                  <a:lnTo>
                    <a:pt x="14324" y="18468"/>
                  </a:lnTo>
                  <a:lnTo>
                    <a:pt x="9229" y="18468"/>
                  </a:lnTo>
                  <a:lnTo>
                    <a:pt x="4133" y="18468"/>
                  </a:lnTo>
                  <a:lnTo>
                    <a:pt x="0" y="14332"/>
                  </a:lnTo>
                  <a:lnTo>
                    <a:pt x="0" y="9234"/>
                  </a:lnTo>
                  <a:lnTo>
                    <a:pt x="0" y="4136"/>
                  </a:lnTo>
                  <a:lnTo>
                    <a:pt x="4133" y="0"/>
                  </a:lnTo>
                  <a:lnTo>
                    <a:pt x="9229" y="0"/>
                  </a:lnTo>
                  <a:lnTo>
                    <a:pt x="14324" y="0"/>
                  </a:lnTo>
                  <a:lnTo>
                    <a:pt x="18458" y="4136"/>
                  </a:lnTo>
                  <a:lnTo>
                    <a:pt x="18458" y="9234"/>
                  </a:lnTo>
                  <a:close/>
                </a:path>
              </a:pathLst>
            </a:custGeom>
            <a:ln w="5385">
              <a:solidFill>
                <a:srgbClr val="734A67"/>
              </a:solidFill>
            </a:ln>
          </p:spPr>
          <p:txBody>
            <a:bodyPr wrap="square" lIns="0" tIns="0" rIns="0" bIns="0" rtlCol="0"/>
            <a:lstStyle/>
            <a:p>
              <a:endParaRPr/>
            </a:p>
          </p:txBody>
        </p:sp>
        <p:sp>
          <p:nvSpPr>
            <p:cNvPr id="28" name="object 28"/>
            <p:cNvSpPr/>
            <p:nvPr/>
          </p:nvSpPr>
          <p:spPr>
            <a:xfrm>
              <a:off x="6140175" y="3943547"/>
              <a:ext cx="19050" cy="19050"/>
            </a:xfrm>
            <a:custGeom>
              <a:avLst/>
              <a:gdLst/>
              <a:ahLst/>
              <a:cxnLst/>
              <a:rect l="l" t="t" r="r" b="b"/>
              <a:pathLst>
                <a:path w="19050" h="19050">
                  <a:moveTo>
                    <a:pt x="14324" y="0"/>
                  </a:moveTo>
                  <a:lnTo>
                    <a:pt x="4129" y="0"/>
                  </a:lnTo>
                  <a:lnTo>
                    <a:pt x="0" y="4136"/>
                  </a:lnTo>
                  <a:lnTo>
                    <a:pt x="0" y="14335"/>
                  </a:lnTo>
                  <a:lnTo>
                    <a:pt x="4130" y="18468"/>
                  </a:lnTo>
                  <a:lnTo>
                    <a:pt x="14324" y="18468"/>
                  </a:lnTo>
                  <a:lnTo>
                    <a:pt x="18458" y="14336"/>
                  </a:lnTo>
                  <a:lnTo>
                    <a:pt x="18458" y="9234"/>
                  </a:lnTo>
                  <a:lnTo>
                    <a:pt x="18458" y="4136"/>
                  </a:lnTo>
                  <a:lnTo>
                    <a:pt x="14324" y="0"/>
                  </a:lnTo>
                  <a:close/>
                </a:path>
              </a:pathLst>
            </a:custGeom>
            <a:solidFill>
              <a:srgbClr val="734A67"/>
            </a:solidFill>
          </p:spPr>
          <p:txBody>
            <a:bodyPr wrap="square" lIns="0" tIns="0" rIns="0" bIns="0" rtlCol="0"/>
            <a:lstStyle/>
            <a:p>
              <a:endParaRPr/>
            </a:p>
          </p:txBody>
        </p:sp>
        <p:sp>
          <p:nvSpPr>
            <p:cNvPr id="29" name="object 29"/>
            <p:cNvSpPr/>
            <p:nvPr/>
          </p:nvSpPr>
          <p:spPr>
            <a:xfrm>
              <a:off x="6140175" y="3943547"/>
              <a:ext cx="19050" cy="19050"/>
            </a:xfrm>
            <a:custGeom>
              <a:avLst/>
              <a:gdLst/>
              <a:ahLst/>
              <a:cxnLst/>
              <a:rect l="l" t="t" r="r" b="b"/>
              <a:pathLst>
                <a:path w="19050" h="19050">
                  <a:moveTo>
                    <a:pt x="18458" y="9234"/>
                  </a:moveTo>
                  <a:lnTo>
                    <a:pt x="18458" y="14336"/>
                  </a:lnTo>
                  <a:lnTo>
                    <a:pt x="14324" y="18468"/>
                  </a:lnTo>
                  <a:lnTo>
                    <a:pt x="9229" y="18468"/>
                  </a:lnTo>
                  <a:lnTo>
                    <a:pt x="4130" y="18468"/>
                  </a:lnTo>
                  <a:lnTo>
                    <a:pt x="0" y="14335"/>
                  </a:lnTo>
                  <a:lnTo>
                    <a:pt x="0" y="9234"/>
                  </a:lnTo>
                  <a:lnTo>
                    <a:pt x="0" y="4136"/>
                  </a:lnTo>
                  <a:lnTo>
                    <a:pt x="4129" y="0"/>
                  </a:lnTo>
                  <a:lnTo>
                    <a:pt x="9229" y="0"/>
                  </a:lnTo>
                  <a:lnTo>
                    <a:pt x="14324" y="0"/>
                  </a:lnTo>
                  <a:lnTo>
                    <a:pt x="18458" y="4136"/>
                  </a:lnTo>
                  <a:lnTo>
                    <a:pt x="18458" y="9234"/>
                  </a:lnTo>
                  <a:close/>
                </a:path>
              </a:pathLst>
            </a:custGeom>
            <a:ln w="5385">
              <a:solidFill>
                <a:srgbClr val="734A67"/>
              </a:solidFill>
            </a:ln>
          </p:spPr>
          <p:txBody>
            <a:bodyPr wrap="square" lIns="0" tIns="0" rIns="0" bIns="0" rtlCol="0"/>
            <a:lstStyle/>
            <a:p>
              <a:endParaRPr/>
            </a:p>
          </p:txBody>
        </p:sp>
        <p:sp>
          <p:nvSpPr>
            <p:cNvPr id="30" name="object 30"/>
            <p:cNvSpPr/>
            <p:nvPr/>
          </p:nvSpPr>
          <p:spPr>
            <a:xfrm>
              <a:off x="5955593" y="3943547"/>
              <a:ext cx="19050" cy="19050"/>
            </a:xfrm>
            <a:custGeom>
              <a:avLst/>
              <a:gdLst/>
              <a:ahLst/>
              <a:cxnLst/>
              <a:rect l="l" t="t" r="r" b="b"/>
              <a:pathLst>
                <a:path w="19050" h="19050">
                  <a:moveTo>
                    <a:pt x="14324" y="0"/>
                  </a:moveTo>
                  <a:lnTo>
                    <a:pt x="4133" y="0"/>
                  </a:lnTo>
                  <a:lnTo>
                    <a:pt x="0" y="4136"/>
                  </a:lnTo>
                  <a:lnTo>
                    <a:pt x="0" y="14335"/>
                  </a:lnTo>
                  <a:lnTo>
                    <a:pt x="4133" y="18468"/>
                  </a:lnTo>
                  <a:lnTo>
                    <a:pt x="14324" y="18468"/>
                  </a:lnTo>
                  <a:lnTo>
                    <a:pt x="18458" y="14336"/>
                  </a:lnTo>
                  <a:lnTo>
                    <a:pt x="18458" y="9234"/>
                  </a:lnTo>
                  <a:lnTo>
                    <a:pt x="18458" y="4136"/>
                  </a:lnTo>
                  <a:lnTo>
                    <a:pt x="14324" y="0"/>
                  </a:lnTo>
                  <a:close/>
                </a:path>
              </a:pathLst>
            </a:custGeom>
            <a:solidFill>
              <a:srgbClr val="734A67"/>
            </a:solidFill>
          </p:spPr>
          <p:txBody>
            <a:bodyPr wrap="square" lIns="0" tIns="0" rIns="0" bIns="0" rtlCol="0"/>
            <a:lstStyle/>
            <a:p>
              <a:endParaRPr/>
            </a:p>
          </p:txBody>
        </p:sp>
        <p:sp>
          <p:nvSpPr>
            <p:cNvPr id="31" name="object 31"/>
            <p:cNvSpPr/>
            <p:nvPr/>
          </p:nvSpPr>
          <p:spPr>
            <a:xfrm>
              <a:off x="5955593" y="3943547"/>
              <a:ext cx="19050" cy="19050"/>
            </a:xfrm>
            <a:custGeom>
              <a:avLst/>
              <a:gdLst/>
              <a:ahLst/>
              <a:cxnLst/>
              <a:rect l="l" t="t" r="r" b="b"/>
              <a:pathLst>
                <a:path w="19050" h="19050">
                  <a:moveTo>
                    <a:pt x="18458" y="9234"/>
                  </a:moveTo>
                  <a:lnTo>
                    <a:pt x="18458" y="14336"/>
                  </a:lnTo>
                  <a:lnTo>
                    <a:pt x="14324" y="18468"/>
                  </a:lnTo>
                  <a:lnTo>
                    <a:pt x="9229" y="18468"/>
                  </a:lnTo>
                  <a:lnTo>
                    <a:pt x="4133" y="18468"/>
                  </a:lnTo>
                  <a:lnTo>
                    <a:pt x="0" y="14335"/>
                  </a:lnTo>
                  <a:lnTo>
                    <a:pt x="0" y="9234"/>
                  </a:lnTo>
                  <a:lnTo>
                    <a:pt x="0" y="4136"/>
                  </a:lnTo>
                  <a:lnTo>
                    <a:pt x="4133" y="0"/>
                  </a:lnTo>
                  <a:lnTo>
                    <a:pt x="9229" y="0"/>
                  </a:lnTo>
                  <a:lnTo>
                    <a:pt x="14324" y="0"/>
                  </a:lnTo>
                  <a:lnTo>
                    <a:pt x="18458" y="4136"/>
                  </a:lnTo>
                  <a:lnTo>
                    <a:pt x="18458" y="9234"/>
                  </a:lnTo>
                  <a:close/>
                </a:path>
              </a:pathLst>
            </a:custGeom>
            <a:ln w="5385">
              <a:solidFill>
                <a:srgbClr val="734A67"/>
              </a:solidFill>
            </a:ln>
          </p:spPr>
          <p:txBody>
            <a:bodyPr wrap="square" lIns="0" tIns="0" rIns="0" bIns="0" rtlCol="0"/>
            <a:lstStyle/>
            <a:p>
              <a:endParaRPr/>
            </a:p>
          </p:txBody>
        </p:sp>
        <p:sp>
          <p:nvSpPr>
            <p:cNvPr id="32" name="object 32"/>
            <p:cNvSpPr/>
            <p:nvPr/>
          </p:nvSpPr>
          <p:spPr>
            <a:xfrm>
              <a:off x="6047884" y="3888142"/>
              <a:ext cx="61594" cy="116839"/>
            </a:xfrm>
            <a:custGeom>
              <a:avLst/>
              <a:gdLst/>
              <a:ahLst/>
              <a:cxnLst/>
              <a:rect l="l" t="t" r="r" b="b"/>
              <a:pathLst>
                <a:path w="61595" h="116839">
                  <a:moveTo>
                    <a:pt x="18458" y="0"/>
                  </a:moveTo>
                  <a:lnTo>
                    <a:pt x="0" y="0"/>
                  </a:lnTo>
                  <a:lnTo>
                    <a:pt x="0" y="66947"/>
                  </a:lnTo>
                  <a:lnTo>
                    <a:pt x="923" y="69256"/>
                  </a:lnTo>
                  <a:lnTo>
                    <a:pt x="48452" y="116811"/>
                  </a:lnTo>
                  <a:lnTo>
                    <a:pt x="61373" y="103884"/>
                  </a:lnTo>
                  <a:lnTo>
                    <a:pt x="18458" y="60945"/>
                  </a:lnTo>
                  <a:lnTo>
                    <a:pt x="18458" y="0"/>
                  </a:lnTo>
                  <a:close/>
                </a:path>
              </a:pathLst>
            </a:custGeom>
            <a:solidFill>
              <a:srgbClr val="734A67"/>
            </a:solidFill>
          </p:spPr>
          <p:txBody>
            <a:bodyPr wrap="square" lIns="0" tIns="0" rIns="0" bIns="0" rtlCol="0"/>
            <a:lstStyle/>
            <a:p>
              <a:endParaRPr/>
            </a:p>
          </p:txBody>
        </p:sp>
        <p:sp>
          <p:nvSpPr>
            <p:cNvPr id="33" name="object 33"/>
            <p:cNvSpPr/>
            <p:nvPr/>
          </p:nvSpPr>
          <p:spPr>
            <a:xfrm>
              <a:off x="6047884" y="3888142"/>
              <a:ext cx="61594" cy="116839"/>
            </a:xfrm>
            <a:custGeom>
              <a:avLst/>
              <a:gdLst/>
              <a:ahLst/>
              <a:cxnLst/>
              <a:rect l="l" t="t" r="r" b="b"/>
              <a:pathLst>
                <a:path w="61595" h="116839">
                  <a:moveTo>
                    <a:pt x="18458" y="0"/>
                  </a:moveTo>
                  <a:lnTo>
                    <a:pt x="0" y="0"/>
                  </a:lnTo>
                  <a:lnTo>
                    <a:pt x="0" y="64638"/>
                  </a:lnTo>
                  <a:lnTo>
                    <a:pt x="0" y="66947"/>
                  </a:lnTo>
                  <a:lnTo>
                    <a:pt x="923" y="69256"/>
                  </a:lnTo>
                  <a:lnTo>
                    <a:pt x="2768" y="71102"/>
                  </a:lnTo>
                  <a:lnTo>
                    <a:pt x="48452" y="116811"/>
                  </a:lnTo>
                  <a:lnTo>
                    <a:pt x="61373" y="103884"/>
                  </a:lnTo>
                  <a:lnTo>
                    <a:pt x="18458" y="60945"/>
                  </a:lnTo>
                  <a:lnTo>
                    <a:pt x="18458" y="0"/>
                  </a:lnTo>
                  <a:close/>
                </a:path>
              </a:pathLst>
            </a:custGeom>
            <a:ln w="5384">
              <a:solidFill>
                <a:srgbClr val="734A67"/>
              </a:solidFill>
            </a:ln>
          </p:spPr>
          <p:txBody>
            <a:bodyPr wrap="square" lIns="0" tIns="0" rIns="0" bIns="0" rtlCol="0"/>
            <a:lstStyle/>
            <a:p>
              <a:endParaRPr/>
            </a:p>
          </p:txBody>
        </p:sp>
        <p:sp>
          <p:nvSpPr>
            <p:cNvPr id="34" name="object 34"/>
            <p:cNvSpPr/>
            <p:nvPr/>
          </p:nvSpPr>
          <p:spPr>
            <a:xfrm>
              <a:off x="5901603" y="3754247"/>
              <a:ext cx="313055" cy="360045"/>
            </a:xfrm>
            <a:custGeom>
              <a:avLst/>
              <a:gdLst/>
              <a:ahLst/>
              <a:cxnLst/>
              <a:rect l="l" t="t" r="r" b="b"/>
              <a:pathLst>
                <a:path w="313054" h="360045">
                  <a:moveTo>
                    <a:pt x="169352" y="27702"/>
                  </a:moveTo>
                  <a:lnTo>
                    <a:pt x="141665" y="27702"/>
                  </a:lnTo>
                  <a:lnTo>
                    <a:pt x="141665" y="46632"/>
                  </a:lnTo>
                  <a:lnTo>
                    <a:pt x="99644" y="56280"/>
                  </a:lnTo>
                  <a:lnTo>
                    <a:pt x="62761" y="76388"/>
                  </a:lnTo>
                  <a:lnTo>
                    <a:pt x="32722" y="105339"/>
                  </a:lnTo>
                  <a:lnTo>
                    <a:pt x="11233" y="141514"/>
                  </a:lnTo>
                  <a:lnTo>
                    <a:pt x="0" y="183297"/>
                  </a:lnTo>
                  <a:lnTo>
                    <a:pt x="516" y="226568"/>
                  </a:lnTo>
                  <a:lnTo>
                    <a:pt x="12330" y="266958"/>
                  </a:lnTo>
                  <a:lnTo>
                    <a:pt x="34221" y="302473"/>
                  </a:lnTo>
                  <a:lnTo>
                    <a:pt x="64972" y="331117"/>
                  </a:lnTo>
                  <a:lnTo>
                    <a:pt x="103365" y="350897"/>
                  </a:lnTo>
                  <a:lnTo>
                    <a:pt x="145697" y="359551"/>
                  </a:lnTo>
                  <a:lnTo>
                    <a:pt x="187630" y="356637"/>
                  </a:lnTo>
                  <a:lnTo>
                    <a:pt x="226994" y="342885"/>
                  </a:lnTo>
                  <a:lnTo>
                    <a:pt x="242170" y="332428"/>
                  </a:lnTo>
                  <a:lnTo>
                    <a:pt x="155509" y="332428"/>
                  </a:lnTo>
                  <a:lnTo>
                    <a:pt x="105146" y="322292"/>
                  </a:lnTo>
                  <a:lnTo>
                    <a:pt x="64084" y="294626"/>
                  </a:lnTo>
                  <a:lnTo>
                    <a:pt x="36433" y="253541"/>
                  </a:lnTo>
                  <a:lnTo>
                    <a:pt x="26302" y="203150"/>
                  </a:lnTo>
                  <a:lnTo>
                    <a:pt x="36433" y="152759"/>
                  </a:lnTo>
                  <a:lnTo>
                    <a:pt x="64084" y="111675"/>
                  </a:lnTo>
                  <a:lnTo>
                    <a:pt x="105146" y="84008"/>
                  </a:lnTo>
                  <a:lnTo>
                    <a:pt x="155509" y="73873"/>
                  </a:lnTo>
                  <a:lnTo>
                    <a:pt x="281255" y="73873"/>
                  </a:lnTo>
                  <a:lnTo>
                    <a:pt x="282101" y="72949"/>
                  </a:lnTo>
                  <a:lnTo>
                    <a:pt x="243185" y="72949"/>
                  </a:lnTo>
                  <a:lnTo>
                    <a:pt x="226003" y="62936"/>
                  </a:lnTo>
                  <a:lnTo>
                    <a:pt x="207826" y="55173"/>
                  </a:lnTo>
                  <a:lnTo>
                    <a:pt x="188871" y="49835"/>
                  </a:lnTo>
                  <a:lnTo>
                    <a:pt x="169352" y="47094"/>
                  </a:lnTo>
                  <a:lnTo>
                    <a:pt x="169352" y="27702"/>
                  </a:lnTo>
                  <a:close/>
                </a:path>
                <a:path w="313054" h="360045">
                  <a:moveTo>
                    <a:pt x="281255" y="73873"/>
                  </a:moveTo>
                  <a:lnTo>
                    <a:pt x="155509" y="73873"/>
                  </a:lnTo>
                  <a:lnTo>
                    <a:pt x="205872" y="84009"/>
                  </a:lnTo>
                  <a:lnTo>
                    <a:pt x="246934" y="111675"/>
                  </a:lnTo>
                  <a:lnTo>
                    <a:pt x="274586" y="152760"/>
                  </a:lnTo>
                  <a:lnTo>
                    <a:pt x="284716" y="203151"/>
                  </a:lnTo>
                  <a:lnTo>
                    <a:pt x="274586" y="253542"/>
                  </a:lnTo>
                  <a:lnTo>
                    <a:pt x="246935" y="294626"/>
                  </a:lnTo>
                  <a:lnTo>
                    <a:pt x="205873" y="322292"/>
                  </a:lnTo>
                  <a:lnTo>
                    <a:pt x="155509" y="332428"/>
                  </a:lnTo>
                  <a:lnTo>
                    <a:pt x="242170" y="332428"/>
                  </a:lnTo>
                  <a:lnTo>
                    <a:pt x="261618" y="319028"/>
                  </a:lnTo>
                  <a:lnTo>
                    <a:pt x="289331" y="285796"/>
                  </a:lnTo>
                  <a:lnTo>
                    <a:pt x="306899" y="246292"/>
                  </a:lnTo>
                  <a:lnTo>
                    <a:pt x="312817" y="204683"/>
                  </a:lnTo>
                  <a:lnTo>
                    <a:pt x="307504" y="163296"/>
                  </a:lnTo>
                  <a:lnTo>
                    <a:pt x="291383" y="124457"/>
                  </a:lnTo>
                  <a:lnTo>
                    <a:pt x="264873" y="90494"/>
                  </a:lnTo>
                  <a:lnTo>
                    <a:pt x="278717" y="76643"/>
                  </a:lnTo>
                  <a:lnTo>
                    <a:pt x="281255" y="73873"/>
                  </a:lnTo>
                  <a:close/>
                </a:path>
                <a:path w="313054" h="360045">
                  <a:moveTo>
                    <a:pt x="264412" y="51711"/>
                  </a:moveTo>
                  <a:lnTo>
                    <a:pt x="258874" y="56789"/>
                  </a:lnTo>
                  <a:lnTo>
                    <a:pt x="243185" y="72949"/>
                  </a:lnTo>
                  <a:lnTo>
                    <a:pt x="282101" y="72949"/>
                  </a:lnTo>
                  <a:lnTo>
                    <a:pt x="283793" y="71102"/>
                  </a:lnTo>
                  <a:lnTo>
                    <a:pt x="283793" y="62792"/>
                  </a:lnTo>
                  <a:lnTo>
                    <a:pt x="273179" y="52172"/>
                  </a:lnTo>
                  <a:lnTo>
                    <a:pt x="264412" y="51711"/>
                  </a:lnTo>
                  <a:close/>
                </a:path>
                <a:path w="313054" h="360045">
                  <a:moveTo>
                    <a:pt x="210883" y="0"/>
                  </a:moveTo>
                  <a:lnTo>
                    <a:pt x="100134" y="0"/>
                  </a:lnTo>
                  <a:lnTo>
                    <a:pt x="100135" y="27702"/>
                  </a:lnTo>
                  <a:lnTo>
                    <a:pt x="210883" y="27702"/>
                  </a:lnTo>
                  <a:lnTo>
                    <a:pt x="210883" y="0"/>
                  </a:lnTo>
                  <a:close/>
                </a:path>
              </a:pathLst>
            </a:custGeom>
            <a:solidFill>
              <a:srgbClr val="734A67"/>
            </a:solidFill>
          </p:spPr>
          <p:txBody>
            <a:bodyPr wrap="square" lIns="0" tIns="0" rIns="0" bIns="0" rtlCol="0"/>
            <a:lstStyle/>
            <a:p>
              <a:endParaRPr/>
            </a:p>
          </p:txBody>
        </p:sp>
        <p:sp>
          <p:nvSpPr>
            <p:cNvPr id="35" name="object 35"/>
            <p:cNvSpPr/>
            <p:nvPr/>
          </p:nvSpPr>
          <p:spPr>
            <a:xfrm>
              <a:off x="5901603" y="3754247"/>
              <a:ext cx="313055" cy="360045"/>
            </a:xfrm>
            <a:custGeom>
              <a:avLst/>
              <a:gdLst/>
              <a:ahLst/>
              <a:cxnLst/>
              <a:rect l="l" t="t" r="r" b="b"/>
              <a:pathLst>
                <a:path w="313054" h="360045">
                  <a:moveTo>
                    <a:pt x="155509" y="332428"/>
                  </a:moveTo>
                  <a:lnTo>
                    <a:pt x="105146" y="322292"/>
                  </a:lnTo>
                  <a:lnTo>
                    <a:pt x="64084" y="294626"/>
                  </a:lnTo>
                  <a:lnTo>
                    <a:pt x="36433" y="253541"/>
                  </a:lnTo>
                  <a:lnTo>
                    <a:pt x="26302" y="203150"/>
                  </a:lnTo>
                  <a:lnTo>
                    <a:pt x="36433" y="152759"/>
                  </a:lnTo>
                  <a:lnTo>
                    <a:pt x="64084" y="111675"/>
                  </a:lnTo>
                  <a:lnTo>
                    <a:pt x="105146" y="84008"/>
                  </a:lnTo>
                  <a:lnTo>
                    <a:pt x="155509" y="73873"/>
                  </a:lnTo>
                  <a:lnTo>
                    <a:pt x="205872" y="84009"/>
                  </a:lnTo>
                  <a:lnTo>
                    <a:pt x="246934" y="111675"/>
                  </a:lnTo>
                  <a:lnTo>
                    <a:pt x="274586" y="152760"/>
                  </a:lnTo>
                  <a:lnTo>
                    <a:pt x="284716" y="203151"/>
                  </a:lnTo>
                  <a:lnTo>
                    <a:pt x="274586" y="253542"/>
                  </a:lnTo>
                  <a:lnTo>
                    <a:pt x="246935" y="294626"/>
                  </a:lnTo>
                  <a:lnTo>
                    <a:pt x="205873" y="322293"/>
                  </a:lnTo>
                  <a:lnTo>
                    <a:pt x="155509" y="332428"/>
                  </a:lnTo>
                  <a:close/>
                </a:path>
                <a:path w="313054" h="360045">
                  <a:moveTo>
                    <a:pt x="264873" y="90494"/>
                  </a:moveTo>
                  <a:lnTo>
                    <a:pt x="278717" y="76643"/>
                  </a:lnTo>
                  <a:lnTo>
                    <a:pt x="283793" y="71102"/>
                  </a:lnTo>
                  <a:lnTo>
                    <a:pt x="283793" y="62792"/>
                  </a:lnTo>
                  <a:lnTo>
                    <a:pt x="278255" y="57251"/>
                  </a:lnTo>
                  <a:lnTo>
                    <a:pt x="273179" y="52172"/>
                  </a:lnTo>
                  <a:lnTo>
                    <a:pt x="264412" y="51711"/>
                  </a:lnTo>
                  <a:lnTo>
                    <a:pt x="258874" y="56789"/>
                  </a:lnTo>
                  <a:lnTo>
                    <a:pt x="243185" y="72949"/>
                  </a:lnTo>
                  <a:lnTo>
                    <a:pt x="226003" y="62936"/>
                  </a:lnTo>
                  <a:lnTo>
                    <a:pt x="207826" y="55174"/>
                  </a:lnTo>
                  <a:lnTo>
                    <a:pt x="188871" y="49835"/>
                  </a:lnTo>
                  <a:lnTo>
                    <a:pt x="169352" y="47094"/>
                  </a:lnTo>
                  <a:lnTo>
                    <a:pt x="169352" y="27702"/>
                  </a:lnTo>
                  <a:lnTo>
                    <a:pt x="210883" y="27702"/>
                  </a:lnTo>
                  <a:lnTo>
                    <a:pt x="210883" y="0"/>
                  </a:lnTo>
                  <a:lnTo>
                    <a:pt x="100134" y="0"/>
                  </a:lnTo>
                  <a:lnTo>
                    <a:pt x="100135" y="27702"/>
                  </a:lnTo>
                  <a:lnTo>
                    <a:pt x="141665" y="27702"/>
                  </a:lnTo>
                  <a:lnTo>
                    <a:pt x="141665" y="46632"/>
                  </a:lnTo>
                  <a:lnTo>
                    <a:pt x="99644" y="56280"/>
                  </a:lnTo>
                  <a:lnTo>
                    <a:pt x="62761" y="76388"/>
                  </a:lnTo>
                  <a:lnTo>
                    <a:pt x="32722" y="105339"/>
                  </a:lnTo>
                  <a:lnTo>
                    <a:pt x="11233" y="141514"/>
                  </a:lnTo>
                  <a:lnTo>
                    <a:pt x="0" y="183297"/>
                  </a:lnTo>
                  <a:lnTo>
                    <a:pt x="516" y="226568"/>
                  </a:lnTo>
                  <a:lnTo>
                    <a:pt x="12330" y="266958"/>
                  </a:lnTo>
                  <a:lnTo>
                    <a:pt x="34221" y="302473"/>
                  </a:lnTo>
                  <a:lnTo>
                    <a:pt x="64972" y="331117"/>
                  </a:lnTo>
                  <a:lnTo>
                    <a:pt x="103365" y="350897"/>
                  </a:lnTo>
                  <a:lnTo>
                    <a:pt x="145697" y="359551"/>
                  </a:lnTo>
                  <a:lnTo>
                    <a:pt x="187630" y="356637"/>
                  </a:lnTo>
                  <a:lnTo>
                    <a:pt x="226994" y="342885"/>
                  </a:lnTo>
                  <a:lnTo>
                    <a:pt x="261618" y="319028"/>
                  </a:lnTo>
                  <a:lnTo>
                    <a:pt x="289331" y="285796"/>
                  </a:lnTo>
                  <a:lnTo>
                    <a:pt x="306899" y="246292"/>
                  </a:lnTo>
                  <a:lnTo>
                    <a:pt x="312817" y="204683"/>
                  </a:lnTo>
                  <a:lnTo>
                    <a:pt x="307504" y="163296"/>
                  </a:lnTo>
                  <a:lnTo>
                    <a:pt x="291383" y="124457"/>
                  </a:lnTo>
                  <a:lnTo>
                    <a:pt x="264873" y="90494"/>
                  </a:lnTo>
                  <a:close/>
                </a:path>
              </a:pathLst>
            </a:custGeom>
            <a:ln w="5385">
              <a:solidFill>
                <a:srgbClr val="734A67"/>
              </a:solidFill>
            </a:ln>
          </p:spPr>
          <p:txBody>
            <a:bodyPr wrap="square" lIns="0" tIns="0" rIns="0" bIns="0" rtlCol="0"/>
            <a:lstStyle/>
            <a:p>
              <a:endParaRPr/>
            </a:p>
          </p:txBody>
        </p:sp>
        <p:sp>
          <p:nvSpPr>
            <p:cNvPr id="36" name="object 36"/>
            <p:cNvSpPr/>
            <p:nvPr/>
          </p:nvSpPr>
          <p:spPr>
            <a:xfrm>
              <a:off x="5832347" y="3709415"/>
              <a:ext cx="448309" cy="448309"/>
            </a:xfrm>
            <a:custGeom>
              <a:avLst/>
              <a:gdLst/>
              <a:ahLst/>
              <a:cxnLst/>
              <a:rect l="l" t="t" r="r" b="b"/>
              <a:pathLst>
                <a:path w="448310" h="448310">
                  <a:moveTo>
                    <a:pt x="0" y="448055"/>
                  </a:moveTo>
                  <a:lnTo>
                    <a:pt x="448055" y="448055"/>
                  </a:lnTo>
                  <a:lnTo>
                    <a:pt x="448055" y="0"/>
                  </a:lnTo>
                  <a:lnTo>
                    <a:pt x="0" y="0"/>
                  </a:lnTo>
                  <a:lnTo>
                    <a:pt x="0" y="448055"/>
                  </a:lnTo>
                  <a:close/>
                </a:path>
              </a:pathLst>
            </a:custGeom>
            <a:ln w="12700">
              <a:solidFill>
                <a:srgbClr val="FFFFFF"/>
              </a:solidFill>
            </a:ln>
          </p:spPr>
          <p:txBody>
            <a:bodyPr wrap="square" lIns="0" tIns="0" rIns="0" bIns="0" rtlCol="0"/>
            <a:lstStyle/>
            <a:p>
              <a:endParaRPr/>
            </a:p>
          </p:txBody>
        </p:sp>
      </p:grpSp>
      <p:sp>
        <p:nvSpPr>
          <p:cNvPr id="37" name="object 37"/>
          <p:cNvSpPr txBox="1"/>
          <p:nvPr/>
        </p:nvSpPr>
        <p:spPr>
          <a:xfrm>
            <a:off x="6596253" y="3789679"/>
            <a:ext cx="1275080" cy="269240"/>
          </a:xfrm>
          <a:prstGeom prst="rect">
            <a:avLst/>
          </a:prstGeom>
        </p:spPr>
        <p:txBody>
          <a:bodyPr vert="horz" wrap="square" lIns="0" tIns="12065" rIns="0" bIns="0" rtlCol="0">
            <a:spAutoFit/>
          </a:bodyPr>
          <a:lstStyle/>
          <a:p>
            <a:pPr marL="12700">
              <a:lnSpc>
                <a:spcPct val="100000"/>
              </a:lnSpc>
              <a:spcBef>
                <a:spcPts val="95"/>
              </a:spcBef>
            </a:pPr>
            <a:r>
              <a:rPr sz="1600" spc="-114" dirty="0">
                <a:latin typeface="Georgia"/>
                <a:cs typeface="Georgia"/>
              </a:rPr>
              <a:t>3-</a:t>
            </a:r>
            <a:r>
              <a:rPr sz="1600" spc="-55" dirty="0">
                <a:latin typeface="Georgia"/>
                <a:cs typeface="Georgia"/>
              </a:rPr>
              <a:t>minute</a:t>
            </a:r>
            <a:r>
              <a:rPr sz="1600" spc="15" dirty="0">
                <a:latin typeface="Georgia"/>
                <a:cs typeface="Georgia"/>
              </a:rPr>
              <a:t> </a:t>
            </a:r>
            <a:r>
              <a:rPr sz="1600" spc="-20" dirty="0">
                <a:latin typeface="Georgia"/>
                <a:cs typeface="Georgia"/>
              </a:rPr>
              <a:t>story</a:t>
            </a:r>
            <a:endParaRPr sz="1600">
              <a:latin typeface="Georgia"/>
              <a:cs typeface="Georgia"/>
            </a:endParaRPr>
          </a:p>
        </p:txBody>
      </p:sp>
      <p:grpSp>
        <p:nvGrpSpPr>
          <p:cNvPr id="38" name="object 38"/>
          <p:cNvGrpSpPr/>
          <p:nvPr/>
        </p:nvGrpSpPr>
        <p:grpSpPr>
          <a:xfrm>
            <a:off x="8747759" y="3547871"/>
            <a:ext cx="772795" cy="772795"/>
            <a:chOff x="8747759" y="3547871"/>
            <a:chExt cx="772795" cy="772795"/>
          </a:xfrm>
        </p:grpSpPr>
        <p:sp>
          <p:nvSpPr>
            <p:cNvPr id="39" name="object 39"/>
            <p:cNvSpPr/>
            <p:nvPr/>
          </p:nvSpPr>
          <p:spPr>
            <a:xfrm>
              <a:off x="8747759" y="3547871"/>
              <a:ext cx="772795" cy="772795"/>
            </a:xfrm>
            <a:custGeom>
              <a:avLst/>
              <a:gdLst/>
              <a:ahLst/>
              <a:cxnLst/>
              <a:rect l="l" t="t" r="r" b="b"/>
              <a:pathLst>
                <a:path w="772795" h="772795">
                  <a:moveTo>
                    <a:pt x="386334" y="0"/>
                  </a:moveTo>
                  <a:lnTo>
                    <a:pt x="337874" y="3010"/>
                  </a:lnTo>
                  <a:lnTo>
                    <a:pt x="291210" y="11799"/>
                  </a:lnTo>
                  <a:lnTo>
                    <a:pt x="246704" y="26005"/>
                  </a:lnTo>
                  <a:lnTo>
                    <a:pt x="204719" y="45266"/>
                  </a:lnTo>
                  <a:lnTo>
                    <a:pt x="165615" y="69219"/>
                  </a:lnTo>
                  <a:lnTo>
                    <a:pt x="129756" y="97504"/>
                  </a:lnTo>
                  <a:lnTo>
                    <a:pt x="97504" y="129756"/>
                  </a:lnTo>
                  <a:lnTo>
                    <a:pt x="69219" y="165615"/>
                  </a:lnTo>
                  <a:lnTo>
                    <a:pt x="45266" y="204719"/>
                  </a:lnTo>
                  <a:lnTo>
                    <a:pt x="26005" y="246704"/>
                  </a:lnTo>
                  <a:lnTo>
                    <a:pt x="11799" y="291210"/>
                  </a:lnTo>
                  <a:lnTo>
                    <a:pt x="3010" y="337874"/>
                  </a:lnTo>
                  <a:lnTo>
                    <a:pt x="0" y="386333"/>
                  </a:lnTo>
                  <a:lnTo>
                    <a:pt x="3010" y="434793"/>
                  </a:lnTo>
                  <a:lnTo>
                    <a:pt x="11799" y="481457"/>
                  </a:lnTo>
                  <a:lnTo>
                    <a:pt x="26005" y="525963"/>
                  </a:lnTo>
                  <a:lnTo>
                    <a:pt x="45266" y="567948"/>
                  </a:lnTo>
                  <a:lnTo>
                    <a:pt x="69219" y="607052"/>
                  </a:lnTo>
                  <a:lnTo>
                    <a:pt x="97504" y="642911"/>
                  </a:lnTo>
                  <a:lnTo>
                    <a:pt x="129756" y="675163"/>
                  </a:lnTo>
                  <a:lnTo>
                    <a:pt x="165615" y="703448"/>
                  </a:lnTo>
                  <a:lnTo>
                    <a:pt x="204719" y="727401"/>
                  </a:lnTo>
                  <a:lnTo>
                    <a:pt x="246704" y="746662"/>
                  </a:lnTo>
                  <a:lnTo>
                    <a:pt x="291210" y="760868"/>
                  </a:lnTo>
                  <a:lnTo>
                    <a:pt x="337874" y="769657"/>
                  </a:lnTo>
                  <a:lnTo>
                    <a:pt x="386334" y="772667"/>
                  </a:lnTo>
                  <a:lnTo>
                    <a:pt x="434793" y="769657"/>
                  </a:lnTo>
                  <a:lnTo>
                    <a:pt x="481457" y="760868"/>
                  </a:lnTo>
                  <a:lnTo>
                    <a:pt x="525963" y="746662"/>
                  </a:lnTo>
                  <a:lnTo>
                    <a:pt x="567948" y="727401"/>
                  </a:lnTo>
                  <a:lnTo>
                    <a:pt x="607052" y="703448"/>
                  </a:lnTo>
                  <a:lnTo>
                    <a:pt x="642911" y="675163"/>
                  </a:lnTo>
                  <a:lnTo>
                    <a:pt x="675163" y="642911"/>
                  </a:lnTo>
                  <a:lnTo>
                    <a:pt x="703448" y="607052"/>
                  </a:lnTo>
                  <a:lnTo>
                    <a:pt x="727401" y="567948"/>
                  </a:lnTo>
                  <a:lnTo>
                    <a:pt x="746662" y="525963"/>
                  </a:lnTo>
                  <a:lnTo>
                    <a:pt x="760868" y="481457"/>
                  </a:lnTo>
                  <a:lnTo>
                    <a:pt x="769657" y="434793"/>
                  </a:lnTo>
                  <a:lnTo>
                    <a:pt x="772668" y="386333"/>
                  </a:lnTo>
                  <a:lnTo>
                    <a:pt x="769657" y="337874"/>
                  </a:lnTo>
                  <a:lnTo>
                    <a:pt x="760868" y="291210"/>
                  </a:lnTo>
                  <a:lnTo>
                    <a:pt x="746662" y="246704"/>
                  </a:lnTo>
                  <a:lnTo>
                    <a:pt x="727401" y="204719"/>
                  </a:lnTo>
                  <a:lnTo>
                    <a:pt x="703448" y="165615"/>
                  </a:lnTo>
                  <a:lnTo>
                    <a:pt x="675163" y="129756"/>
                  </a:lnTo>
                  <a:lnTo>
                    <a:pt x="642911" y="97504"/>
                  </a:lnTo>
                  <a:lnTo>
                    <a:pt x="607052" y="69219"/>
                  </a:lnTo>
                  <a:lnTo>
                    <a:pt x="567948" y="45266"/>
                  </a:lnTo>
                  <a:lnTo>
                    <a:pt x="525963" y="26005"/>
                  </a:lnTo>
                  <a:lnTo>
                    <a:pt x="481457" y="11799"/>
                  </a:lnTo>
                  <a:lnTo>
                    <a:pt x="434793" y="3010"/>
                  </a:lnTo>
                  <a:lnTo>
                    <a:pt x="386334" y="0"/>
                  </a:lnTo>
                  <a:close/>
                </a:path>
              </a:pathLst>
            </a:custGeom>
            <a:solidFill>
              <a:srgbClr val="D4D0D2"/>
            </a:solidFill>
          </p:spPr>
          <p:txBody>
            <a:bodyPr wrap="square" lIns="0" tIns="0" rIns="0" bIns="0" rtlCol="0"/>
            <a:lstStyle/>
            <a:p>
              <a:endParaRPr/>
            </a:p>
          </p:txBody>
        </p:sp>
        <p:pic>
          <p:nvPicPr>
            <p:cNvPr id="40" name="object 40"/>
            <p:cNvPicPr/>
            <p:nvPr/>
          </p:nvPicPr>
          <p:blipFill>
            <a:blip r:embed="rId4" cstate="print"/>
            <a:stretch>
              <a:fillRect/>
            </a:stretch>
          </p:blipFill>
          <p:spPr>
            <a:xfrm>
              <a:off x="9015615" y="3740396"/>
              <a:ext cx="239955" cy="390526"/>
            </a:xfrm>
            <a:prstGeom prst="rect">
              <a:avLst/>
            </a:prstGeom>
          </p:spPr>
        </p:pic>
        <p:sp>
          <p:nvSpPr>
            <p:cNvPr id="41" name="object 41"/>
            <p:cNvSpPr/>
            <p:nvPr/>
          </p:nvSpPr>
          <p:spPr>
            <a:xfrm>
              <a:off x="9015615" y="3740396"/>
              <a:ext cx="240029" cy="249554"/>
            </a:xfrm>
            <a:custGeom>
              <a:avLst/>
              <a:gdLst/>
              <a:ahLst/>
              <a:cxnLst/>
              <a:rect l="l" t="t" r="r" b="b"/>
              <a:pathLst>
                <a:path w="240029" h="249554">
                  <a:moveTo>
                    <a:pt x="119977" y="0"/>
                  </a:moveTo>
                  <a:lnTo>
                    <a:pt x="73781" y="9515"/>
                  </a:lnTo>
                  <a:lnTo>
                    <a:pt x="35935" y="34916"/>
                  </a:lnTo>
                  <a:lnTo>
                    <a:pt x="10115" y="72523"/>
                  </a:lnTo>
                  <a:lnTo>
                    <a:pt x="0" y="118658"/>
                  </a:lnTo>
                  <a:lnTo>
                    <a:pt x="0" y="122813"/>
                  </a:lnTo>
                  <a:lnTo>
                    <a:pt x="8306" y="164367"/>
                  </a:lnTo>
                  <a:lnTo>
                    <a:pt x="29071" y="198533"/>
                  </a:lnTo>
                  <a:lnTo>
                    <a:pt x="37428" y="209311"/>
                  </a:lnTo>
                  <a:lnTo>
                    <a:pt x="45395" y="222080"/>
                  </a:lnTo>
                  <a:lnTo>
                    <a:pt x="52238" y="234503"/>
                  </a:lnTo>
                  <a:lnTo>
                    <a:pt x="57220" y="244242"/>
                  </a:lnTo>
                  <a:lnTo>
                    <a:pt x="58604" y="247474"/>
                  </a:lnTo>
                  <a:lnTo>
                    <a:pt x="61834" y="249321"/>
                  </a:lnTo>
                  <a:lnTo>
                    <a:pt x="65526" y="249321"/>
                  </a:lnTo>
                  <a:lnTo>
                    <a:pt x="174429" y="249321"/>
                  </a:lnTo>
                  <a:lnTo>
                    <a:pt x="178121" y="249321"/>
                  </a:lnTo>
                  <a:lnTo>
                    <a:pt x="181351" y="247474"/>
                  </a:lnTo>
                  <a:lnTo>
                    <a:pt x="202527" y="209311"/>
                  </a:lnTo>
                  <a:lnTo>
                    <a:pt x="217178" y="190663"/>
                  </a:lnTo>
                  <a:lnTo>
                    <a:pt x="222824" y="182316"/>
                  </a:lnTo>
                  <a:lnTo>
                    <a:pt x="237532" y="143937"/>
                  </a:lnTo>
                  <a:lnTo>
                    <a:pt x="239955" y="122814"/>
                  </a:lnTo>
                  <a:lnTo>
                    <a:pt x="239955" y="118658"/>
                  </a:lnTo>
                  <a:lnTo>
                    <a:pt x="229839" y="72524"/>
                  </a:lnTo>
                  <a:lnTo>
                    <a:pt x="204019" y="34916"/>
                  </a:lnTo>
                  <a:lnTo>
                    <a:pt x="166173" y="9515"/>
                  </a:lnTo>
                  <a:lnTo>
                    <a:pt x="119977" y="0"/>
                  </a:lnTo>
                  <a:close/>
                </a:path>
              </a:pathLst>
            </a:custGeom>
            <a:ln w="5385">
              <a:solidFill>
                <a:srgbClr val="734A67"/>
              </a:solidFill>
            </a:ln>
          </p:spPr>
          <p:txBody>
            <a:bodyPr wrap="square" lIns="0" tIns="0" rIns="0" bIns="0" rtlCol="0"/>
            <a:lstStyle/>
            <a:p>
              <a:endParaRPr/>
            </a:p>
          </p:txBody>
        </p:sp>
        <p:pic>
          <p:nvPicPr>
            <p:cNvPr id="42" name="object 42"/>
            <p:cNvPicPr/>
            <p:nvPr/>
          </p:nvPicPr>
          <p:blipFill>
            <a:blip r:embed="rId5" cstate="print"/>
            <a:stretch>
              <a:fillRect/>
            </a:stretch>
          </p:blipFill>
          <p:spPr>
            <a:xfrm>
              <a:off x="9041071" y="3764944"/>
              <a:ext cx="189966" cy="199763"/>
            </a:xfrm>
            <a:prstGeom prst="rect">
              <a:avLst/>
            </a:prstGeom>
          </p:spPr>
        </p:pic>
      </p:grpSp>
      <p:sp>
        <p:nvSpPr>
          <p:cNvPr id="43" name="object 43"/>
          <p:cNvSpPr/>
          <p:nvPr/>
        </p:nvSpPr>
        <p:spPr>
          <a:xfrm>
            <a:off x="8910828" y="3709415"/>
            <a:ext cx="448309" cy="448309"/>
          </a:xfrm>
          <a:custGeom>
            <a:avLst/>
            <a:gdLst/>
            <a:ahLst/>
            <a:cxnLst/>
            <a:rect l="l" t="t" r="r" b="b"/>
            <a:pathLst>
              <a:path w="448309" h="448310">
                <a:moveTo>
                  <a:pt x="0" y="448055"/>
                </a:moveTo>
                <a:lnTo>
                  <a:pt x="448055" y="448055"/>
                </a:lnTo>
                <a:lnTo>
                  <a:pt x="448055" y="0"/>
                </a:lnTo>
                <a:lnTo>
                  <a:pt x="0" y="0"/>
                </a:lnTo>
                <a:lnTo>
                  <a:pt x="0" y="448055"/>
                </a:lnTo>
                <a:close/>
              </a:path>
            </a:pathLst>
          </a:custGeom>
          <a:ln w="12700">
            <a:solidFill>
              <a:srgbClr val="FFFFFF"/>
            </a:solidFill>
          </a:ln>
        </p:spPr>
        <p:txBody>
          <a:bodyPr wrap="square" lIns="0" tIns="0" rIns="0" bIns="0" rtlCol="0"/>
          <a:lstStyle/>
          <a:p>
            <a:endParaRPr/>
          </a:p>
        </p:txBody>
      </p:sp>
      <p:sp>
        <p:nvSpPr>
          <p:cNvPr id="44" name="object 44"/>
          <p:cNvSpPr txBox="1"/>
          <p:nvPr/>
        </p:nvSpPr>
        <p:spPr>
          <a:xfrm>
            <a:off x="9675368" y="3789679"/>
            <a:ext cx="1131570" cy="269240"/>
          </a:xfrm>
          <a:prstGeom prst="rect">
            <a:avLst/>
          </a:prstGeom>
        </p:spPr>
        <p:txBody>
          <a:bodyPr vert="horz" wrap="square" lIns="0" tIns="12065" rIns="0" bIns="0" rtlCol="0">
            <a:spAutoFit/>
          </a:bodyPr>
          <a:lstStyle/>
          <a:p>
            <a:pPr marL="12700">
              <a:lnSpc>
                <a:spcPct val="100000"/>
              </a:lnSpc>
              <a:spcBef>
                <a:spcPts val="95"/>
              </a:spcBef>
            </a:pPr>
            <a:r>
              <a:rPr sz="1600" dirty="0">
                <a:latin typeface="Georgia"/>
                <a:cs typeface="Georgia"/>
              </a:rPr>
              <a:t>The</a:t>
            </a:r>
            <a:r>
              <a:rPr sz="1600" spc="-55" dirty="0">
                <a:latin typeface="Georgia"/>
                <a:cs typeface="Georgia"/>
              </a:rPr>
              <a:t> </a:t>
            </a:r>
            <a:r>
              <a:rPr sz="1600" dirty="0">
                <a:latin typeface="Georgia"/>
                <a:cs typeface="Georgia"/>
              </a:rPr>
              <a:t>Big</a:t>
            </a:r>
            <a:r>
              <a:rPr sz="1600" spc="-50" dirty="0">
                <a:latin typeface="Georgia"/>
                <a:cs typeface="Georgia"/>
              </a:rPr>
              <a:t> </a:t>
            </a:r>
            <a:r>
              <a:rPr sz="1600" spc="-30" dirty="0">
                <a:latin typeface="Georgia"/>
                <a:cs typeface="Georgia"/>
              </a:rPr>
              <a:t>Idea</a:t>
            </a:r>
            <a:endParaRPr sz="1600">
              <a:latin typeface="Georgia"/>
              <a:cs typeface="Georgia"/>
            </a:endParaRPr>
          </a:p>
        </p:txBody>
      </p:sp>
      <p:sp>
        <p:nvSpPr>
          <p:cNvPr id="45" name="object 45"/>
          <p:cNvSpPr/>
          <p:nvPr/>
        </p:nvSpPr>
        <p:spPr>
          <a:xfrm>
            <a:off x="5669279" y="4962144"/>
            <a:ext cx="772795" cy="772795"/>
          </a:xfrm>
          <a:custGeom>
            <a:avLst/>
            <a:gdLst/>
            <a:ahLst/>
            <a:cxnLst/>
            <a:rect l="l" t="t" r="r" b="b"/>
            <a:pathLst>
              <a:path w="772795" h="772795">
                <a:moveTo>
                  <a:pt x="386334" y="0"/>
                </a:moveTo>
                <a:lnTo>
                  <a:pt x="337874" y="3010"/>
                </a:lnTo>
                <a:lnTo>
                  <a:pt x="291210" y="11799"/>
                </a:lnTo>
                <a:lnTo>
                  <a:pt x="246704" y="26005"/>
                </a:lnTo>
                <a:lnTo>
                  <a:pt x="204719" y="45266"/>
                </a:lnTo>
                <a:lnTo>
                  <a:pt x="165615" y="69219"/>
                </a:lnTo>
                <a:lnTo>
                  <a:pt x="129756" y="97504"/>
                </a:lnTo>
                <a:lnTo>
                  <a:pt x="97504" y="129756"/>
                </a:lnTo>
                <a:lnTo>
                  <a:pt x="69219" y="165615"/>
                </a:lnTo>
                <a:lnTo>
                  <a:pt x="45266" y="204719"/>
                </a:lnTo>
                <a:lnTo>
                  <a:pt x="26005" y="246704"/>
                </a:lnTo>
                <a:lnTo>
                  <a:pt x="11799" y="291210"/>
                </a:lnTo>
                <a:lnTo>
                  <a:pt x="3010" y="337874"/>
                </a:lnTo>
                <a:lnTo>
                  <a:pt x="0" y="386333"/>
                </a:lnTo>
                <a:lnTo>
                  <a:pt x="3010" y="434793"/>
                </a:lnTo>
                <a:lnTo>
                  <a:pt x="11799" y="481457"/>
                </a:lnTo>
                <a:lnTo>
                  <a:pt x="26005" y="525963"/>
                </a:lnTo>
                <a:lnTo>
                  <a:pt x="45266" y="567948"/>
                </a:lnTo>
                <a:lnTo>
                  <a:pt x="69219" y="607052"/>
                </a:lnTo>
                <a:lnTo>
                  <a:pt x="97504" y="642911"/>
                </a:lnTo>
                <a:lnTo>
                  <a:pt x="129756" y="675163"/>
                </a:lnTo>
                <a:lnTo>
                  <a:pt x="165615" y="703448"/>
                </a:lnTo>
                <a:lnTo>
                  <a:pt x="204719" y="727401"/>
                </a:lnTo>
                <a:lnTo>
                  <a:pt x="246704" y="746662"/>
                </a:lnTo>
                <a:lnTo>
                  <a:pt x="291210" y="760868"/>
                </a:lnTo>
                <a:lnTo>
                  <a:pt x="337874" y="769657"/>
                </a:lnTo>
                <a:lnTo>
                  <a:pt x="386334" y="772667"/>
                </a:lnTo>
                <a:lnTo>
                  <a:pt x="434793" y="769657"/>
                </a:lnTo>
                <a:lnTo>
                  <a:pt x="481457" y="760868"/>
                </a:lnTo>
                <a:lnTo>
                  <a:pt x="525963" y="746662"/>
                </a:lnTo>
                <a:lnTo>
                  <a:pt x="567948" y="727401"/>
                </a:lnTo>
                <a:lnTo>
                  <a:pt x="607052" y="703448"/>
                </a:lnTo>
                <a:lnTo>
                  <a:pt x="642911" y="675163"/>
                </a:lnTo>
                <a:lnTo>
                  <a:pt x="675163" y="642911"/>
                </a:lnTo>
                <a:lnTo>
                  <a:pt x="703448" y="607052"/>
                </a:lnTo>
                <a:lnTo>
                  <a:pt x="727401" y="567948"/>
                </a:lnTo>
                <a:lnTo>
                  <a:pt x="746662" y="525963"/>
                </a:lnTo>
                <a:lnTo>
                  <a:pt x="760868" y="481457"/>
                </a:lnTo>
                <a:lnTo>
                  <a:pt x="769657" y="434793"/>
                </a:lnTo>
                <a:lnTo>
                  <a:pt x="772668" y="386333"/>
                </a:lnTo>
                <a:lnTo>
                  <a:pt x="769657" y="337874"/>
                </a:lnTo>
                <a:lnTo>
                  <a:pt x="760868" y="291210"/>
                </a:lnTo>
                <a:lnTo>
                  <a:pt x="746662" y="246704"/>
                </a:lnTo>
                <a:lnTo>
                  <a:pt x="727401" y="204719"/>
                </a:lnTo>
                <a:lnTo>
                  <a:pt x="703448" y="165615"/>
                </a:lnTo>
                <a:lnTo>
                  <a:pt x="675163" y="129756"/>
                </a:lnTo>
                <a:lnTo>
                  <a:pt x="642911" y="97504"/>
                </a:lnTo>
                <a:lnTo>
                  <a:pt x="607052" y="69219"/>
                </a:lnTo>
                <a:lnTo>
                  <a:pt x="567948" y="45266"/>
                </a:lnTo>
                <a:lnTo>
                  <a:pt x="525963" y="26005"/>
                </a:lnTo>
                <a:lnTo>
                  <a:pt x="481457" y="11799"/>
                </a:lnTo>
                <a:lnTo>
                  <a:pt x="434793" y="3010"/>
                </a:lnTo>
                <a:lnTo>
                  <a:pt x="386334" y="0"/>
                </a:lnTo>
                <a:close/>
              </a:path>
            </a:pathLst>
          </a:custGeom>
          <a:solidFill>
            <a:srgbClr val="D4D0D2"/>
          </a:solidFill>
        </p:spPr>
        <p:txBody>
          <a:bodyPr wrap="square" lIns="0" tIns="0" rIns="0" bIns="0" rtlCol="0"/>
          <a:lstStyle/>
          <a:p>
            <a:endParaRPr/>
          </a:p>
        </p:txBody>
      </p:sp>
      <p:grpSp>
        <p:nvGrpSpPr>
          <p:cNvPr id="46" name="object 46"/>
          <p:cNvGrpSpPr/>
          <p:nvPr/>
        </p:nvGrpSpPr>
        <p:grpSpPr>
          <a:xfrm>
            <a:off x="5825997" y="5118861"/>
            <a:ext cx="461009" cy="461009"/>
            <a:chOff x="5825997" y="5118861"/>
            <a:chExt cx="461009" cy="461009"/>
          </a:xfrm>
        </p:grpSpPr>
        <p:sp>
          <p:nvSpPr>
            <p:cNvPr id="47" name="object 47"/>
            <p:cNvSpPr/>
            <p:nvPr/>
          </p:nvSpPr>
          <p:spPr>
            <a:xfrm>
              <a:off x="5860534" y="5166812"/>
              <a:ext cx="393700" cy="367665"/>
            </a:xfrm>
            <a:custGeom>
              <a:avLst/>
              <a:gdLst/>
              <a:ahLst/>
              <a:cxnLst/>
              <a:rect l="l" t="t" r="r" b="b"/>
              <a:pathLst>
                <a:path w="393700" h="367664">
                  <a:moveTo>
                    <a:pt x="230726" y="0"/>
                  </a:moveTo>
                  <a:lnTo>
                    <a:pt x="33224" y="69255"/>
                  </a:lnTo>
                  <a:lnTo>
                    <a:pt x="14211" y="108537"/>
                  </a:lnTo>
                  <a:lnTo>
                    <a:pt x="13843" y="131586"/>
                  </a:lnTo>
                  <a:lnTo>
                    <a:pt x="14766" y="138511"/>
                  </a:lnTo>
                  <a:lnTo>
                    <a:pt x="16150" y="144975"/>
                  </a:lnTo>
                  <a:lnTo>
                    <a:pt x="7008" y="154837"/>
                  </a:lnTo>
                  <a:lnTo>
                    <a:pt x="2191" y="168118"/>
                  </a:lnTo>
                  <a:lnTo>
                    <a:pt x="317" y="183218"/>
                  </a:lnTo>
                  <a:lnTo>
                    <a:pt x="0" y="198533"/>
                  </a:lnTo>
                  <a:lnTo>
                    <a:pt x="735" y="210329"/>
                  </a:lnTo>
                  <a:lnTo>
                    <a:pt x="3114" y="221215"/>
                  </a:lnTo>
                  <a:lnTo>
                    <a:pt x="7397" y="230802"/>
                  </a:lnTo>
                  <a:lnTo>
                    <a:pt x="13843" y="238702"/>
                  </a:lnTo>
                  <a:lnTo>
                    <a:pt x="12726" y="244935"/>
                  </a:lnTo>
                  <a:lnTo>
                    <a:pt x="12516" y="251860"/>
                  </a:lnTo>
                  <a:lnTo>
                    <a:pt x="12740" y="259479"/>
                  </a:lnTo>
                  <a:lnTo>
                    <a:pt x="12920" y="267789"/>
                  </a:lnTo>
                  <a:lnTo>
                    <a:pt x="25380" y="306941"/>
                  </a:lnTo>
                  <a:lnTo>
                    <a:pt x="165200" y="367056"/>
                  </a:lnTo>
                  <a:lnTo>
                    <a:pt x="237539" y="337045"/>
                  </a:lnTo>
                  <a:lnTo>
                    <a:pt x="166123" y="337045"/>
                  </a:lnTo>
                  <a:lnTo>
                    <a:pt x="37377" y="286258"/>
                  </a:lnTo>
                  <a:lnTo>
                    <a:pt x="37377" y="250245"/>
                  </a:lnTo>
                  <a:lnTo>
                    <a:pt x="108886" y="250245"/>
                  </a:lnTo>
                  <a:lnTo>
                    <a:pt x="24918" y="217002"/>
                  </a:lnTo>
                  <a:lnTo>
                    <a:pt x="24918" y="175448"/>
                  </a:lnTo>
                  <a:lnTo>
                    <a:pt x="120397" y="175448"/>
                  </a:lnTo>
                  <a:lnTo>
                    <a:pt x="38761" y="143129"/>
                  </a:lnTo>
                  <a:lnTo>
                    <a:pt x="38761" y="101575"/>
                  </a:lnTo>
                  <a:lnTo>
                    <a:pt x="291698" y="101575"/>
                  </a:lnTo>
                  <a:lnTo>
                    <a:pt x="351165" y="77566"/>
                  </a:lnTo>
                  <a:lnTo>
                    <a:pt x="369162" y="77566"/>
                  </a:lnTo>
                  <a:lnTo>
                    <a:pt x="369162" y="70179"/>
                  </a:lnTo>
                  <a:lnTo>
                    <a:pt x="393157" y="60021"/>
                  </a:lnTo>
                  <a:lnTo>
                    <a:pt x="230726" y="0"/>
                  </a:lnTo>
                  <a:close/>
                </a:path>
                <a:path w="393700" h="367664">
                  <a:moveTo>
                    <a:pt x="368239" y="218849"/>
                  </a:moveTo>
                  <a:lnTo>
                    <a:pt x="350704" y="218849"/>
                  </a:lnTo>
                  <a:lnTo>
                    <a:pt x="350242" y="260864"/>
                  </a:lnTo>
                  <a:lnTo>
                    <a:pt x="166123" y="337045"/>
                  </a:lnTo>
                  <a:lnTo>
                    <a:pt x="237539" y="337045"/>
                  </a:lnTo>
                  <a:lnTo>
                    <a:pt x="392235" y="272868"/>
                  </a:lnTo>
                  <a:lnTo>
                    <a:pt x="368239" y="264096"/>
                  </a:lnTo>
                  <a:lnTo>
                    <a:pt x="368239" y="218849"/>
                  </a:lnTo>
                  <a:close/>
                </a:path>
                <a:path w="393700" h="367664">
                  <a:moveTo>
                    <a:pt x="108886" y="250245"/>
                  </a:moveTo>
                  <a:lnTo>
                    <a:pt x="37377" y="250245"/>
                  </a:lnTo>
                  <a:lnTo>
                    <a:pt x="152279" y="297339"/>
                  </a:lnTo>
                  <a:lnTo>
                    <a:pt x="226980" y="267789"/>
                  </a:lnTo>
                  <a:lnTo>
                    <a:pt x="153202" y="267789"/>
                  </a:lnTo>
                  <a:lnTo>
                    <a:pt x="108886" y="250245"/>
                  </a:lnTo>
                  <a:close/>
                </a:path>
                <a:path w="393700" h="367664">
                  <a:moveTo>
                    <a:pt x="355318" y="152363"/>
                  </a:moveTo>
                  <a:lnTo>
                    <a:pt x="337783" y="152363"/>
                  </a:lnTo>
                  <a:lnTo>
                    <a:pt x="337783" y="191608"/>
                  </a:lnTo>
                  <a:lnTo>
                    <a:pt x="337322" y="191608"/>
                  </a:lnTo>
                  <a:lnTo>
                    <a:pt x="153202" y="267789"/>
                  </a:lnTo>
                  <a:lnTo>
                    <a:pt x="226980" y="267789"/>
                  </a:lnTo>
                  <a:lnTo>
                    <a:pt x="350704" y="218849"/>
                  </a:lnTo>
                  <a:lnTo>
                    <a:pt x="368239" y="218849"/>
                  </a:lnTo>
                  <a:lnTo>
                    <a:pt x="368239" y="213308"/>
                  </a:lnTo>
                  <a:lnTo>
                    <a:pt x="392234" y="203151"/>
                  </a:lnTo>
                  <a:lnTo>
                    <a:pt x="355318" y="189299"/>
                  </a:lnTo>
                  <a:lnTo>
                    <a:pt x="355318" y="152363"/>
                  </a:lnTo>
                  <a:close/>
                </a:path>
                <a:path w="393700" h="367664">
                  <a:moveTo>
                    <a:pt x="120397" y="175448"/>
                  </a:moveTo>
                  <a:lnTo>
                    <a:pt x="24918" y="175448"/>
                  </a:lnTo>
                  <a:lnTo>
                    <a:pt x="156894" y="228083"/>
                  </a:lnTo>
                  <a:lnTo>
                    <a:pt x="238514" y="193916"/>
                  </a:lnTo>
                  <a:lnTo>
                    <a:pt x="167045" y="193916"/>
                  </a:lnTo>
                  <a:lnTo>
                    <a:pt x="120397" y="175448"/>
                  </a:lnTo>
                  <a:close/>
                </a:path>
                <a:path w="393700" h="367664">
                  <a:moveTo>
                    <a:pt x="369162" y="77566"/>
                  </a:moveTo>
                  <a:lnTo>
                    <a:pt x="351165" y="77566"/>
                  </a:lnTo>
                  <a:lnTo>
                    <a:pt x="351165" y="117273"/>
                  </a:lnTo>
                  <a:lnTo>
                    <a:pt x="167045" y="193916"/>
                  </a:lnTo>
                  <a:lnTo>
                    <a:pt x="238514" y="193916"/>
                  </a:lnTo>
                  <a:lnTo>
                    <a:pt x="337783" y="152363"/>
                  </a:lnTo>
                  <a:lnTo>
                    <a:pt x="355318" y="152363"/>
                  </a:lnTo>
                  <a:lnTo>
                    <a:pt x="355318" y="144975"/>
                  </a:lnTo>
                  <a:lnTo>
                    <a:pt x="393157" y="129277"/>
                  </a:lnTo>
                  <a:lnTo>
                    <a:pt x="369162" y="120505"/>
                  </a:lnTo>
                  <a:lnTo>
                    <a:pt x="369162" y="77566"/>
                  </a:lnTo>
                  <a:close/>
                </a:path>
                <a:path w="393700" h="367664">
                  <a:moveTo>
                    <a:pt x="291698" y="101575"/>
                  </a:moveTo>
                  <a:lnTo>
                    <a:pt x="38761" y="101575"/>
                  </a:lnTo>
                  <a:lnTo>
                    <a:pt x="167045" y="151901"/>
                  </a:lnTo>
                  <a:lnTo>
                    <a:pt x="291698" y="101575"/>
                  </a:lnTo>
                  <a:close/>
                </a:path>
              </a:pathLst>
            </a:custGeom>
            <a:solidFill>
              <a:srgbClr val="734A67"/>
            </a:solidFill>
          </p:spPr>
          <p:txBody>
            <a:bodyPr wrap="square" lIns="0" tIns="0" rIns="0" bIns="0" rtlCol="0"/>
            <a:lstStyle/>
            <a:p>
              <a:endParaRPr/>
            </a:p>
          </p:txBody>
        </p:sp>
        <p:sp>
          <p:nvSpPr>
            <p:cNvPr id="48" name="object 48"/>
            <p:cNvSpPr/>
            <p:nvPr/>
          </p:nvSpPr>
          <p:spPr>
            <a:xfrm>
              <a:off x="5860534" y="5166812"/>
              <a:ext cx="393700" cy="367665"/>
            </a:xfrm>
            <a:custGeom>
              <a:avLst/>
              <a:gdLst/>
              <a:ahLst/>
              <a:cxnLst/>
              <a:rect l="l" t="t" r="r" b="b"/>
              <a:pathLst>
                <a:path w="393700" h="367664">
                  <a:moveTo>
                    <a:pt x="393157" y="129277"/>
                  </a:moveTo>
                  <a:lnTo>
                    <a:pt x="369162" y="120505"/>
                  </a:lnTo>
                  <a:lnTo>
                    <a:pt x="369162" y="70179"/>
                  </a:lnTo>
                  <a:lnTo>
                    <a:pt x="393157" y="60021"/>
                  </a:lnTo>
                  <a:lnTo>
                    <a:pt x="230726" y="0"/>
                  </a:lnTo>
                  <a:lnTo>
                    <a:pt x="33224" y="69255"/>
                  </a:lnTo>
                  <a:lnTo>
                    <a:pt x="14211" y="108537"/>
                  </a:lnTo>
                  <a:lnTo>
                    <a:pt x="13843" y="124660"/>
                  </a:lnTo>
                  <a:lnTo>
                    <a:pt x="13843" y="131586"/>
                  </a:lnTo>
                  <a:lnTo>
                    <a:pt x="14766" y="138511"/>
                  </a:lnTo>
                  <a:lnTo>
                    <a:pt x="16150" y="144975"/>
                  </a:lnTo>
                  <a:lnTo>
                    <a:pt x="7008" y="154837"/>
                  </a:lnTo>
                  <a:lnTo>
                    <a:pt x="2191" y="168118"/>
                  </a:lnTo>
                  <a:lnTo>
                    <a:pt x="317" y="183218"/>
                  </a:lnTo>
                  <a:lnTo>
                    <a:pt x="0" y="198533"/>
                  </a:lnTo>
                  <a:lnTo>
                    <a:pt x="735" y="210329"/>
                  </a:lnTo>
                  <a:lnTo>
                    <a:pt x="3114" y="221215"/>
                  </a:lnTo>
                  <a:lnTo>
                    <a:pt x="7397" y="230802"/>
                  </a:lnTo>
                  <a:lnTo>
                    <a:pt x="13843" y="238702"/>
                  </a:lnTo>
                  <a:lnTo>
                    <a:pt x="12726" y="244935"/>
                  </a:lnTo>
                  <a:lnTo>
                    <a:pt x="12516" y="251861"/>
                  </a:lnTo>
                  <a:lnTo>
                    <a:pt x="12740" y="259479"/>
                  </a:lnTo>
                  <a:lnTo>
                    <a:pt x="12920" y="267789"/>
                  </a:lnTo>
                  <a:lnTo>
                    <a:pt x="25380" y="306941"/>
                  </a:lnTo>
                  <a:lnTo>
                    <a:pt x="165200" y="367056"/>
                  </a:lnTo>
                  <a:lnTo>
                    <a:pt x="392235" y="272868"/>
                  </a:lnTo>
                  <a:lnTo>
                    <a:pt x="368239" y="264096"/>
                  </a:lnTo>
                  <a:lnTo>
                    <a:pt x="368239" y="213308"/>
                  </a:lnTo>
                  <a:lnTo>
                    <a:pt x="392234" y="203151"/>
                  </a:lnTo>
                  <a:lnTo>
                    <a:pt x="355318" y="189299"/>
                  </a:lnTo>
                  <a:lnTo>
                    <a:pt x="355318" y="144975"/>
                  </a:lnTo>
                  <a:lnTo>
                    <a:pt x="393157" y="129277"/>
                  </a:lnTo>
                  <a:close/>
                </a:path>
                <a:path w="393700" h="367664">
                  <a:moveTo>
                    <a:pt x="38761" y="101575"/>
                  </a:moveTo>
                  <a:lnTo>
                    <a:pt x="167045" y="151901"/>
                  </a:lnTo>
                  <a:lnTo>
                    <a:pt x="351165" y="77566"/>
                  </a:lnTo>
                  <a:lnTo>
                    <a:pt x="351165" y="117273"/>
                  </a:lnTo>
                  <a:lnTo>
                    <a:pt x="167045" y="193916"/>
                  </a:lnTo>
                  <a:lnTo>
                    <a:pt x="38761" y="143129"/>
                  </a:lnTo>
                  <a:lnTo>
                    <a:pt x="38761" y="101575"/>
                  </a:lnTo>
                  <a:close/>
                </a:path>
                <a:path w="393700" h="367664">
                  <a:moveTo>
                    <a:pt x="350242" y="260864"/>
                  </a:moveTo>
                  <a:lnTo>
                    <a:pt x="166123" y="337045"/>
                  </a:lnTo>
                  <a:lnTo>
                    <a:pt x="37377" y="286258"/>
                  </a:lnTo>
                  <a:lnTo>
                    <a:pt x="37377" y="250245"/>
                  </a:lnTo>
                  <a:lnTo>
                    <a:pt x="152279" y="297339"/>
                  </a:lnTo>
                  <a:lnTo>
                    <a:pt x="350704" y="218849"/>
                  </a:lnTo>
                  <a:lnTo>
                    <a:pt x="350242" y="260864"/>
                  </a:lnTo>
                  <a:close/>
                </a:path>
                <a:path w="393700" h="367664">
                  <a:moveTo>
                    <a:pt x="337322" y="191608"/>
                  </a:moveTo>
                  <a:lnTo>
                    <a:pt x="153202" y="267789"/>
                  </a:lnTo>
                  <a:lnTo>
                    <a:pt x="24918" y="217002"/>
                  </a:lnTo>
                  <a:lnTo>
                    <a:pt x="24918" y="175448"/>
                  </a:lnTo>
                  <a:lnTo>
                    <a:pt x="156894" y="228083"/>
                  </a:lnTo>
                  <a:lnTo>
                    <a:pt x="337783" y="152363"/>
                  </a:lnTo>
                  <a:lnTo>
                    <a:pt x="337783" y="191608"/>
                  </a:lnTo>
                  <a:lnTo>
                    <a:pt x="337322" y="191608"/>
                  </a:lnTo>
                  <a:close/>
                </a:path>
              </a:pathLst>
            </a:custGeom>
            <a:ln w="5385">
              <a:solidFill>
                <a:srgbClr val="734A67"/>
              </a:solidFill>
            </a:ln>
          </p:spPr>
          <p:txBody>
            <a:bodyPr wrap="square" lIns="0" tIns="0" rIns="0" bIns="0" rtlCol="0"/>
            <a:lstStyle/>
            <a:p>
              <a:endParaRPr/>
            </a:p>
          </p:txBody>
        </p:sp>
        <p:sp>
          <p:nvSpPr>
            <p:cNvPr id="49" name="object 49"/>
            <p:cNvSpPr/>
            <p:nvPr/>
          </p:nvSpPr>
          <p:spPr>
            <a:xfrm>
              <a:off x="5832347" y="5125211"/>
              <a:ext cx="448309" cy="448309"/>
            </a:xfrm>
            <a:custGeom>
              <a:avLst/>
              <a:gdLst/>
              <a:ahLst/>
              <a:cxnLst/>
              <a:rect l="l" t="t" r="r" b="b"/>
              <a:pathLst>
                <a:path w="448310" h="448310">
                  <a:moveTo>
                    <a:pt x="0" y="448056"/>
                  </a:moveTo>
                  <a:lnTo>
                    <a:pt x="448055" y="448056"/>
                  </a:lnTo>
                  <a:lnTo>
                    <a:pt x="448055" y="0"/>
                  </a:lnTo>
                  <a:lnTo>
                    <a:pt x="0" y="0"/>
                  </a:lnTo>
                  <a:lnTo>
                    <a:pt x="0" y="448056"/>
                  </a:lnTo>
                  <a:close/>
                </a:path>
              </a:pathLst>
            </a:custGeom>
            <a:ln w="12700">
              <a:solidFill>
                <a:srgbClr val="FFFFFF"/>
              </a:solidFill>
            </a:ln>
          </p:spPr>
          <p:txBody>
            <a:bodyPr wrap="square" lIns="0" tIns="0" rIns="0" bIns="0" rtlCol="0"/>
            <a:lstStyle/>
            <a:p>
              <a:endParaRPr/>
            </a:p>
          </p:txBody>
        </p:sp>
      </p:grpSp>
      <p:sp>
        <p:nvSpPr>
          <p:cNvPr id="50" name="object 50"/>
          <p:cNvSpPr txBox="1"/>
          <p:nvPr/>
        </p:nvSpPr>
        <p:spPr>
          <a:xfrm>
            <a:off x="6596253" y="5204586"/>
            <a:ext cx="1063625" cy="269240"/>
          </a:xfrm>
          <a:prstGeom prst="rect">
            <a:avLst/>
          </a:prstGeom>
        </p:spPr>
        <p:txBody>
          <a:bodyPr vert="horz" wrap="square" lIns="0" tIns="12065" rIns="0" bIns="0" rtlCol="0">
            <a:spAutoFit/>
          </a:bodyPr>
          <a:lstStyle/>
          <a:p>
            <a:pPr marL="12700">
              <a:lnSpc>
                <a:spcPct val="100000"/>
              </a:lnSpc>
              <a:spcBef>
                <a:spcPts val="95"/>
              </a:spcBef>
            </a:pPr>
            <a:r>
              <a:rPr sz="1600" spc="-10" dirty="0">
                <a:latin typeface="Georgia"/>
                <a:cs typeface="Georgia"/>
              </a:rPr>
              <a:t>Story</a:t>
            </a:r>
            <a:r>
              <a:rPr sz="1600" spc="-55" dirty="0">
                <a:latin typeface="Georgia"/>
                <a:cs typeface="Georgia"/>
              </a:rPr>
              <a:t> </a:t>
            </a:r>
            <a:r>
              <a:rPr sz="1600" spc="-30" dirty="0">
                <a:latin typeface="Georgia"/>
                <a:cs typeface="Georgia"/>
              </a:rPr>
              <a:t>Board</a:t>
            </a:r>
            <a:endParaRPr sz="1600">
              <a:latin typeface="Georgia"/>
              <a:cs typeface="Georgia"/>
            </a:endParaRPr>
          </a:p>
        </p:txBody>
      </p:sp>
      <p:grpSp>
        <p:nvGrpSpPr>
          <p:cNvPr id="51" name="object 51"/>
          <p:cNvGrpSpPr/>
          <p:nvPr/>
        </p:nvGrpSpPr>
        <p:grpSpPr>
          <a:xfrm>
            <a:off x="8747759" y="4962144"/>
            <a:ext cx="772795" cy="772795"/>
            <a:chOff x="8747759" y="4962144"/>
            <a:chExt cx="772795" cy="772795"/>
          </a:xfrm>
        </p:grpSpPr>
        <p:sp>
          <p:nvSpPr>
            <p:cNvPr id="52" name="object 52"/>
            <p:cNvSpPr/>
            <p:nvPr/>
          </p:nvSpPr>
          <p:spPr>
            <a:xfrm>
              <a:off x="8747759" y="4962144"/>
              <a:ext cx="772795" cy="772795"/>
            </a:xfrm>
            <a:custGeom>
              <a:avLst/>
              <a:gdLst/>
              <a:ahLst/>
              <a:cxnLst/>
              <a:rect l="l" t="t" r="r" b="b"/>
              <a:pathLst>
                <a:path w="772795" h="772795">
                  <a:moveTo>
                    <a:pt x="386334" y="0"/>
                  </a:moveTo>
                  <a:lnTo>
                    <a:pt x="337874" y="3010"/>
                  </a:lnTo>
                  <a:lnTo>
                    <a:pt x="291210" y="11799"/>
                  </a:lnTo>
                  <a:lnTo>
                    <a:pt x="246704" y="26005"/>
                  </a:lnTo>
                  <a:lnTo>
                    <a:pt x="204719" y="45266"/>
                  </a:lnTo>
                  <a:lnTo>
                    <a:pt x="165615" y="69219"/>
                  </a:lnTo>
                  <a:lnTo>
                    <a:pt x="129756" y="97504"/>
                  </a:lnTo>
                  <a:lnTo>
                    <a:pt x="97504" y="129756"/>
                  </a:lnTo>
                  <a:lnTo>
                    <a:pt x="69219" y="165615"/>
                  </a:lnTo>
                  <a:lnTo>
                    <a:pt x="45266" y="204719"/>
                  </a:lnTo>
                  <a:lnTo>
                    <a:pt x="26005" y="246704"/>
                  </a:lnTo>
                  <a:lnTo>
                    <a:pt x="11799" y="291210"/>
                  </a:lnTo>
                  <a:lnTo>
                    <a:pt x="3010" y="337874"/>
                  </a:lnTo>
                  <a:lnTo>
                    <a:pt x="0" y="386333"/>
                  </a:lnTo>
                  <a:lnTo>
                    <a:pt x="3010" y="434793"/>
                  </a:lnTo>
                  <a:lnTo>
                    <a:pt x="11799" y="481457"/>
                  </a:lnTo>
                  <a:lnTo>
                    <a:pt x="26005" y="525963"/>
                  </a:lnTo>
                  <a:lnTo>
                    <a:pt x="45266" y="567948"/>
                  </a:lnTo>
                  <a:lnTo>
                    <a:pt x="69219" y="607052"/>
                  </a:lnTo>
                  <a:lnTo>
                    <a:pt x="97504" y="642911"/>
                  </a:lnTo>
                  <a:lnTo>
                    <a:pt x="129756" y="675163"/>
                  </a:lnTo>
                  <a:lnTo>
                    <a:pt x="165615" y="703448"/>
                  </a:lnTo>
                  <a:lnTo>
                    <a:pt x="204719" y="727401"/>
                  </a:lnTo>
                  <a:lnTo>
                    <a:pt x="246704" y="746662"/>
                  </a:lnTo>
                  <a:lnTo>
                    <a:pt x="291210" y="760868"/>
                  </a:lnTo>
                  <a:lnTo>
                    <a:pt x="337874" y="769657"/>
                  </a:lnTo>
                  <a:lnTo>
                    <a:pt x="386334" y="772667"/>
                  </a:lnTo>
                  <a:lnTo>
                    <a:pt x="434793" y="769657"/>
                  </a:lnTo>
                  <a:lnTo>
                    <a:pt x="481457" y="760868"/>
                  </a:lnTo>
                  <a:lnTo>
                    <a:pt x="525963" y="746662"/>
                  </a:lnTo>
                  <a:lnTo>
                    <a:pt x="567948" y="727401"/>
                  </a:lnTo>
                  <a:lnTo>
                    <a:pt x="607052" y="703448"/>
                  </a:lnTo>
                  <a:lnTo>
                    <a:pt x="642911" y="675163"/>
                  </a:lnTo>
                  <a:lnTo>
                    <a:pt x="675163" y="642911"/>
                  </a:lnTo>
                  <a:lnTo>
                    <a:pt x="703448" y="607052"/>
                  </a:lnTo>
                  <a:lnTo>
                    <a:pt x="727401" y="567948"/>
                  </a:lnTo>
                  <a:lnTo>
                    <a:pt x="746662" y="525963"/>
                  </a:lnTo>
                  <a:lnTo>
                    <a:pt x="760868" y="481457"/>
                  </a:lnTo>
                  <a:lnTo>
                    <a:pt x="769657" y="434793"/>
                  </a:lnTo>
                  <a:lnTo>
                    <a:pt x="772668" y="386333"/>
                  </a:lnTo>
                  <a:lnTo>
                    <a:pt x="769657" y="337874"/>
                  </a:lnTo>
                  <a:lnTo>
                    <a:pt x="760868" y="291210"/>
                  </a:lnTo>
                  <a:lnTo>
                    <a:pt x="746662" y="246704"/>
                  </a:lnTo>
                  <a:lnTo>
                    <a:pt x="727401" y="204719"/>
                  </a:lnTo>
                  <a:lnTo>
                    <a:pt x="703448" y="165615"/>
                  </a:lnTo>
                  <a:lnTo>
                    <a:pt x="675163" y="129756"/>
                  </a:lnTo>
                  <a:lnTo>
                    <a:pt x="642911" y="97504"/>
                  </a:lnTo>
                  <a:lnTo>
                    <a:pt x="607052" y="69219"/>
                  </a:lnTo>
                  <a:lnTo>
                    <a:pt x="567948" y="45266"/>
                  </a:lnTo>
                  <a:lnTo>
                    <a:pt x="525963" y="26005"/>
                  </a:lnTo>
                  <a:lnTo>
                    <a:pt x="481457" y="11799"/>
                  </a:lnTo>
                  <a:lnTo>
                    <a:pt x="434793" y="3010"/>
                  </a:lnTo>
                  <a:lnTo>
                    <a:pt x="386334" y="0"/>
                  </a:lnTo>
                  <a:close/>
                </a:path>
              </a:pathLst>
            </a:custGeom>
            <a:solidFill>
              <a:srgbClr val="D4D0D2"/>
            </a:solidFill>
          </p:spPr>
          <p:txBody>
            <a:bodyPr wrap="square" lIns="0" tIns="0" rIns="0" bIns="0" rtlCol="0"/>
            <a:lstStyle/>
            <a:p>
              <a:endParaRPr/>
            </a:p>
          </p:txBody>
        </p:sp>
        <p:sp>
          <p:nvSpPr>
            <p:cNvPr id="53" name="object 53"/>
            <p:cNvSpPr/>
            <p:nvPr/>
          </p:nvSpPr>
          <p:spPr>
            <a:xfrm>
              <a:off x="8951012" y="5479387"/>
              <a:ext cx="184785" cy="55880"/>
            </a:xfrm>
            <a:custGeom>
              <a:avLst/>
              <a:gdLst/>
              <a:ahLst/>
              <a:cxnLst/>
              <a:rect l="l" t="t" r="r" b="b"/>
              <a:pathLst>
                <a:path w="184784" h="55879">
                  <a:moveTo>
                    <a:pt x="156893" y="0"/>
                  </a:moveTo>
                  <a:lnTo>
                    <a:pt x="27687" y="0"/>
                  </a:lnTo>
                  <a:lnTo>
                    <a:pt x="27687" y="18468"/>
                  </a:lnTo>
                  <a:lnTo>
                    <a:pt x="18458" y="18468"/>
                  </a:lnTo>
                  <a:lnTo>
                    <a:pt x="11291" y="19925"/>
                  </a:lnTo>
                  <a:lnTo>
                    <a:pt x="5422" y="23893"/>
                  </a:lnTo>
                  <a:lnTo>
                    <a:pt x="1456" y="29765"/>
                  </a:lnTo>
                  <a:lnTo>
                    <a:pt x="0" y="36936"/>
                  </a:lnTo>
                  <a:lnTo>
                    <a:pt x="1456" y="44107"/>
                  </a:lnTo>
                  <a:lnTo>
                    <a:pt x="5422" y="49979"/>
                  </a:lnTo>
                  <a:lnTo>
                    <a:pt x="11291" y="53947"/>
                  </a:lnTo>
                  <a:lnTo>
                    <a:pt x="18458" y="55404"/>
                  </a:lnTo>
                  <a:lnTo>
                    <a:pt x="166123" y="55404"/>
                  </a:lnTo>
                  <a:lnTo>
                    <a:pt x="173289" y="53947"/>
                  </a:lnTo>
                  <a:lnTo>
                    <a:pt x="179159" y="49979"/>
                  </a:lnTo>
                  <a:lnTo>
                    <a:pt x="183124" y="44107"/>
                  </a:lnTo>
                  <a:lnTo>
                    <a:pt x="184581" y="36936"/>
                  </a:lnTo>
                  <a:lnTo>
                    <a:pt x="183124" y="29765"/>
                  </a:lnTo>
                  <a:lnTo>
                    <a:pt x="179159" y="23893"/>
                  </a:lnTo>
                  <a:lnTo>
                    <a:pt x="173289" y="19925"/>
                  </a:lnTo>
                  <a:lnTo>
                    <a:pt x="166123" y="18468"/>
                  </a:lnTo>
                  <a:lnTo>
                    <a:pt x="156893" y="18468"/>
                  </a:lnTo>
                  <a:lnTo>
                    <a:pt x="156893" y="0"/>
                  </a:lnTo>
                  <a:close/>
                </a:path>
              </a:pathLst>
            </a:custGeom>
            <a:solidFill>
              <a:srgbClr val="734A67"/>
            </a:solidFill>
          </p:spPr>
          <p:txBody>
            <a:bodyPr wrap="square" lIns="0" tIns="0" rIns="0" bIns="0" rtlCol="0"/>
            <a:lstStyle/>
            <a:p>
              <a:endParaRPr/>
            </a:p>
          </p:txBody>
        </p:sp>
        <p:sp>
          <p:nvSpPr>
            <p:cNvPr id="54" name="object 54"/>
            <p:cNvSpPr/>
            <p:nvPr/>
          </p:nvSpPr>
          <p:spPr>
            <a:xfrm>
              <a:off x="8951012" y="5479387"/>
              <a:ext cx="184785" cy="55880"/>
            </a:xfrm>
            <a:custGeom>
              <a:avLst/>
              <a:gdLst/>
              <a:ahLst/>
              <a:cxnLst/>
              <a:rect l="l" t="t" r="r" b="b"/>
              <a:pathLst>
                <a:path w="184784" h="55879">
                  <a:moveTo>
                    <a:pt x="166123" y="18468"/>
                  </a:moveTo>
                  <a:lnTo>
                    <a:pt x="156893" y="18468"/>
                  </a:lnTo>
                  <a:lnTo>
                    <a:pt x="156893" y="0"/>
                  </a:lnTo>
                  <a:lnTo>
                    <a:pt x="27687" y="0"/>
                  </a:lnTo>
                  <a:lnTo>
                    <a:pt x="27687" y="18468"/>
                  </a:lnTo>
                  <a:lnTo>
                    <a:pt x="18458" y="18468"/>
                  </a:lnTo>
                  <a:lnTo>
                    <a:pt x="11291" y="19925"/>
                  </a:lnTo>
                  <a:lnTo>
                    <a:pt x="5422" y="23893"/>
                  </a:lnTo>
                  <a:lnTo>
                    <a:pt x="1456" y="29765"/>
                  </a:lnTo>
                  <a:lnTo>
                    <a:pt x="0" y="36936"/>
                  </a:lnTo>
                  <a:lnTo>
                    <a:pt x="1456" y="44107"/>
                  </a:lnTo>
                  <a:lnTo>
                    <a:pt x="5422" y="49979"/>
                  </a:lnTo>
                  <a:lnTo>
                    <a:pt x="11291" y="53947"/>
                  </a:lnTo>
                  <a:lnTo>
                    <a:pt x="18458" y="55404"/>
                  </a:lnTo>
                  <a:lnTo>
                    <a:pt x="166123" y="55404"/>
                  </a:lnTo>
                  <a:lnTo>
                    <a:pt x="173289" y="53947"/>
                  </a:lnTo>
                  <a:lnTo>
                    <a:pt x="179159" y="49979"/>
                  </a:lnTo>
                  <a:lnTo>
                    <a:pt x="183124" y="44107"/>
                  </a:lnTo>
                  <a:lnTo>
                    <a:pt x="184581" y="36936"/>
                  </a:lnTo>
                  <a:lnTo>
                    <a:pt x="183124" y="29765"/>
                  </a:lnTo>
                  <a:lnTo>
                    <a:pt x="179159" y="23893"/>
                  </a:lnTo>
                  <a:lnTo>
                    <a:pt x="173289" y="19925"/>
                  </a:lnTo>
                  <a:lnTo>
                    <a:pt x="166123" y="18468"/>
                  </a:lnTo>
                  <a:close/>
                </a:path>
              </a:pathLst>
            </a:custGeom>
            <a:ln w="5386">
              <a:solidFill>
                <a:srgbClr val="734A67"/>
              </a:solidFill>
            </a:ln>
          </p:spPr>
          <p:txBody>
            <a:bodyPr wrap="square" lIns="0" tIns="0" rIns="0" bIns="0" rtlCol="0"/>
            <a:lstStyle/>
            <a:p>
              <a:endParaRPr/>
            </a:p>
          </p:txBody>
        </p:sp>
        <p:pic>
          <p:nvPicPr>
            <p:cNvPr id="55" name="object 55"/>
            <p:cNvPicPr/>
            <p:nvPr/>
          </p:nvPicPr>
          <p:blipFill>
            <a:blip r:embed="rId6" cstate="print"/>
            <a:stretch>
              <a:fillRect/>
            </a:stretch>
          </p:blipFill>
          <p:spPr>
            <a:xfrm>
              <a:off x="9003694" y="5305401"/>
              <a:ext cx="121209" cy="121273"/>
            </a:xfrm>
            <a:prstGeom prst="rect">
              <a:avLst/>
            </a:prstGeom>
          </p:spPr>
        </p:pic>
        <p:pic>
          <p:nvPicPr>
            <p:cNvPr id="56" name="object 56"/>
            <p:cNvPicPr/>
            <p:nvPr/>
          </p:nvPicPr>
          <p:blipFill>
            <a:blip r:embed="rId7" cstate="print"/>
            <a:stretch>
              <a:fillRect/>
            </a:stretch>
          </p:blipFill>
          <p:spPr>
            <a:xfrm>
              <a:off x="9146282" y="5162734"/>
              <a:ext cx="121209" cy="121273"/>
            </a:xfrm>
            <a:prstGeom prst="rect">
              <a:avLst/>
            </a:prstGeom>
          </p:spPr>
        </p:pic>
      </p:grpSp>
      <p:grpSp>
        <p:nvGrpSpPr>
          <p:cNvPr id="57" name="object 57"/>
          <p:cNvGrpSpPr/>
          <p:nvPr/>
        </p:nvGrpSpPr>
        <p:grpSpPr>
          <a:xfrm>
            <a:off x="8904478" y="5118861"/>
            <a:ext cx="461009" cy="461009"/>
            <a:chOff x="8904478" y="5118861"/>
            <a:chExt cx="461009" cy="461009"/>
          </a:xfrm>
        </p:grpSpPr>
        <p:sp>
          <p:nvSpPr>
            <p:cNvPr id="58" name="object 58"/>
            <p:cNvSpPr/>
            <p:nvPr/>
          </p:nvSpPr>
          <p:spPr>
            <a:xfrm>
              <a:off x="9052532" y="5211597"/>
              <a:ext cx="269240" cy="260350"/>
            </a:xfrm>
            <a:custGeom>
              <a:avLst/>
              <a:gdLst/>
              <a:ahLst/>
              <a:cxnLst/>
              <a:rect l="l" t="t" r="r" b="b"/>
              <a:pathLst>
                <a:path w="269240" h="260350">
                  <a:moveTo>
                    <a:pt x="92290" y="0"/>
                  </a:moveTo>
                  <a:lnTo>
                    <a:pt x="0" y="92341"/>
                  </a:lnTo>
                  <a:lnTo>
                    <a:pt x="73832" y="166214"/>
                  </a:lnTo>
                  <a:lnTo>
                    <a:pt x="110748" y="129277"/>
                  </a:lnTo>
                  <a:lnTo>
                    <a:pt x="235341" y="253938"/>
                  </a:lnTo>
                  <a:lnTo>
                    <a:pt x="241873" y="258353"/>
                  </a:lnTo>
                  <a:lnTo>
                    <a:pt x="249184" y="259825"/>
                  </a:lnTo>
                  <a:lnTo>
                    <a:pt x="256495" y="258353"/>
                  </a:lnTo>
                  <a:lnTo>
                    <a:pt x="263028" y="253938"/>
                  </a:lnTo>
                  <a:lnTo>
                    <a:pt x="267441" y="247402"/>
                  </a:lnTo>
                  <a:lnTo>
                    <a:pt x="268911" y="240087"/>
                  </a:lnTo>
                  <a:lnTo>
                    <a:pt x="267440" y="232772"/>
                  </a:lnTo>
                  <a:lnTo>
                    <a:pt x="263028" y="226236"/>
                  </a:lnTo>
                  <a:lnTo>
                    <a:pt x="138435" y="101575"/>
                  </a:lnTo>
                  <a:lnTo>
                    <a:pt x="166123" y="73873"/>
                  </a:lnTo>
                  <a:lnTo>
                    <a:pt x="92290" y="0"/>
                  </a:lnTo>
                  <a:close/>
                </a:path>
              </a:pathLst>
            </a:custGeom>
            <a:solidFill>
              <a:srgbClr val="734A67"/>
            </a:solidFill>
          </p:spPr>
          <p:txBody>
            <a:bodyPr wrap="square" lIns="0" tIns="0" rIns="0" bIns="0" rtlCol="0"/>
            <a:lstStyle/>
            <a:p>
              <a:endParaRPr/>
            </a:p>
          </p:txBody>
        </p:sp>
        <p:sp>
          <p:nvSpPr>
            <p:cNvPr id="59" name="object 59"/>
            <p:cNvSpPr/>
            <p:nvPr/>
          </p:nvSpPr>
          <p:spPr>
            <a:xfrm>
              <a:off x="9052532" y="5211597"/>
              <a:ext cx="269240" cy="260350"/>
            </a:xfrm>
            <a:custGeom>
              <a:avLst/>
              <a:gdLst/>
              <a:ahLst/>
              <a:cxnLst/>
              <a:rect l="l" t="t" r="r" b="b"/>
              <a:pathLst>
                <a:path w="269240" h="260350">
                  <a:moveTo>
                    <a:pt x="263028" y="226236"/>
                  </a:moveTo>
                  <a:lnTo>
                    <a:pt x="138435" y="101575"/>
                  </a:lnTo>
                  <a:lnTo>
                    <a:pt x="166123" y="73873"/>
                  </a:lnTo>
                  <a:lnTo>
                    <a:pt x="92290" y="0"/>
                  </a:lnTo>
                  <a:lnTo>
                    <a:pt x="0" y="92341"/>
                  </a:lnTo>
                  <a:lnTo>
                    <a:pt x="73832" y="166214"/>
                  </a:lnTo>
                  <a:lnTo>
                    <a:pt x="110748" y="129277"/>
                  </a:lnTo>
                  <a:lnTo>
                    <a:pt x="235341" y="253938"/>
                  </a:lnTo>
                  <a:lnTo>
                    <a:pt x="241873" y="258353"/>
                  </a:lnTo>
                  <a:lnTo>
                    <a:pt x="249184" y="259825"/>
                  </a:lnTo>
                  <a:lnTo>
                    <a:pt x="256495" y="258353"/>
                  </a:lnTo>
                  <a:lnTo>
                    <a:pt x="263028" y="253938"/>
                  </a:lnTo>
                  <a:lnTo>
                    <a:pt x="267441" y="247402"/>
                  </a:lnTo>
                  <a:lnTo>
                    <a:pt x="268911" y="240087"/>
                  </a:lnTo>
                  <a:lnTo>
                    <a:pt x="267440" y="232772"/>
                  </a:lnTo>
                  <a:lnTo>
                    <a:pt x="263028" y="226236"/>
                  </a:lnTo>
                  <a:close/>
                </a:path>
              </a:pathLst>
            </a:custGeom>
            <a:ln w="5385">
              <a:solidFill>
                <a:srgbClr val="734A67"/>
              </a:solidFill>
            </a:ln>
          </p:spPr>
          <p:txBody>
            <a:bodyPr wrap="square" lIns="0" tIns="0" rIns="0" bIns="0" rtlCol="0"/>
            <a:lstStyle/>
            <a:p>
              <a:endParaRPr/>
            </a:p>
          </p:txBody>
        </p:sp>
        <p:sp>
          <p:nvSpPr>
            <p:cNvPr id="60" name="object 60"/>
            <p:cNvSpPr/>
            <p:nvPr/>
          </p:nvSpPr>
          <p:spPr>
            <a:xfrm>
              <a:off x="8910828" y="5125211"/>
              <a:ext cx="448309" cy="448309"/>
            </a:xfrm>
            <a:custGeom>
              <a:avLst/>
              <a:gdLst/>
              <a:ahLst/>
              <a:cxnLst/>
              <a:rect l="l" t="t" r="r" b="b"/>
              <a:pathLst>
                <a:path w="448309" h="448310">
                  <a:moveTo>
                    <a:pt x="0" y="448056"/>
                  </a:moveTo>
                  <a:lnTo>
                    <a:pt x="448055" y="448056"/>
                  </a:lnTo>
                  <a:lnTo>
                    <a:pt x="448055" y="0"/>
                  </a:lnTo>
                  <a:lnTo>
                    <a:pt x="0" y="0"/>
                  </a:lnTo>
                  <a:lnTo>
                    <a:pt x="0" y="448056"/>
                  </a:lnTo>
                  <a:close/>
                </a:path>
              </a:pathLst>
            </a:custGeom>
            <a:ln w="12700">
              <a:solidFill>
                <a:srgbClr val="FFFFFF"/>
              </a:solidFill>
            </a:ln>
          </p:spPr>
          <p:txBody>
            <a:bodyPr wrap="square" lIns="0" tIns="0" rIns="0" bIns="0" rtlCol="0"/>
            <a:lstStyle/>
            <a:p>
              <a:endParaRPr/>
            </a:p>
          </p:txBody>
        </p:sp>
      </p:grpSp>
      <p:sp>
        <p:nvSpPr>
          <p:cNvPr id="61" name="object 61"/>
          <p:cNvSpPr txBox="1"/>
          <p:nvPr/>
        </p:nvSpPr>
        <p:spPr>
          <a:xfrm>
            <a:off x="9675368" y="5204586"/>
            <a:ext cx="1006475" cy="269240"/>
          </a:xfrm>
          <a:prstGeom prst="rect">
            <a:avLst/>
          </a:prstGeom>
        </p:spPr>
        <p:txBody>
          <a:bodyPr vert="horz" wrap="square" lIns="0" tIns="12065" rIns="0" bIns="0" rtlCol="0">
            <a:spAutoFit/>
          </a:bodyPr>
          <a:lstStyle/>
          <a:p>
            <a:pPr marL="12700">
              <a:lnSpc>
                <a:spcPct val="100000"/>
              </a:lnSpc>
              <a:spcBef>
                <a:spcPts val="95"/>
              </a:spcBef>
            </a:pPr>
            <a:r>
              <a:rPr sz="1600" spc="-15" dirty="0">
                <a:latin typeface="Georgia"/>
                <a:cs typeface="Georgia"/>
              </a:rPr>
              <a:t>Conclusion</a:t>
            </a:r>
            <a:endParaRPr sz="1600">
              <a:latin typeface="Georgia"/>
              <a:cs typeface="Georgia"/>
            </a:endParaRPr>
          </a:p>
        </p:txBody>
      </p:sp>
      <p:pic>
        <p:nvPicPr>
          <p:cNvPr id="62" name="object 62"/>
          <p:cNvPicPr/>
          <p:nvPr/>
        </p:nvPicPr>
        <p:blipFill>
          <a:blip r:embed="rId8" cstate="print"/>
          <a:stretch>
            <a:fillRect/>
          </a:stretch>
        </p:blipFill>
        <p:spPr>
          <a:xfrm>
            <a:off x="0" y="1555974"/>
            <a:ext cx="4885943" cy="5302023"/>
          </a:xfrm>
          <a:prstGeom prst="rect">
            <a:avLst/>
          </a:prstGeom>
        </p:spPr>
      </p:pic>
      <p:sp>
        <p:nvSpPr>
          <p:cNvPr id="63" name="object 63"/>
          <p:cNvSpPr txBox="1">
            <a:spLocks noGrp="1"/>
          </p:cNvSpPr>
          <p:nvPr>
            <p:ph type="sldNum" sz="quarter" idx="7"/>
          </p:nvPr>
        </p:nvSpPr>
        <p:spPr>
          <a:prstGeom prst="rect">
            <a:avLst/>
          </a:prstGeom>
        </p:spPr>
        <p:txBody>
          <a:bodyPr vert="horz" wrap="square" lIns="0" tIns="0" rIns="0" bIns="0" rtlCol="0">
            <a:spAutoFit/>
          </a:bodyPr>
          <a:lstStyle/>
          <a:p>
            <a:pPr marL="153670">
              <a:lnSpc>
                <a:spcPts val="2125"/>
              </a:lnSpc>
            </a:pPr>
            <a:fld id="{81D60167-4931-47E6-BA6A-407CBD079E47}" type="slidenum">
              <a:rPr spc="-50" dirty="0">
                <a:solidFill>
                  <a:srgbClr val="000000"/>
                </a:solidFill>
              </a:rPr>
              <a:t>2</a:t>
            </a:fld>
            <a:endParaRPr spc="-5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00862" y="724662"/>
            <a:ext cx="1638300" cy="0"/>
          </a:xfrm>
          <a:custGeom>
            <a:avLst/>
            <a:gdLst/>
            <a:ahLst/>
            <a:cxnLst/>
            <a:rect l="l" t="t" r="r" b="b"/>
            <a:pathLst>
              <a:path w="1638300">
                <a:moveTo>
                  <a:pt x="0" y="0"/>
                </a:moveTo>
                <a:lnTo>
                  <a:pt x="1638300" y="0"/>
                </a:lnTo>
              </a:path>
            </a:pathLst>
          </a:custGeom>
          <a:ln w="44450">
            <a:solidFill>
              <a:srgbClr val="000000"/>
            </a:solidFill>
          </a:ln>
        </p:spPr>
        <p:txBody>
          <a:bodyPr wrap="square" lIns="0" tIns="0" rIns="0" bIns="0" rtlCol="0"/>
          <a:lstStyle/>
          <a:p>
            <a:endParaRPr/>
          </a:p>
        </p:txBody>
      </p:sp>
      <p:sp>
        <p:nvSpPr>
          <p:cNvPr id="3" name="object 3"/>
          <p:cNvSpPr txBox="1">
            <a:spLocks noGrp="1"/>
          </p:cNvSpPr>
          <p:nvPr>
            <p:ph type="title"/>
          </p:nvPr>
        </p:nvSpPr>
        <p:spPr>
          <a:xfrm>
            <a:off x="774293" y="901065"/>
            <a:ext cx="3771900" cy="635000"/>
          </a:xfrm>
          <a:prstGeom prst="rect">
            <a:avLst/>
          </a:prstGeom>
        </p:spPr>
        <p:txBody>
          <a:bodyPr vert="horz" wrap="square" lIns="0" tIns="12065" rIns="0" bIns="0" rtlCol="0">
            <a:spAutoFit/>
          </a:bodyPr>
          <a:lstStyle/>
          <a:p>
            <a:pPr marL="12700">
              <a:lnSpc>
                <a:spcPct val="100000"/>
              </a:lnSpc>
              <a:spcBef>
                <a:spcPts val="95"/>
              </a:spcBef>
              <a:tabLst>
                <a:tab pos="1446530" algn="l"/>
                <a:tab pos="2508885" algn="l"/>
              </a:tabLst>
            </a:pPr>
            <a:r>
              <a:rPr sz="4000" spc="-20" dirty="0"/>
              <a:t>MEET</a:t>
            </a:r>
            <a:r>
              <a:rPr sz="4000" dirty="0"/>
              <a:t>	</a:t>
            </a:r>
            <a:r>
              <a:rPr sz="4000" spc="-310" dirty="0"/>
              <a:t>THE</a:t>
            </a:r>
            <a:r>
              <a:rPr sz="4000" dirty="0"/>
              <a:t>	</a:t>
            </a:r>
            <a:r>
              <a:rPr sz="4000" spc="-55" dirty="0"/>
              <a:t>TEAM</a:t>
            </a:r>
            <a:endParaRPr sz="4000"/>
          </a:p>
        </p:txBody>
      </p:sp>
      <p:sp>
        <p:nvSpPr>
          <p:cNvPr id="4" name="object 4"/>
          <p:cNvSpPr txBox="1"/>
          <p:nvPr/>
        </p:nvSpPr>
        <p:spPr>
          <a:xfrm>
            <a:off x="1054404" y="5871768"/>
            <a:ext cx="1564640" cy="330835"/>
          </a:xfrm>
          <a:prstGeom prst="rect">
            <a:avLst/>
          </a:prstGeom>
        </p:spPr>
        <p:txBody>
          <a:bodyPr vert="horz" wrap="square" lIns="0" tIns="12700" rIns="0" bIns="0" rtlCol="0">
            <a:spAutoFit/>
          </a:bodyPr>
          <a:lstStyle/>
          <a:p>
            <a:pPr marL="12700">
              <a:lnSpc>
                <a:spcPct val="100000"/>
              </a:lnSpc>
              <a:spcBef>
                <a:spcPts val="100"/>
              </a:spcBef>
            </a:pPr>
            <a:r>
              <a:rPr sz="2000" spc="-75" dirty="0">
                <a:solidFill>
                  <a:srgbClr val="949EBA"/>
                </a:solidFill>
                <a:latin typeface="Tahoma"/>
                <a:cs typeface="Tahoma"/>
              </a:rPr>
              <a:t>NIKKAT</a:t>
            </a:r>
            <a:r>
              <a:rPr sz="2000" spc="-114" dirty="0">
                <a:solidFill>
                  <a:srgbClr val="949EBA"/>
                </a:solidFill>
                <a:latin typeface="Tahoma"/>
                <a:cs typeface="Tahoma"/>
              </a:rPr>
              <a:t> </a:t>
            </a:r>
            <a:r>
              <a:rPr sz="2000" spc="-60" dirty="0">
                <a:solidFill>
                  <a:srgbClr val="949EBA"/>
                </a:solidFill>
                <a:latin typeface="Tahoma"/>
                <a:cs typeface="Tahoma"/>
              </a:rPr>
              <a:t>AFRIN</a:t>
            </a:r>
            <a:endParaRPr sz="2000">
              <a:latin typeface="Tahoma"/>
              <a:cs typeface="Tahoma"/>
            </a:endParaRPr>
          </a:p>
        </p:txBody>
      </p:sp>
      <p:sp>
        <p:nvSpPr>
          <p:cNvPr id="5" name="object 5"/>
          <p:cNvSpPr txBox="1"/>
          <p:nvPr/>
        </p:nvSpPr>
        <p:spPr>
          <a:xfrm>
            <a:off x="3786885" y="5871768"/>
            <a:ext cx="1652905" cy="330835"/>
          </a:xfrm>
          <a:prstGeom prst="rect">
            <a:avLst/>
          </a:prstGeom>
        </p:spPr>
        <p:txBody>
          <a:bodyPr vert="horz" wrap="square" lIns="0" tIns="12700" rIns="0" bIns="0" rtlCol="0">
            <a:spAutoFit/>
          </a:bodyPr>
          <a:lstStyle/>
          <a:p>
            <a:pPr marL="12700">
              <a:lnSpc>
                <a:spcPct val="100000"/>
              </a:lnSpc>
              <a:spcBef>
                <a:spcPts val="100"/>
              </a:spcBef>
            </a:pPr>
            <a:r>
              <a:rPr sz="2000" spc="-75" dirty="0">
                <a:solidFill>
                  <a:srgbClr val="949EBA"/>
                </a:solidFill>
                <a:latin typeface="Tahoma"/>
                <a:cs typeface="Tahoma"/>
              </a:rPr>
              <a:t>VEDANT</a:t>
            </a:r>
            <a:r>
              <a:rPr sz="2000" spc="-125" dirty="0">
                <a:solidFill>
                  <a:srgbClr val="949EBA"/>
                </a:solidFill>
                <a:latin typeface="Tahoma"/>
                <a:cs typeface="Tahoma"/>
              </a:rPr>
              <a:t> </a:t>
            </a:r>
            <a:r>
              <a:rPr sz="2000" spc="-35" dirty="0">
                <a:solidFill>
                  <a:srgbClr val="949EBA"/>
                </a:solidFill>
                <a:latin typeface="Tahoma"/>
                <a:cs typeface="Tahoma"/>
              </a:rPr>
              <a:t>PATEL</a:t>
            </a:r>
            <a:endParaRPr sz="2000">
              <a:latin typeface="Tahoma"/>
              <a:cs typeface="Tahoma"/>
            </a:endParaRPr>
          </a:p>
        </p:txBody>
      </p:sp>
      <p:pic>
        <p:nvPicPr>
          <p:cNvPr id="6" name="object 6"/>
          <p:cNvPicPr/>
          <p:nvPr/>
        </p:nvPicPr>
        <p:blipFill>
          <a:blip r:embed="rId2" cstate="print"/>
          <a:stretch>
            <a:fillRect/>
          </a:stretch>
        </p:blipFill>
        <p:spPr>
          <a:xfrm>
            <a:off x="6259067" y="1796795"/>
            <a:ext cx="2514599" cy="3962400"/>
          </a:xfrm>
          <a:prstGeom prst="rect">
            <a:avLst/>
          </a:prstGeom>
        </p:spPr>
      </p:pic>
      <p:sp>
        <p:nvSpPr>
          <p:cNvPr id="7" name="object 7"/>
          <p:cNvSpPr txBox="1"/>
          <p:nvPr/>
        </p:nvSpPr>
        <p:spPr>
          <a:xfrm>
            <a:off x="6566407" y="5871768"/>
            <a:ext cx="1957705" cy="330835"/>
          </a:xfrm>
          <a:prstGeom prst="rect">
            <a:avLst/>
          </a:prstGeom>
        </p:spPr>
        <p:txBody>
          <a:bodyPr vert="horz" wrap="square" lIns="0" tIns="12700" rIns="0" bIns="0" rtlCol="0">
            <a:spAutoFit/>
          </a:bodyPr>
          <a:lstStyle/>
          <a:p>
            <a:pPr marL="12700">
              <a:lnSpc>
                <a:spcPct val="100000"/>
              </a:lnSpc>
              <a:spcBef>
                <a:spcPts val="100"/>
              </a:spcBef>
            </a:pPr>
            <a:r>
              <a:rPr sz="2000" spc="-60" dirty="0">
                <a:solidFill>
                  <a:srgbClr val="949EBA"/>
                </a:solidFill>
                <a:latin typeface="Tahoma"/>
                <a:cs typeface="Tahoma"/>
              </a:rPr>
              <a:t>AKSHITA</a:t>
            </a:r>
            <a:r>
              <a:rPr sz="2000" spc="-114" dirty="0">
                <a:solidFill>
                  <a:srgbClr val="949EBA"/>
                </a:solidFill>
                <a:latin typeface="Tahoma"/>
                <a:cs typeface="Tahoma"/>
              </a:rPr>
              <a:t> </a:t>
            </a:r>
            <a:r>
              <a:rPr sz="2000" spc="-65" dirty="0">
                <a:solidFill>
                  <a:srgbClr val="949EBA"/>
                </a:solidFill>
                <a:latin typeface="Tahoma"/>
                <a:cs typeface="Tahoma"/>
              </a:rPr>
              <a:t>PHOGAT</a:t>
            </a:r>
            <a:endParaRPr sz="2000">
              <a:latin typeface="Tahoma"/>
              <a:cs typeface="Tahoma"/>
            </a:endParaRPr>
          </a:p>
        </p:txBody>
      </p:sp>
      <p:sp>
        <p:nvSpPr>
          <p:cNvPr id="8" name="object 8"/>
          <p:cNvSpPr txBox="1"/>
          <p:nvPr/>
        </p:nvSpPr>
        <p:spPr>
          <a:xfrm>
            <a:off x="9379077" y="5871768"/>
            <a:ext cx="1850389" cy="330835"/>
          </a:xfrm>
          <a:prstGeom prst="rect">
            <a:avLst/>
          </a:prstGeom>
        </p:spPr>
        <p:txBody>
          <a:bodyPr vert="horz" wrap="square" lIns="0" tIns="12700" rIns="0" bIns="0" rtlCol="0">
            <a:spAutoFit/>
          </a:bodyPr>
          <a:lstStyle/>
          <a:p>
            <a:pPr marL="12700">
              <a:lnSpc>
                <a:spcPct val="100000"/>
              </a:lnSpc>
              <a:spcBef>
                <a:spcPts val="100"/>
              </a:spcBef>
            </a:pPr>
            <a:r>
              <a:rPr sz="2000" spc="-75" dirty="0">
                <a:solidFill>
                  <a:srgbClr val="949EBA"/>
                </a:solidFill>
                <a:latin typeface="Tahoma"/>
                <a:cs typeface="Tahoma"/>
              </a:rPr>
              <a:t>ANOOSH</a:t>
            </a:r>
            <a:r>
              <a:rPr sz="2000" spc="-125" dirty="0">
                <a:solidFill>
                  <a:srgbClr val="949EBA"/>
                </a:solidFill>
                <a:latin typeface="Tahoma"/>
                <a:cs typeface="Tahoma"/>
              </a:rPr>
              <a:t> </a:t>
            </a:r>
            <a:r>
              <a:rPr sz="2000" spc="-10" dirty="0">
                <a:solidFill>
                  <a:srgbClr val="949EBA"/>
                </a:solidFill>
                <a:latin typeface="Tahoma"/>
                <a:cs typeface="Tahoma"/>
              </a:rPr>
              <a:t>KUMAR</a:t>
            </a:r>
            <a:endParaRPr sz="2000">
              <a:latin typeface="Tahoma"/>
              <a:cs typeface="Tahoma"/>
            </a:endParaRPr>
          </a:p>
        </p:txBody>
      </p:sp>
      <p:pic>
        <p:nvPicPr>
          <p:cNvPr id="9" name="object 9"/>
          <p:cNvPicPr/>
          <p:nvPr/>
        </p:nvPicPr>
        <p:blipFill>
          <a:blip r:embed="rId3" cstate="print"/>
          <a:stretch>
            <a:fillRect/>
          </a:stretch>
        </p:blipFill>
        <p:spPr>
          <a:xfrm>
            <a:off x="771144" y="1793748"/>
            <a:ext cx="2282189" cy="3957828"/>
          </a:xfrm>
          <a:prstGeom prst="rect">
            <a:avLst/>
          </a:prstGeom>
        </p:spPr>
      </p:pic>
      <p:pic>
        <p:nvPicPr>
          <p:cNvPr id="10" name="object 10"/>
          <p:cNvPicPr/>
          <p:nvPr/>
        </p:nvPicPr>
        <p:blipFill>
          <a:blip r:embed="rId4" cstate="print"/>
          <a:stretch>
            <a:fillRect/>
          </a:stretch>
        </p:blipFill>
        <p:spPr>
          <a:xfrm>
            <a:off x="3510788" y="1795272"/>
            <a:ext cx="2321560" cy="3956304"/>
          </a:xfrm>
          <a:prstGeom prst="rect">
            <a:avLst/>
          </a:prstGeom>
        </p:spPr>
      </p:pic>
      <p:pic>
        <p:nvPicPr>
          <p:cNvPr id="11" name="object 11"/>
          <p:cNvPicPr/>
          <p:nvPr/>
        </p:nvPicPr>
        <p:blipFill>
          <a:blip r:embed="rId5" cstate="print"/>
          <a:stretch>
            <a:fillRect/>
          </a:stretch>
        </p:blipFill>
        <p:spPr>
          <a:xfrm>
            <a:off x="8979407" y="1795272"/>
            <a:ext cx="2514600" cy="3963924"/>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53670">
              <a:lnSpc>
                <a:spcPts val="2125"/>
              </a:lnSpc>
            </a:pPr>
            <a:fld id="{81D60167-4931-47E6-BA6A-407CBD079E47}" type="slidenum">
              <a:rPr spc="-50" dirty="0">
                <a:solidFill>
                  <a:srgbClr val="000000"/>
                </a:solidFill>
              </a:rPr>
              <a:t>3</a:t>
            </a:fld>
            <a:endParaRPr spc="-50"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2827" y="914527"/>
            <a:ext cx="3327400" cy="635000"/>
          </a:xfrm>
          <a:prstGeom prst="rect">
            <a:avLst/>
          </a:prstGeom>
        </p:spPr>
        <p:txBody>
          <a:bodyPr vert="horz" wrap="square" lIns="0" tIns="12065" rIns="0" bIns="0" rtlCol="0">
            <a:spAutoFit/>
          </a:bodyPr>
          <a:lstStyle/>
          <a:p>
            <a:pPr marL="12700">
              <a:lnSpc>
                <a:spcPct val="100000"/>
              </a:lnSpc>
              <a:spcBef>
                <a:spcPts val="95"/>
              </a:spcBef>
            </a:pPr>
            <a:r>
              <a:rPr sz="4000" spc="-270" dirty="0"/>
              <a:t>INTRODUCTION</a:t>
            </a:r>
            <a:endParaRPr sz="4000"/>
          </a:p>
        </p:txBody>
      </p:sp>
      <p:sp>
        <p:nvSpPr>
          <p:cNvPr id="3" name="object 3"/>
          <p:cNvSpPr txBox="1"/>
          <p:nvPr/>
        </p:nvSpPr>
        <p:spPr>
          <a:xfrm>
            <a:off x="782827" y="2232482"/>
            <a:ext cx="3549650" cy="3380104"/>
          </a:xfrm>
          <a:prstGeom prst="rect">
            <a:avLst/>
          </a:prstGeom>
        </p:spPr>
        <p:txBody>
          <a:bodyPr vert="horz" wrap="square" lIns="0" tIns="13335" rIns="0" bIns="0" rtlCol="0">
            <a:spAutoFit/>
          </a:bodyPr>
          <a:lstStyle/>
          <a:p>
            <a:pPr marL="12700" marR="5080">
              <a:lnSpc>
                <a:spcPct val="100000"/>
              </a:lnSpc>
              <a:spcBef>
                <a:spcPts val="105"/>
              </a:spcBef>
            </a:pPr>
            <a:r>
              <a:rPr sz="2000" spc="-145" dirty="0">
                <a:latin typeface="Trebuchet MS"/>
                <a:cs typeface="Trebuchet MS"/>
              </a:rPr>
              <a:t>The</a:t>
            </a:r>
            <a:r>
              <a:rPr sz="2000" spc="-210" dirty="0">
                <a:latin typeface="Trebuchet MS"/>
                <a:cs typeface="Trebuchet MS"/>
              </a:rPr>
              <a:t> </a:t>
            </a:r>
            <a:r>
              <a:rPr sz="2000" spc="-114" dirty="0">
                <a:latin typeface="Trebuchet MS"/>
                <a:cs typeface="Trebuchet MS"/>
              </a:rPr>
              <a:t>data</a:t>
            </a:r>
            <a:r>
              <a:rPr sz="2000" spc="-215" dirty="0">
                <a:latin typeface="Trebuchet MS"/>
                <a:cs typeface="Trebuchet MS"/>
              </a:rPr>
              <a:t> </a:t>
            </a:r>
            <a:r>
              <a:rPr sz="2000" spc="-60" dirty="0">
                <a:latin typeface="Trebuchet MS"/>
                <a:cs typeface="Trebuchet MS"/>
              </a:rPr>
              <a:t>set</a:t>
            </a:r>
            <a:r>
              <a:rPr sz="2000" spc="-190" dirty="0">
                <a:latin typeface="Trebuchet MS"/>
                <a:cs typeface="Trebuchet MS"/>
              </a:rPr>
              <a:t> </a:t>
            </a:r>
            <a:r>
              <a:rPr sz="2000" spc="-100" dirty="0">
                <a:latin typeface="Trebuchet MS"/>
                <a:cs typeface="Trebuchet MS"/>
              </a:rPr>
              <a:t>we</a:t>
            </a:r>
            <a:r>
              <a:rPr sz="2000" spc="-195" dirty="0">
                <a:latin typeface="Trebuchet MS"/>
                <a:cs typeface="Trebuchet MS"/>
              </a:rPr>
              <a:t> </a:t>
            </a:r>
            <a:r>
              <a:rPr sz="2000" spc="-35" dirty="0">
                <a:latin typeface="Trebuchet MS"/>
                <a:cs typeface="Trebuchet MS"/>
              </a:rPr>
              <a:t>chose</a:t>
            </a:r>
            <a:r>
              <a:rPr sz="2000" spc="-195" dirty="0">
                <a:latin typeface="Trebuchet MS"/>
                <a:cs typeface="Trebuchet MS"/>
              </a:rPr>
              <a:t> </a:t>
            </a:r>
            <a:r>
              <a:rPr sz="2000" spc="-30" dirty="0">
                <a:latin typeface="Trebuchet MS"/>
                <a:cs typeface="Trebuchet MS"/>
              </a:rPr>
              <a:t>is</a:t>
            </a:r>
            <a:r>
              <a:rPr sz="2000" spc="-200" dirty="0">
                <a:latin typeface="Trebuchet MS"/>
                <a:cs typeface="Trebuchet MS"/>
              </a:rPr>
              <a:t> </a:t>
            </a:r>
            <a:r>
              <a:rPr sz="2000" spc="-130" dirty="0">
                <a:latin typeface="Trebuchet MS"/>
                <a:cs typeface="Trebuchet MS"/>
              </a:rPr>
              <a:t>the</a:t>
            </a:r>
            <a:r>
              <a:rPr sz="2000" spc="-195" dirty="0">
                <a:latin typeface="Trebuchet MS"/>
                <a:cs typeface="Trebuchet MS"/>
              </a:rPr>
              <a:t> </a:t>
            </a:r>
            <a:r>
              <a:rPr sz="2000" spc="-25" dirty="0">
                <a:latin typeface="Trebuchet MS"/>
                <a:cs typeface="Trebuchet MS"/>
              </a:rPr>
              <a:t>NYC </a:t>
            </a:r>
            <a:r>
              <a:rPr sz="2000" spc="-95" dirty="0">
                <a:latin typeface="Trebuchet MS"/>
                <a:cs typeface="Trebuchet MS"/>
              </a:rPr>
              <a:t>Health</a:t>
            </a:r>
            <a:r>
              <a:rPr sz="2000" spc="-204" dirty="0">
                <a:latin typeface="Trebuchet MS"/>
                <a:cs typeface="Trebuchet MS"/>
              </a:rPr>
              <a:t> </a:t>
            </a:r>
            <a:r>
              <a:rPr sz="2000" spc="-125" dirty="0">
                <a:latin typeface="Trebuchet MS"/>
                <a:cs typeface="Trebuchet MS"/>
              </a:rPr>
              <a:t>provider</a:t>
            </a:r>
            <a:r>
              <a:rPr sz="2000" spc="-180" dirty="0">
                <a:latin typeface="Trebuchet MS"/>
                <a:cs typeface="Trebuchet MS"/>
              </a:rPr>
              <a:t> </a:t>
            </a:r>
            <a:r>
              <a:rPr sz="2000" spc="-135" dirty="0">
                <a:latin typeface="Trebuchet MS"/>
                <a:cs typeface="Trebuchet MS"/>
              </a:rPr>
              <a:t>network.</a:t>
            </a:r>
            <a:r>
              <a:rPr sz="2000" spc="-170" dirty="0">
                <a:latin typeface="Trebuchet MS"/>
                <a:cs typeface="Trebuchet MS"/>
              </a:rPr>
              <a:t> </a:t>
            </a:r>
            <a:r>
              <a:rPr sz="2000" spc="-25" dirty="0">
                <a:latin typeface="Trebuchet MS"/>
                <a:cs typeface="Trebuchet MS"/>
              </a:rPr>
              <a:t>The </a:t>
            </a:r>
            <a:r>
              <a:rPr sz="2000" spc="-114" dirty="0">
                <a:latin typeface="Trebuchet MS"/>
                <a:cs typeface="Trebuchet MS"/>
              </a:rPr>
              <a:t>individual</a:t>
            </a:r>
            <a:r>
              <a:rPr sz="2000" spc="-165" dirty="0">
                <a:latin typeface="Trebuchet MS"/>
                <a:cs typeface="Trebuchet MS"/>
              </a:rPr>
              <a:t> </a:t>
            </a:r>
            <a:r>
              <a:rPr sz="2000" spc="-120" dirty="0">
                <a:latin typeface="Trebuchet MS"/>
                <a:cs typeface="Trebuchet MS"/>
              </a:rPr>
              <a:t>Provider</a:t>
            </a:r>
            <a:r>
              <a:rPr sz="2000" spc="-165" dirty="0">
                <a:latin typeface="Trebuchet MS"/>
                <a:cs typeface="Trebuchet MS"/>
              </a:rPr>
              <a:t> </a:t>
            </a:r>
            <a:r>
              <a:rPr sz="2000" spc="-95" dirty="0">
                <a:latin typeface="Trebuchet MS"/>
                <a:cs typeface="Trebuchet MS"/>
              </a:rPr>
              <a:t>Network</a:t>
            </a:r>
            <a:r>
              <a:rPr sz="2000" spc="-175" dirty="0">
                <a:latin typeface="Trebuchet MS"/>
                <a:cs typeface="Trebuchet MS"/>
              </a:rPr>
              <a:t> </a:t>
            </a:r>
            <a:r>
              <a:rPr sz="2000" spc="-20" dirty="0">
                <a:latin typeface="Trebuchet MS"/>
                <a:cs typeface="Trebuchet MS"/>
              </a:rPr>
              <a:t>Data </a:t>
            </a:r>
            <a:r>
              <a:rPr sz="2000" spc="-55" dirty="0">
                <a:latin typeface="Trebuchet MS"/>
                <a:cs typeface="Trebuchet MS"/>
              </a:rPr>
              <a:t>displays</a:t>
            </a:r>
            <a:r>
              <a:rPr sz="2000" spc="-200" dirty="0">
                <a:latin typeface="Trebuchet MS"/>
                <a:cs typeface="Trebuchet MS"/>
              </a:rPr>
              <a:t> </a:t>
            </a:r>
            <a:r>
              <a:rPr sz="2000" spc="-125" dirty="0">
                <a:latin typeface="Trebuchet MS"/>
                <a:cs typeface="Trebuchet MS"/>
              </a:rPr>
              <a:t>information</a:t>
            </a:r>
            <a:r>
              <a:rPr sz="2000" spc="-190" dirty="0">
                <a:latin typeface="Trebuchet MS"/>
                <a:cs typeface="Trebuchet MS"/>
              </a:rPr>
              <a:t> </a:t>
            </a:r>
            <a:r>
              <a:rPr sz="2000" spc="-70" dirty="0">
                <a:latin typeface="Trebuchet MS"/>
                <a:cs typeface="Trebuchet MS"/>
              </a:rPr>
              <a:t>on</a:t>
            </a:r>
            <a:r>
              <a:rPr sz="2000" spc="-170" dirty="0">
                <a:latin typeface="Trebuchet MS"/>
                <a:cs typeface="Trebuchet MS"/>
              </a:rPr>
              <a:t> </a:t>
            </a:r>
            <a:r>
              <a:rPr sz="2000" spc="-85" dirty="0">
                <a:latin typeface="Trebuchet MS"/>
                <a:cs typeface="Trebuchet MS"/>
              </a:rPr>
              <a:t>individuals </a:t>
            </a:r>
            <a:r>
              <a:rPr sz="2000" spc="-125" dirty="0">
                <a:latin typeface="Trebuchet MS"/>
                <a:cs typeface="Trebuchet MS"/>
              </a:rPr>
              <a:t>participating</a:t>
            </a:r>
            <a:r>
              <a:rPr sz="2000" spc="-190" dirty="0">
                <a:latin typeface="Trebuchet MS"/>
                <a:cs typeface="Trebuchet MS"/>
              </a:rPr>
              <a:t> </a:t>
            </a:r>
            <a:r>
              <a:rPr sz="2000" spc="-125" dirty="0">
                <a:latin typeface="Trebuchet MS"/>
                <a:cs typeface="Trebuchet MS"/>
              </a:rPr>
              <a:t>in</a:t>
            </a:r>
            <a:r>
              <a:rPr sz="2000" spc="-160" dirty="0">
                <a:latin typeface="Trebuchet MS"/>
                <a:cs typeface="Trebuchet MS"/>
              </a:rPr>
              <a:t> </a:t>
            </a:r>
            <a:r>
              <a:rPr sz="2000" spc="-110" dirty="0">
                <a:latin typeface="Trebuchet MS"/>
                <a:cs typeface="Trebuchet MS"/>
              </a:rPr>
              <a:t>health</a:t>
            </a:r>
            <a:r>
              <a:rPr sz="2000" spc="-170" dirty="0">
                <a:latin typeface="Trebuchet MS"/>
                <a:cs typeface="Trebuchet MS"/>
              </a:rPr>
              <a:t> </a:t>
            </a:r>
            <a:r>
              <a:rPr sz="2000" spc="-20" dirty="0">
                <a:latin typeface="Trebuchet MS"/>
                <a:cs typeface="Trebuchet MS"/>
              </a:rPr>
              <a:t>plan </a:t>
            </a:r>
            <a:r>
              <a:rPr sz="2000" spc="-114" dirty="0">
                <a:latin typeface="Trebuchet MS"/>
                <a:cs typeface="Trebuchet MS"/>
              </a:rPr>
              <a:t>networks.</a:t>
            </a:r>
            <a:r>
              <a:rPr sz="2000" spc="-175" dirty="0">
                <a:latin typeface="Trebuchet MS"/>
                <a:cs typeface="Trebuchet MS"/>
              </a:rPr>
              <a:t> </a:t>
            </a:r>
            <a:r>
              <a:rPr sz="2000" spc="-75" dirty="0">
                <a:latin typeface="Trebuchet MS"/>
                <a:cs typeface="Trebuchet MS"/>
              </a:rPr>
              <a:t>Plan</a:t>
            </a:r>
            <a:r>
              <a:rPr sz="2000" spc="-180" dirty="0">
                <a:latin typeface="Trebuchet MS"/>
                <a:cs typeface="Trebuchet MS"/>
              </a:rPr>
              <a:t> </a:t>
            </a:r>
            <a:r>
              <a:rPr sz="2000" spc="-120" dirty="0">
                <a:latin typeface="Trebuchet MS"/>
                <a:cs typeface="Trebuchet MS"/>
              </a:rPr>
              <a:t>network</a:t>
            </a:r>
            <a:r>
              <a:rPr sz="2000" spc="-145" dirty="0">
                <a:latin typeface="Trebuchet MS"/>
                <a:cs typeface="Trebuchet MS"/>
              </a:rPr>
              <a:t> </a:t>
            </a:r>
            <a:r>
              <a:rPr sz="2000" spc="-20" dirty="0">
                <a:latin typeface="Trebuchet MS"/>
                <a:cs typeface="Trebuchet MS"/>
              </a:rPr>
              <a:t>data</a:t>
            </a:r>
            <a:endParaRPr sz="2000" dirty="0">
              <a:latin typeface="Trebuchet MS"/>
              <a:cs typeface="Trebuchet MS"/>
            </a:endParaRPr>
          </a:p>
          <a:p>
            <a:pPr marL="12700" marR="114935">
              <a:lnSpc>
                <a:spcPct val="100000"/>
              </a:lnSpc>
              <a:spcBef>
                <a:spcPts val="5"/>
              </a:spcBef>
            </a:pPr>
            <a:r>
              <a:rPr sz="2000" spc="-30" dirty="0">
                <a:latin typeface="Trebuchet MS"/>
                <a:cs typeface="Trebuchet MS"/>
              </a:rPr>
              <a:t>is</a:t>
            </a:r>
            <a:r>
              <a:rPr sz="2000" spc="-170" dirty="0">
                <a:latin typeface="Trebuchet MS"/>
                <a:cs typeface="Trebuchet MS"/>
              </a:rPr>
              <a:t> </a:t>
            </a:r>
            <a:r>
              <a:rPr sz="2000" spc="-90" dirty="0">
                <a:latin typeface="Trebuchet MS"/>
                <a:cs typeface="Trebuchet MS"/>
              </a:rPr>
              <a:t>collected</a:t>
            </a:r>
            <a:r>
              <a:rPr sz="2000" spc="-200" dirty="0">
                <a:latin typeface="Trebuchet MS"/>
                <a:cs typeface="Trebuchet MS"/>
              </a:rPr>
              <a:t> </a:t>
            </a:r>
            <a:r>
              <a:rPr sz="2000" spc="-130" dirty="0">
                <a:latin typeface="Trebuchet MS"/>
                <a:cs typeface="Trebuchet MS"/>
              </a:rPr>
              <a:t>from</a:t>
            </a:r>
            <a:r>
              <a:rPr sz="2000" spc="-200" dirty="0">
                <a:latin typeface="Trebuchet MS"/>
                <a:cs typeface="Trebuchet MS"/>
              </a:rPr>
              <a:t> </a:t>
            </a:r>
            <a:r>
              <a:rPr sz="2000" spc="-10" dirty="0">
                <a:latin typeface="Trebuchet MS"/>
                <a:cs typeface="Trebuchet MS"/>
              </a:rPr>
              <a:t>Medicaid, </a:t>
            </a:r>
            <a:r>
              <a:rPr sz="2000" spc="-95" dirty="0">
                <a:latin typeface="Trebuchet MS"/>
                <a:cs typeface="Trebuchet MS"/>
              </a:rPr>
              <a:t>Commercial,</a:t>
            </a:r>
            <a:r>
              <a:rPr sz="2000" spc="-215" dirty="0">
                <a:latin typeface="Trebuchet MS"/>
                <a:cs typeface="Trebuchet MS"/>
              </a:rPr>
              <a:t> </a:t>
            </a:r>
            <a:r>
              <a:rPr sz="2000" spc="-85" dirty="0">
                <a:latin typeface="Trebuchet MS"/>
                <a:cs typeface="Trebuchet MS"/>
              </a:rPr>
              <a:t>and</a:t>
            </a:r>
            <a:r>
              <a:rPr sz="2000" spc="-160" dirty="0">
                <a:latin typeface="Trebuchet MS"/>
                <a:cs typeface="Trebuchet MS"/>
              </a:rPr>
              <a:t> </a:t>
            </a:r>
            <a:r>
              <a:rPr sz="2000" spc="-90" dirty="0">
                <a:latin typeface="Trebuchet MS"/>
                <a:cs typeface="Trebuchet MS"/>
              </a:rPr>
              <a:t>Exchange</a:t>
            </a:r>
            <a:r>
              <a:rPr sz="2000" spc="-185" dirty="0">
                <a:latin typeface="Trebuchet MS"/>
                <a:cs typeface="Trebuchet MS"/>
              </a:rPr>
              <a:t> </a:t>
            </a:r>
            <a:r>
              <a:rPr sz="2000" spc="-20" dirty="0">
                <a:latin typeface="Trebuchet MS"/>
                <a:cs typeface="Trebuchet MS"/>
              </a:rPr>
              <a:t>plans </a:t>
            </a:r>
            <a:r>
              <a:rPr sz="2000" spc="-125" dirty="0">
                <a:latin typeface="Trebuchet MS"/>
                <a:cs typeface="Trebuchet MS"/>
              </a:rPr>
              <a:t>quarterly</a:t>
            </a:r>
            <a:r>
              <a:rPr sz="2000" spc="-195" dirty="0">
                <a:latin typeface="Trebuchet MS"/>
                <a:cs typeface="Trebuchet MS"/>
              </a:rPr>
              <a:t> </a:t>
            </a:r>
            <a:r>
              <a:rPr sz="2000" spc="-120" dirty="0">
                <a:latin typeface="Trebuchet MS"/>
                <a:cs typeface="Trebuchet MS"/>
              </a:rPr>
              <a:t>by</a:t>
            </a:r>
            <a:r>
              <a:rPr sz="2000" spc="-180" dirty="0">
                <a:latin typeface="Trebuchet MS"/>
                <a:cs typeface="Trebuchet MS"/>
              </a:rPr>
              <a:t> </a:t>
            </a:r>
            <a:r>
              <a:rPr sz="2000" spc="-130" dirty="0">
                <a:latin typeface="Trebuchet MS"/>
                <a:cs typeface="Trebuchet MS"/>
              </a:rPr>
              <a:t>the</a:t>
            </a:r>
            <a:r>
              <a:rPr sz="2000" spc="-170" dirty="0">
                <a:latin typeface="Trebuchet MS"/>
                <a:cs typeface="Trebuchet MS"/>
              </a:rPr>
              <a:t> </a:t>
            </a:r>
            <a:r>
              <a:rPr sz="2000" spc="-105" dirty="0">
                <a:latin typeface="Trebuchet MS"/>
                <a:cs typeface="Trebuchet MS"/>
              </a:rPr>
              <a:t>Department</a:t>
            </a:r>
            <a:r>
              <a:rPr sz="2000" spc="-215" dirty="0">
                <a:latin typeface="Trebuchet MS"/>
                <a:cs typeface="Trebuchet MS"/>
              </a:rPr>
              <a:t> </a:t>
            </a:r>
            <a:r>
              <a:rPr sz="2000" spc="-25" dirty="0">
                <a:latin typeface="Trebuchet MS"/>
                <a:cs typeface="Trebuchet MS"/>
              </a:rPr>
              <a:t>of </a:t>
            </a:r>
            <a:r>
              <a:rPr sz="2000" spc="-120" dirty="0">
                <a:latin typeface="Trebuchet MS"/>
                <a:cs typeface="Trebuchet MS"/>
              </a:rPr>
              <a:t>Health,</a:t>
            </a:r>
            <a:r>
              <a:rPr sz="2000" spc="-185" dirty="0">
                <a:latin typeface="Trebuchet MS"/>
                <a:cs typeface="Trebuchet MS"/>
              </a:rPr>
              <a:t> </a:t>
            </a:r>
            <a:r>
              <a:rPr sz="2000" spc="-110" dirty="0">
                <a:latin typeface="Trebuchet MS"/>
                <a:cs typeface="Trebuchet MS"/>
              </a:rPr>
              <a:t>including</a:t>
            </a:r>
            <a:r>
              <a:rPr sz="2000" spc="-155" dirty="0">
                <a:latin typeface="Trebuchet MS"/>
                <a:cs typeface="Trebuchet MS"/>
              </a:rPr>
              <a:t> </a:t>
            </a:r>
            <a:r>
              <a:rPr sz="2000" spc="-95" dirty="0">
                <a:latin typeface="Trebuchet MS"/>
                <a:cs typeface="Trebuchet MS"/>
              </a:rPr>
              <a:t>managed</a:t>
            </a:r>
            <a:r>
              <a:rPr sz="2000" spc="-190" dirty="0">
                <a:latin typeface="Trebuchet MS"/>
                <a:cs typeface="Trebuchet MS"/>
              </a:rPr>
              <a:t> </a:t>
            </a:r>
            <a:r>
              <a:rPr sz="2000" spc="-20" dirty="0">
                <a:latin typeface="Trebuchet MS"/>
                <a:cs typeface="Trebuchet MS"/>
              </a:rPr>
              <a:t>care </a:t>
            </a:r>
            <a:r>
              <a:rPr sz="2000" spc="-90" dirty="0">
                <a:latin typeface="Trebuchet MS"/>
                <a:cs typeface="Trebuchet MS"/>
              </a:rPr>
              <a:t>plans,</a:t>
            </a:r>
            <a:r>
              <a:rPr sz="2000" spc="-210" dirty="0">
                <a:latin typeface="Trebuchet MS"/>
                <a:cs typeface="Trebuchet MS"/>
              </a:rPr>
              <a:t> </a:t>
            </a:r>
            <a:r>
              <a:rPr sz="2000" dirty="0">
                <a:latin typeface="Trebuchet MS"/>
                <a:cs typeface="Trebuchet MS"/>
              </a:rPr>
              <a:t>as</a:t>
            </a:r>
            <a:r>
              <a:rPr sz="2000" spc="-180" dirty="0">
                <a:latin typeface="Trebuchet MS"/>
                <a:cs typeface="Trebuchet MS"/>
              </a:rPr>
              <a:t> </a:t>
            </a:r>
            <a:r>
              <a:rPr sz="2000" spc="-105" dirty="0">
                <a:latin typeface="Trebuchet MS"/>
                <a:cs typeface="Trebuchet MS"/>
              </a:rPr>
              <a:t>well</a:t>
            </a:r>
            <a:r>
              <a:rPr sz="2000" spc="-185" dirty="0">
                <a:latin typeface="Trebuchet MS"/>
                <a:cs typeface="Trebuchet MS"/>
              </a:rPr>
              <a:t> </a:t>
            </a:r>
            <a:r>
              <a:rPr sz="2000" dirty="0">
                <a:latin typeface="Trebuchet MS"/>
                <a:cs typeface="Trebuchet MS"/>
              </a:rPr>
              <a:t>as</a:t>
            </a:r>
            <a:r>
              <a:rPr sz="2000" spc="-180" dirty="0">
                <a:latin typeface="Trebuchet MS"/>
                <a:cs typeface="Trebuchet MS"/>
              </a:rPr>
              <a:t> </a:t>
            </a:r>
            <a:r>
              <a:rPr sz="2000" spc="-55" dirty="0">
                <a:latin typeface="Trebuchet MS"/>
                <a:cs typeface="Trebuchet MS"/>
              </a:rPr>
              <a:t>PPO/EPO</a:t>
            </a:r>
            <a:r>
              <a:rPr sz="2000" spc="-225" dirty="0">
                <a:latin typeface="Trebuchet MS"/>
                <a:cs typeface="Trebuchet MS"/>
              </a:rPr>
              <a:t> </a:t>
            </a:r>
            <a:r>
              <a:rPr sz="2000" spc="-50" dirty="0">
                <a:latin typeface="Trebuchet MS"/>
                <a:cs typeface="Trebuchet MS"/>
              </a:rPr>
              <a:t>plans.</a:t>
            </a:r>
            <a:endParaRPr sz="2000" dirty="0">
              <a:latin typeface="Trebuchet MS"/>
              <a:cs typeface="Trebuchet MS"/>
            </a:endParaRPr>
          </a:p>
        </p:txBody>
      </p:sp>
      <p:pic>
        <p:nvPicPr>
          <p:cNvPr id="4" name="object 4"/>
          <p:cNvPicPr/>
          <p:nvPr/>
        </p:nvPicPr>
        <p:blipFill>
          <a:blip r:embed="rId2" cstate="print"/>
          <a:stretch>
            <a:fillRect/>
          </a:stretch>
        </p:blipFill>
        <p:spPr>
          <a:xfrm>
            <a:off x="4910328" y="902233"/>
            <a:ext cx="6481572" cy="505345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53670">
              <a:lnSpc>
                <a:spcPts val="2125"/>
              </a:lnSpc>
            </a:pPr>
            <a:fld id="{81D60167-4931-47E6-BA6A-407CBD079E47}" type="slidenum">
              <a:rPr spc="-50" dirty="0">
                <a:solidFill>
                  <a:srgbClr val="000000"/>
                </a:solidFill>
              </a:rPr>
              <a:t>4</a:t>
            </a:fld>
            <a:endParaRPr spc="-50"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0050" y="2153539"/>
            <a:ext cx="4867910" cy="1671955"/>
          </a:xfrm>
          <a:prstGeom prst="rect">
            <a:avLst/>
          </a:prstGeom>
        </p:spPr>
        <p:txBody>
          <a:bodyPr vert="horz" wrap="square" lIns="0" tIns="12700" rIns="0" bIns="0" rtlCol="0">
            <a:spAutoFit/>
          </a:bodyPr>
          <a:lstStyle/>
          <a:p>
            <a:pPr marL="12700" marR="5080" indent="691515">
              <a:lnSpc>
                <a:spcPct val="100000"/>
              </a:lnSpc>
              <a:spcBef>
                <a:spcPts val="100"/>
              </a:spcBef>
            </a:pPr>
            <a:r>
              <a:rPr sz="5400" spc="-305" dirty="0"/>
              <a:t>EXPLORATORY </a:t>
            </a:r>
            <a:r>
              <a:rPr sz="5400" spc="-180" dirty="0"/>
              <a:t>DATA</a:t>
            </a:r>
            <a:r>
              <a:rPr sz="5400" spc="-425" dirty="0"/>
              <a:t> </a:t>
            </a:r>
            <a:r>
              <a:rPr sz="5400" spc="-10" dirty="0"/>
              <a:t>ANALYSIS</a:t>
            </a:r>
            <a:endParaRPr sz="5400"/>
          </a:p>
        </p:txBody>
      </p:sp>
      <p:sp>
        <p:nvSpPr>
          <p:cNvPr id="3" name="object 3"/>
          <p:cNvSpPr txBox="1"/>
          <p:nvPr/>
        </p:nvSpPr>
        <p:spPr>
          <a:xfrm>
            <a:off x="8081898" y="1713305"/>
            <a:ext cx="2759075" cy="3380104"/>
          </a:xfrm>
          <a:prstGeom prst="rect">
            <a:avLst/>
          </a:prstGeom>
        </p:spPr>
        <p:txBody>
          <a:bodyPr vert="horz" wrap="square" lIns="0" tIns="13335" rIns="0" bIns="0" rtlCol="0">
            <a:spAutoFit/>
          </a:bodyPr>
          <a:lstStyle/>
          <a:p>
            <a:pPr marL="12700" marR="5080">
              <a:lnSpc>
                <a:spcPct val="110000"/>
              </a:lnSpc>
              <a:spcBef>
                <a:spcPts val="105"/>
              </a:spcBef>
            </a:pPr>
            <a:r>
              <a:rPr sz="2000" spc="-45" dirty="0">
                <a:latin typeface="Trebuchet MS"/>
                <a:cs typeface="Trebuchet MS"/>
              </a:rPr>
              <a:t>We</a:t>
            </a:r>
            <a:r>
              <a:rPr sz="2000" spc="-204" dirty="0">
                <a:latin typeface="Trebuchet MS"/>
                <a:cs typeface="Trebuchet MS"/>
              </a:rPr>
              <a:t> </a:t>
            </a:r>
            <a:r>
              <a:rPr sz="2000" spc="-105" dirty="0">
                <a:latin typeface="Trebuchet MS"/>
                <a:cs typeface="Trebuchet MS"/>
              </a:rPr>
              <a:t>have</a:t>
            </a:r>
            <a:r>
              <a:rPr sz="2000" spc="-190" dirty="0">
                <a:latin typeface="Trebuchet MS"/>
                <a:cs typeface="Trebuchet MS"/>
              </a:rPr>
              <a:t> </a:t>
            </a:r>
            <a:r>
              <a:rPr sz="2000" spc="-90" dirty="0">
                <a:latin typeface="Trebuchet MS"/>
                <a:cs typeface="Trebuchet MS"/>
              </a:rPr>
              <a:t>cleaned</a:t>
            </a:r>
            <a:r>
              <a:rPr sz="2000" spc="-210" dirty="0">
                <a:latin typeface="Trebuchet MS"/>
                <a:cs typeface="Trebuchet MS"/>
              </a:rPr>
              <a:t> </a:t>
            </a:r>
            <a:r>
              <a:rPr sz="2000" spc="-130" dirty="0">
                <a:latin typeface="Trebuchet MS"/>
                <a:cs typeface="Trebuchet MS"/>
              </a:rPr>
              <a:t>the</a:t>
            </a:r>
            <a:r>
              <a:rPr sz="2000" spc="-195" dirty="0">
                <a:latin typeface="Trebuchet MS"/>
                <a:cs typeface="Trebuchet MS"/>
              </a:rPr>
              <a:t> </a:t>
            </a:r>
            <a:r>
              <a:rPr sz="2000" spc="-20" dirty="0">
                <a:latin typeface="Trebuchet MS"/>
                <a:cs typeface="Trebuchet MS"/>
              </a:rPr>
              <a:t>data </a:t>
            </a:r>
            <a:r>
              <a:rPr sz="2000" spc="-60" dirty="0">
                <a:latin typeface="Trebuchet MS"/>
                <a:cs typeface="Trebuchet MS"/>
              </a:rPr>
              <a:t>set</a:t>
            </a:r>
            <a:r>
              <a:rPr sz="2000" spc="-190" dirty="0">
                <a:latin typeface="Trebuchet MS"/>
                <a:cs typeface="Trebuchet MS"/>
              </a:rPr>
              <a:t> </a:t>
            </a:r>
            <a:r>
              <a:rPr sz="2000" spc="-85" dirty="0">
                <a:latin typeface="Trebuchet MS"/>
                <a:cs typeface="Trebuchet MS"/>
              </a:rPr>
              <a:t>and</a:t>
            </a:r>
            <a:r>
              <a:rPr sz="2000" spc="-195" dirty="0">
                <a:latin typeface="Trebuchet MS"/>
                <a:cs typeface="Trebuchet MS"/>
              </a:rPr>
              <a:t> </a:t>
            </a:r>
            <a:r>
              <a:rPr sz="2000" spc="-95" dirty="0">
                <a:latin typeface="Trebuchet MS"/>
                <a:cs typeface="Trebuchet MS"/>
              </a:rPr>
              <a:t>separated</a:t>
            </a:r>
            <a:r>
              <a:rPr sz="2000" spc="-229" dirty="0">
                <a:latin typeface="Trebuchet MS"/>
                <a:cs typeface="Trebuchet MS"/>
              </a:rPr>
              <a:t> </a:t>
            </a:r>
            <a:r>
              <a:rPr sz="2000" spc="-25" dirty="0">
                <a:latin typeface="Trebuchet MS"/>
                <a:cs typeface="Trebuchet MS"/>
              </a:rPr>
              <a:t>all </a:t>
            </a:r>
            <a:r>
              <a:rPr sz="2000" spc="-85" dirty="0">
                <a:latin typeface="Trebuchet MS"/>
                <a:cs typeface="Trebuchet MS"/>
              </a:rPr>
              <a:t>Numerical</a:t>
            </a:r>
            <a:r>
              <a:rPr sz="2000" spc="-175" dirty="0">
                <a:latin typeface="Trebuchet MS"/>
                <a:cs typeface="Trebuchet MS"/>
              </a:rPr>
              <a:t> </a:t>
            </a:r>
            <a:r>
              <a:rPr sz="2000" spc="-85" dirty="0">
                <a:latin typeface="Trebuchet MS"/>
                <a:cs typeface="Trebuchet MS"/>
              </a:rPr>
              <a:t>and</a:t>
            </a:r>
            <a:r>
              <a:rPr sz="2000" spc="-175" dirty="0">
                <a:latin typeface="Trebuchet MS"/>
                <a:cs typeface="Trebuchet MS"/>
              </a:rPr>
              <a:t> </a:t>
            </a:r>
            <a:r>
              <a:rPr sz="2000" spc="-85" dirty="0">
                <a:latin typeface="Trebuchet MS"/>
                <a:cs typeface="Trebuchet MS"/>
              </a:rPr>
              <a:t>Categorical </a:t>
            </a:r>
            <a:r>
              <a:rPr sz="2000" spc="-30" dirty="0">
                <a:latin typeface="Trebuchet MS"/>
                <a:cs typeface="Trebuchet MS"/>
              </a:rPr>
              <a:t>Columns</a:t>
            </a:r>
            <a:r>
              <a:rPr sz="2000" spc="-215" dirty="0">
                <a:latin typeface="Trebuchet MS"/>
                <a:cs typeface="Trebuchet MS"/>
              </a:rPr>
              <a:t> </a:t>
            </a:r>
            <a:r>
              <a:rPr sz="2000" spc="-130" dirty="0">
                <a:latin typeface="Trebuchet MS"/>
                <a:cs typeface="Trebuchet MS"/>
              </a:rPr>
              <a:t>to</a:t>
            </a:r>
            <a:r>
              <a:rPr sz="2000" spc="-190" dirty="0">
                <a:latin typeface="Trebuchet MS"/>
                <a:cs typeface="Trebuchet MS"/>
              </a:rPr>
              <a:t> </a:t>
            </a:r>
            <a:r>
              <a:rPr sz="2000" spc="-75" dirty="0">
                <a:latin typeface="Trebuchet MS"/>
                <a:cs typeface="Trebuchet MS"/>
              </a:rPr>
              <a:t>do</a:t>
            </a:r>
            <a:r>
              <a:rPr sz="2000" spc="-200" dirty="0">
                <a:latin typeface="Trebuchet MS"/>
                <a:cs typeface="Trebuchet MS"/>
              </a:rPr>
              <a:t> </a:t>
            </a:r>
            <a:r>
              <a:rPr sz="2000" spc="-20" dirty="0">
                <a:latin typeface="Trebuchet MS"/>
                <a:cs typeface="Trebuchet MS"/>
              </a:rPr>
              <a:t>both </a:t>
            </a:r>
            <a:r>
              <a:rPr sz="2000" spc="-120" dirty="0">
                <a:latin typeface="Trebuchet MS"/>
                <a:cs typeface="Trebuchet MS"/>
              </a:rPr>
              <a:t>Univariate</a:t>
            </a:r>
            <a:r>
              <a:rPr sz="2000" spc="-175" dirty="0">
                <a:latin typeface="Trebuchet MS"/>
                <a:cs typeface="Trebuchet MS"/>
              </a:rPr>
              <a:t> </a:t>
            </a:r>
            <a:r>
              <a:rPr sz="2000" spc="-50" dirty="0">
                <a:latin typeface="Trebuchet MS"/>
                <a:cs typeface="Trebuchet MS"/>
              </a:rPr>
              <a:t>Analysis</a:t>
            </a:r>
            <a:r>
              <a:rPr sz="2000" spc="-170" dirty="0">
                <a:latin typeface="Trebuchet MS"/>
                <a:cs typeface="Trebuchet MS"/>
              </a:rPr>
              <a:t> </a:t>
            </a:r>
            <a:r>
              <a:rPr sz="2000" spc="-25" dirty="0">
                <a:latin typeface="Trebuchet MS"/>
                <a:cs typeface="Trebuchet MS"/>
              </a:rPr>
              <a:t>and </a:t>
            </a:r>
            <a:r>
              <a:rPr sz="2000" spc="-114" dirty="0">
                <a:latin typeface="Trebuchet MS"/>
                <a:cs typeface="Trebuchet MS"/>
              </a:rPr>
              <a:t>Multivariate</a:t>
            </a:r>
            <a:r>
              <a:rPr sz="2000" spc="-185" dirty="0">
                <a:latin typeface="Trebuchet MS"/>
                <a:cs typeface="Trebuchet MS"/>
              </a:rPr>
              <a:t> </a:t>
            </a:r>
            <a:r>
              <a:rPr sz="2000" spc="-75" dirty="0">
                <a:latin typeface="Trebuchet MS"/>
                <a:cs typeface="Trebuchet MS"/>
              </a:rPr>
              <a:t>Analysis,</a:t>
            </a:r>
            <a:r>
              <a:rPr sz="2000" spc="-175" dirty="0">
                <a:latin typeface="Trebuchet MS"/>
                <a:cs typeface="Trebuchet MS"/>
              </a:rPr>
              <a:t> </a:t>
            </a:r>
            <a:r>
              <a:rPr sz="2000" spc="-25" dirty="0">
                <a:latin typeface="Trebuchet MS"/>
                <a:cs typeface="Trebuchet MS"/>
              </a:rPr>
              <a:t>to </a:t>
            </a:r>
            <a:r>
              <a:rPr sz="2000" spc="-135" dirty="0">
                <a:latin typeface="Trebuchet MS"/>
                <a:cs typeface="Trebuchet MS"/>
              </a:rPr>
              <a:t>extract</a:t>
            </a:r>
            <a:r>
              <a:rPr sz="2000" spc="-195" dirty="0">
                <a:latin typeface="Trebuchet MS"/>
                <a:cs typeface="Trebuchet MS"/>
              </a:rPr>
              <a:t> </a:t>
            </a:r>
            <a:r>
              <a:rPr sz="2000" spc="-35" dirty="0">
                <a:latin typeface="Trebuchet MS"/>
                <a:cs typeface="Trebuchet MS"/>
              </a:rPr>
              <a:t>some</a:t>
            </a:r>
            <a:r>
              <a:rPr sz="2000" spc="-195" dirty="0">
                <a:latin typeface="Trebuchet MS"/>
                <a:cs typeface="Trebuchet MS"/>
              </a:rPr>
              <a:t> </a:t>
            </a:r>
            <a:r>
              <a:rPr sz="2000" spc="-10" dirty="0">
                <a:latin typeface="Trebuchet MS"/>
                <a:cs typeface="Trebuchet MS"/>
              </a:rPr>
              <a:t>useful </a:t>
            </a:r>
            <a:r>
              <a:rPr sz="2000" spc="-125" dirty="0">
                <a:latin typeface="Trebuchet MS"/>
                <a:cs typeface="Trebuchet MS"/>
              </a:rPr>
              <a:t>information</a:t>
            </a:r>
            <a:r>
              <a:rPr sz="2000" spc="-180" dirty="0">
                <a:latin typeface="Trebuchet MS"/>
                <a:cs typeface="Trebuchet MS"/>
              </a:rPr>
              <a:t> </a:t>
            </a:r>
            <a:r>
              <a:rPr sz="2000" spc="-125" dirty="0">
                <a:latin typeface="Trebuchet MS"/>
                <a:cs typeface="Trebuchet MS"/>
              </a:rPr>
              <a:t>from</a:t>
            </a:r>
            <a:r>
              <a:rPr sz="2000" spc="-160" dirty="0">
                <a:latin typeface="Trebuchet MS"/>
                <a:cs typeface="Trebuchet MS"/>
              </a:rPr>
              <a:t> </a:t>
            </a:r>
            <a:r>
              <a:rPr sz="2000" spc="-25" dirty="0">
                <a:latin typeface="Trebuchet MS"/>
                <a:cs typeface="Trebuchet MS"/>
              </a:rPr>
              <a:t>the </a:t>
            </a:r>
            <a:r>
              <a:rPr sz="2000" spc="-90" dirty="0">
                <a:latin typeface="Trebuchet MS"/>
                <a:cs typeface="Trebuchet MS"/>
              </a:rPr>
              <a:t>dataset</a:t>
            </a:r>
            <a:r>
              <a:rPr sz="2000" spc="-195" dirty="0">
                <a:latin typeface="Trebuchet MS"/>
                <a:cs typeface="Trebuchet MS"/>
              </a:rPr>
              <a:t> </a:t>
            </a:r>
            <a:r>
              <a:rPr sz="2000" spc="-130" dirty="0">
                <a:latin typeface="Trebuchet MS"/>
                <a:cs typeface="Trebuchet MS"/>
              </a:rPr>
              <a:t>to</a:t>
            </a:r>
            <a:r>
              <a:rPr sz="2000" spc="-180" dirty="0">
                <a:latin typeface="Trebuchet MS"/>
                <a:cs typeface="Trebuchet MS"/>
              </a:rPr>
              <a:t> </a:t>
            </a:r>
            <a:r>
              <a:rPr sz="2000" spc="-95" dirty="0">
                <a:latin typeface="Trebuchet MS"/>
                <a:cs typeface="Trebuchet MS"/>
              </a:rPr>
              <a:t>understand</a:t>
            </a:r>
            <a:r>
              <a:rPr sz="2000" spc="-160" dirty="0">
                <a:latin typeface="Trebuchet MS"/>
                <a:cs typeface="Trebuchet MS"/>
              </a:rPr>
              <a:t> </a:t>
            </a:r>
            <a:r>
              <a:rPr sz="2000" spc="-25" dirty="0">
                <a:latin typeface="Trebuchet MS"/>
                <a:cs typeface="Trebuchet MS"/>
              </a:rPr>
              <a:t>it </a:t>
            </a:r>
            <a:r>
              <a:rPr sz="2000" spc="-100" dirty="0">
                <a:latin typeface="Trebuchet MS"/>
                <a:cs typeface="Trebuchet MS"/>
              </a:rPr>
              <a:t>well</a:t>
            </a:r>
            <a:r>
              <a:rPr sz="2000" spc="-210" dirty="0">
                <a:latin typeface="Trebuchet MS"/>
                <a:cs typeface="Trebuchet MS"/>
              </a:rPr>
              <a:t> </a:t>
            </a:r>
            <a:r>
              <a:rPr sz="2000" spc="-305" dirty="0">
                <a:latin typeface="Trebuchet MS"/>
                <a:cs typeface="Trebuchet MS"/>
              </a:rPr>
              <a:t>.</a:t>
            </a:r>
            <a:endParaRPr sz="2000" dirty="0">
              <a:latin typeface="Trebuchet MS"/>
              <a:cs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724905" y="724662"/>
            <a:ext cx="5706745" cy="0"/>
          </a:xfrm>
          <a:custGeom>
            <a:avLst/>
            <a:gdLst/>
            <a:ahLst/>
            <a:cxnLst/>
            <a:rect l="l" t="t" r="r" b="b"/>
            <a:pathLst>
              <a:path w="5706745">
                <a:moveTo>
                  <a:pt x="0" y="0"/>
                </a:moveTo>
                <a:lnTo>
                  <a:pt x="5706237" y="0"/>
                </a:lnTo>
              </a:path>
            </a:pathLst>
          </a:custGeom>
          <a:ln w="44450">
            <a:solidFill>
              <a:srgbClr val="000000"/>
            </a:solidFill>
          </a:ln>
        </p:spPr>
        <p:txBody>
          <a:bodyPr wrap="square" lIns="0" tIns="0" rIns="0" bIns="0" rtlCol="0"/>
          <a:lstStyle/>
          <a:p>
            <a:endParaRPr/>
          </a:p>
        </p:txBody>
      </p:sp>
      <p:sp>
        <p:nvSpPr>
          <p:cNvPr id="3" name="object 3"/>
          <p:cNvSpPr/>
          <p:nvPr/>
        </p:nvSpPr>
        <p:spPr>
          <a:xfrm>
            <a:off x="5724144" y="6134100"/>
            <a:ext cx="5668645" cy="0"/>
          </a:xfrm>
          <a:custGeom>
            <a:avLst/>
            <a:gdLst/>
            <a:ahLst/>
            <a:cxnLst/>
            <a:rect l="l" t="t" r="r" b="b"/>
            <a:pathLst>
              <a:path w="5668645">
                <a:moveTo>
                  <a:pt x="0" y="0"/>
                </a:moveTo>
                <a:lnTo>
                  <a:pt x="5668136" y="0"/>
                </a:lnTo>
              </a:path>
            </a:pathLst>
          </a:custGeom>
          <a:ln w="12700">
            <a:solidFill>
              <a:srgbClr val="0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0" y="0"/>
            <a:ext cx="4876799" cy="6857997"/>
          </a:xfrm>
          <a:prstGeom prst="rect">
            <a:avLst/>
          </a:prstGeom>
        </p:spPr>
      </p:pic>
      <p:grpSp>
        <p:nvGrpSpPr>
          <p:cNvPr id="5" name="object 5"/>
          <p:cNvGrpSpPr/>
          <p:nvPr/>
        </p:nvGrpSpPr>
        <p:grpSpPr>
          <a:xfrm>
            <a:off x="5818468" y="882396"/>
            <a:ext cx="6104890" cy="704850"/>
            <a:chOff x="5818468" y="882396"/>
            <a:chExt cx="6104890" cy="704850"/>
          </a:xfrm>
        </p:grpSpPr>
        <p:pic>
          <p:nvPicPr>
            <p:cNvPr id="6" name="object 6"/>
            <p:cNvPicPr/>
            <p:nvPr/>
          </p:nvPicPr>
          <p:blipFill>
            <a:blip r:embed="rId3" cstate="print"/>
            <a:stretch>
              <a:fillRect/>
            </a:stretch>
          </p:blipFill>
          <p:spPr>
            <a:xfrm>
              <a:off x="5818468" y="1055197"/>
              <a:ext cx="2608700" cy="263750"/>
            </a:xfrm>
            <a:prstGeom prst="rect">
              <a:avLst/>
            </a:prstGeom>
          </p:spPr>
        </p:pic>
        <p:pic>
          <p:nvPicPr>
            <p:cNvPr id="7" name="object 7"/>
            <p:cNvPicPr/>
            <p:nvPr/>
          </p:nvPicPr>
          <p:blipFill>
            <a:blip r:embed="rId4" cstate="print"/>
            <a:stretch>
              <a:fillRect/>
            </a:stretch>
          </p:blipFill>
          <p:spPr>
            <a:xfrm>
              <a:off x="8296656" y="882396"/>
              <a:ext cx="526542" cy="704850"/>
            </a:xfrm>
            <a:prstGeom prst="rect">
              <a:avLst/>
            </a:prstGeom>
          </p:spPr>
        </p:pic>
        <p:pic>
          <p:nvPicPr>
            <p:cNvPr id="8" name="object 8"/>
            <p:cNvPicPr/>
            <p:nvPr/>
          </p:nvPicPr>
          <p:blipFill>
            <a:blip r:embed="rId5" cstate="print"/>
            <a:stretch>
              <a:fillRect/>
            </a:stretch>
          </p:blipFill>
          <p:spPr>
            <a:xfrm>
              <a:off x="8481060" y="882396"/>
              <a:ext cx="3441954" cy="704850"/>
            </a:xfrm>
            <a:prstGeom prst="rect">
              <a:avLst/>
            </a:prstGeom>
          </p:spPr>
        </p:pic>
      </p:grpSp>
      <p:sp>
        <p:nvSpPr>
          <p:cNvPr id="9" name="object 9"/>
          <p:cNvSpPr txBox="1">
            <a:spLocks noGrp="1"/>
          </p:cNvSpPr>
          <p:nvPr>
            <p:ph type="title"/>
          </p:nvPr>
        </p:nvSpPr>
        <p:spPr>
          <a:xfrm>
            <a:off x="5780913" y="959942"/>
            <a:ext cx="5928360" cy="406400"/>
          </a:xfrm>
          <a:prstGeom prst="rect">
            <a:avLst/>
          </a:prstGeom>
        </p:spPr>
        <p:txBody>
          <a:bodyPr vert="horz" wrap="square" lIns="0" tIns="12065" rIns="0" bIns="0" rtlCol="0">
            <a:spAutoFit/>
          </a:bodyPr>
          <a:lstStyle/>
          <a:p>
            <a:pPr marL="12700">
              <a:lnSpc>
                <a:spcPct val="100000"/>
              </a:lnSpc>
              <a:spcBef>
                <a:spcPts val="95"/>
              </a:spcBef>
            </a:pPr>
            <a:r>
              <a:rPr sz="2500" spc="-85" dirty="0"/>
              <a:t>PROJECT</a:t>
            </a:r>
            <a:r>
              <a:rPr sz="2500" spc="-140" dirty="0"/>
              <a:t> </a:t>
            </a:r>
            <a:r>
              <a:rPr sz="2500" spc="-90" dirty="0"/>
              <a:t>SPONSOR</a:t>
            </a:r>
            <a:r>
              <a:rPr sz="2500" spc="-110" dirty="0"/>
              <a:t> </a:t>
            </a:r>
            <a:r>
              <a:rPr sz="2500" spc="-90" dirty="0"/>
              <a:t>-</a:t>
            </a:r>
            <a:r>
              <a:rPr sz="2500" spc="-145" dirty="0"/>
              <a:t> </a:t>
            </a:r>
            <a:r>
              <a:rPr sz="2500" spc="-180" dirty="0"/>
              <a:t>DR.</a:t>
            </a:r>
            <a:r>
              <a:rPr sz="2500" spc="-165" dirty="0"/>
              <a:t> </a:t>
            </a:r>
            <a:r>
              <a:rPr sz="2500" spc="-80" dirty="0"/>
              <a:t>MARTINEZ</a:t>
            </a:r>
            <a:r>
              <a:rPr sz="2500" spc="-100" dirty="0"/>
              <a:t> </a:t>
            </a:r>
            <a:r>
              <a:rPr sz="2500" spc="-45" dirty="0"/>
              <a:t>GOMEZ</a:t>
            </a:r>
            <a:endParaRPr sz="2500" dirty="0"/>
          </a:p>
        </p:txBody>
      </p:sp>
      <p:pic>
        <p:nvPicPr>
          <p:cNvPr id="10" name="object 10"/>
          <p:cNvPicPr/>
          <p:nvPr/>
        </p:nvPicPr>
        <p:blipFill>
          <a:blip r:embed="rId6" cstate="print"/>
          <a:stretch>
            <a:fillRect/>
          </a:stretch>
        </p:blipFill>
        <p:spPr>
          <a:xfrm>
            <a:off x="11389028" y="6447841"/>
            <a:ext cx="122341" cy="187168"/>
          </a:xfrm>
          <a:prstGeom prst="rect">
            <a:avLst/>
          </a:prstGeom>
        </p:spPr>
      </p:pic>
      <p:sp>
        <p:nvSpPr>
          <p:cNvPr id="11" name="object 11"/>
          <p:cNvSpPr txBox="1"/>
          <p:nvPr/>
        </p:nvSpPr>
        <p:spPr>
          <a:xfrm>
            <a:off x="5948933" y="1845945"/>
            <a:ext cx="5404867" cy="2590902"/>
          </a:xfrm>
          <a:prstGeom prst="rect">
            <a:avLst/>
          </a:prstGeom>
        </p:spPr>
        <p:txBody>
          <a:bodyPr vert="horz" wrap="square" lIns="0" tIns="134620" rIns="0" bIns="0" rtlCol="0">
            <a:spAutoFit/>
          </a:bodyPr>
          <a:lstStyle/>
          <a:p>
            <a:pPr marL="354965" indent="-342265" algn="l">
              <a:lnSpc>
                <a:spcPct val="100000"/>
              </a:lnSpc>
              <a:spcBef>
                <a:spcPts val="1060"/>
              </a:spcBef>
              <a:buFont typeface="Arial MT"/>
              <a:buChar char="•"/>
              <a:tabLst>
                <a:tab pos="354965" algn="l"/>
              </a:tabLst>
            </a:pPr>
            <a:r>
              <a:rPr lang="en-GB" sz="2000" dirty="0">
                <a:latin typeface="Trebuchet MS" panose="020B0603020202020204" pitchFamily="34" charset="0"/>
                <a:cs typeface="Calibri"/>
              </a:rPr>
              <a:t>The</a:t>
            </a:r>
            <a:r>
              <a:rPr lang="en-GB" sz="2000" spc="-35" dirty="0">
                <a:latin typeface="Trebuchet MS" panose="020B0603020202020204" pitchFamily="34" charset="0"/>
                <a:cs typeface="Calibri"/>
              </a:rPr>
              <a:t> </a:t>
            </a:r>
            <a:r>
              <a:rPr lang="en-GB" sz="2000" dirty="0">
                <a:latin typeface="Trebuchet MS" panose="020B0603020202020204" pitchFamily="34" charset="0"/>
                <a:cs typeface="Calibri"/>
              </a:rPr>
              <a:t>CEO</a:t>
            </a:r>
            <a:r>
              <a:rPr lang="en-GB" sz="2000" spc="-30" dirty="0">
                <a:latin typeface="Trebuchet MS" panose="020B0603020202020204" pitchFamily="34" charset="0"/>
                <a:cs typeface="Calibri"/>
              </a:rPr>
              <a:t> </a:t>
            </a:r>
            <a:r>
              <a:rPr lang="en-GB" sz="2000" dirty="0">
                <a:latin typeface="Trebuchet MS" panose="020B0603020202020204" pitchFamily="34" charset="0"/>
                <a:cs typeface="Calibri"/>
              </a:rPr>
              <a:t>of</a:t>
            </a:r>
            <a:r>
              <a:rPr lang="en-GB" sz="2000" spc="-40" dirty="0">
                <a:latin typeface="Trebuchet MS" panose="020B0603020202020204" pitchFamily="34" charset="0"/>
                <a:cs typeface="Calibri"/>
              </a:rPr>
              <a:t> </a:t>
            </a:r>
            <a:r>
              <a:rPr lang="en-GB" sz="2000" dirty="0">
                <a:latin typeface="Trebuchet MS" panose="020B0603020202020204" pitchFamily="34" charset="0"/>
                <a:cs typeface="Calibri"/>
              </a:rPr>
              <a:t>Vital</a:t>
            </a:r>
            <a:r>
              <a:rPr lang="en-GB" sz="2000" spc="-20" dirty="0">
                <a:latin typeface="Trebuchet MS" panose="020B0603020202020204" pitchFamily="34" charset="0"/>
                <a:cs typeface="Calibri"/>
              </a:rPr>
              <a:t> </a:t>
            </a:r>
            <a:r>
              <a:rPr lang="en-GB" sz="2000" dirty="0">
                <a:latin typeface="Trebuchet MS" panose="020B0603020202020204" pitchFamily="34" charset="0"/>
                <a:cs typeface="Calibri"/>
              </a:rPr>
              <a:t>Care</a:t>
            </a:r>
            <a:r>
              <a:rPr lang="en-GB" sz="2000" spc="-35" dirty="0">
                <a:latin typeface="Trebuchet MS" panose="020B0603020202020204" pitchFamily="34" charset="0"/>
                <a:cs typeface="Calibri"/>
              </a:rPr>
              <a:t> </a:t>
            </a:r>
            <a:r>
              <a:rPr lang="en-GB" sz="2000" spc="-10" dirty="0">
                <a:latin typeface="Trebuchet MS" panose="020B0603020202020204" pitchFamily="34" charset="0"/>
                <a:cs typeface="Calibri"/>
              </a:rPr>
              <a:t>Insurance</a:t>
            </a:r>
            <a:endParaRPr lang="en-GB" sz="2000" dirty="0">
              <a:latin typeface="Trebuchet MS" panose="020B0603020202020204" pitchFamily="34" charset="0"/>
              <a:cs typeface="Calibri"/>
            </a:endParaRPr>
          </a:p>
          <a:p>
            <a:pPr marL="354965" indent="-342265" algn="l">
              <a:lnSpc>
                <a:spcPct val="100000"/>
              </a:lnSpc>
              <a:spcBef>
                <a:spcPts val="960"/>
              </a:spcBef>
              <a:buFont typeface="Arial MT"/>
              <a:buChar char="•"/>
              <a:tabLst>
                <a:tab pos="354965" algn="l"/>
              </a:tabLst>
            </a:pPr>
            <a:r>
              <a:rPr lang="en-GB" sz="2000" dirty="0">
                <a:latin typeface="Trebuchet MS" panose="020B0603020202020204" pitchFamily="34" charset="0"/>
                <a:cs typeface="Calibri"/>
              </a:rPr>
              <a:t>She</a:t>
            </a:r>
            <a:r>
              <a:rPr lang="en-GB" sz="2000" spc="-35" dirty="0">
                <a:latin typeface="Trebuchet MS" panose="020B0603020202020204" pitchFamily="34" charset="0"/>
                <a:cs typeface="Calibri"/>
              </a:rPr>
              <a:t> </a:t>
            </a:r>
            <a:r>
              <a:rPr lang="en-GB" sz="2000" dirty="0">
                <a:latin typeface="Trebuchet MS" panose="020B0603020202020204" pitchFamily="34" charset="0"/>
                <a:cs typeface="Calibri"/>
              </a:rPr>
              <a:t>is</a:t>
            </a:r>
            <a:r>
              <a:rPr lang="en-GB" sz="2000" spc="-40" dirty="0">
                <a:latin typeface="Trebuchet MS" panose="020B0603020202020204" pitchFamily="34" charset="0"/>
                <a:cs typeface="Calibri"/>
              </a:rPr>
              <a:t> </a:t>
            </a:r>
            <a:r>
              <a:rPr lang="en-GB" sz="2000" dirty="0">
                <a:latin typeface="Trebuchet MS" panose="020B0603020202020204" pitchFamily="34" charset="0"/>
                <a:cs typeface="Calibri"/>
              </a:rPr>
              <a:t>actively</a:t>
            </a:r>
            <a:r>
              <a:rPr lang="en-GB" sz="2000" spc="-30" dirty="0">
                <a:latin typeface="Trebuchet MS" panose="020B0603020202020204" pitchFamily="34" charset="0"/>
                <a:cs typeface="Calibri"/>
              </a:rPr>
              <a:t> </a:t>
            </a:r>
            <a:r>
              <a:rPr lang="en-GB" sz="2000" spc="-10" dirty="0">
                <a:latin typeface="Trebuchet MS" panose="020B0603020202020204" pitchFamily="34" charset="0"/>
                <a:cs typeface="Calibri"/>
              </a:rPr>
              <a:t>researching</a:t>
            </a:r>
            <a:r>
              <a:rPr lang="en-GB" sz="2000" spc="-25" dirty="0">
                <a:latin typeface="Trebuchet MS" panose="020B0603020202020204" pitchFamily="34" charset="0"/>
                <a:cs typeface="Calibri"/>
              </a:rPr>
              <a:t> </a:t>
            </a:r>
            <a:r>
              <a:rPr lang="en-GB" sz="2000" dirty="0">
                <a:latin typeface="Trebuchet MS" panose="020B0603020202020204" pitchFamily="34" charset="0"/>
                <a:cs typeface="Calibri"/>
              </a:rPr>
              <a:t>cities</a:t>
            </a:r>
            <a:r>
              <a:rPr lang="en-GB" sz="2000" spc="-20" dirty="0">
                <a:latin typeface="Trebuchet MS" panose="020B0603020202020204" pitchFamily="34" charset="0"/>
                <a:cs typeface="Calibri"/>
              </a:rPr>
              <a:t> </a:t>
            </a:r>
            <a:r>
              <a:rPr lang="en-GB" sz="2000" dirty="0">
                <a:latin typeface="Trebuchet MS" panose="020B0603020202020204" pitchFamily="34" charset="0"/>
                <a:cs typeface="Calibri"/>
              </a:rPr>
              <a:t>known</a:t>
            </a:r>
            <a:r>
              <a:rPr lang="en-GB" sz="2000" spc="-30" dirty="0">
                <a:latin typeface="Trebuchet MS" panose="020B0603020202020204" pitchFamily="34" charset="0"/>
                <a:cs typeface="Calibri"/>
              </a:rPr>
              <a:t> </a:t>
            </a:r>
            <a:r>
              <a:rPr lang="en-GB" sz="2000" dirty="0">
                <a:latin typeface="Trebuchet MS" panose="020B0603020202020204" pitchFamily="34" charset="0"/>
                <a:cs typeface="Calibri"/>
              </a:rPr>
              <a:t>for</a:t>
            </a:r>
            <a:r>
              <a:rPr lang="en-GB" sz="2000" spc="-35" dirty="0">
                <a:latin typeface="Trebuchet MS" panose="020B0603020202020204" pitchFamily="34" charset="0"/>
                <a:cs typeface="Calibri"/>
              </a:rPr>
              <a:t> </a:t>
            </a:r>
            <a:r>
              <a:rPr lang="en-GB" sz="2000" spc="-10" dirty="0">
                <a:latin typeface="Trebuchet MS" panose="020B0603020202020204" pitchFamily="34" charset="0"/>
                <a:cs typeface="Calibri"/>
              </a:rPr>
              <a:t>their</a:t>
            </a:r>
            <a:r>
              <a:rPr lang="en-GB" sz="2000" dirty="0">
                <a:latin typeface="Trebuchet MS" panose="020B0603020202020204" pitchFamily="34" charset="0"/>
                <a:cs typeface="Calibri"/>
              </a:rPr>
              <a:t> </a:t>
            </a:r>
            <a:r>
              <a:rPr lang="en-GB" sz="2000" spc="-10" dirty="0">
                <a:latin typeface="Trebuchet MS" panose="020B0603020202020204" pitchFamily="34" charset="0"/>
                <a:cs typeface="Calibri"/>
              </a:rPr>
              <a:t>specialized</a:t>
            </a:r>
            <a:r>
              <a:rPr lang="en-GB" sz="2000" spc="-15" dirty="0">
                <a:latin typeface="Trebuchet MS" panose="020B0603020202020204" pitchFamily="34" charset="0"/>
                <a:cs typeface="Calibri"/>
              </a:rPr>
              <a:t> </a:t>
            </a:r>
            <a:r>
              <a:rPr lang="en-GB" sz="2000" dirty="0">
                <a:latin typeface="Trebuchet MS" panose="020B0603020202020204" pitchFamily="34" charset="0"/>
                <a:cs typeface="Calibri"/>
              </a:rPr>
              <a:t>health</a:t>
            </a:r>
            <a:r>
              <a:rPr lang="en-GB" sz="2000" spc="-30" dirty="0">
                <a:latin typeface="Trebuchet MS" panose="020B0603020202020204" pitchFamily="34" charset="0"/>
                <a:cs typeface="Calibri"/>
              </a:rPr>
              <a:t> </a:t>
            </a:r>
            <a:r>
              <a:rPr lang="en-GB" sz="2000" spc="-10" dirty="0">
                <a:latin typeface="Trebuchet MS" panose="020B0603020202020204" pitchFamily="34" charset="0"/>
                <a:cs typeface="Calibri"/>
              </a:rPr>
              <a:t>insurance</a:t>
            </a:r>
            <a:r>
              <a:rPr lang="en-GB" sz="2000" spc="-30" dirty="0">
                <a:latin typeface="Trebuchet MS" panose="020B0603020202020204" pitchFamily="34" charset="0"/>
                <a:cs typeface="Calibri"/>
              </a:rPr>
              <a:t> </a:t>
            </a:r>
            <a:r>
              <a:rPr lang="en-GB" sz="2000" spc="-10" dirty="0">
                <a:latin typeface="Trebuchet MS" panose="020B0603020202020204" pitchFamily="34" charset="0"/>
                <a:cs typeface="Calibri"/>
              </a:rPr>
              <a:t>offerings.</a:t>
            </a:r>
            <a:endParaRPr lang="en-GB" sz="2000" dirty="0">
              <a:latin typeface="Trebuchet MS" panose="020B0603020202020204" pitchFamily="34" charset="0"/>
              <a:cs typeface="Calibri"/>
            </a:endParaRPr>
          </a:p>
          <a:p>
            <a:pPr marL="355600" marR="5080" indent="-342900" algn="l">
              <a:lnSpc>
                <a:spcPct val="106900"/>
              </a:lnSpc>
              <a:spcBef>
                <a:spcPts val="815"/>
              </a:spcBef>
              <a:buFont typeface="Arial MT"/>
              <a:buChar char="•"/>
              <a:tabLst>
                <a:tab pos="355600" algn="l"/>
              </a:tabLst>
            </a:pPr>
            <a:r>
              <a:rPr lang="en-GB" sz="2000" dirty="0">
                <a:latin typeface="Trebuchet MS" panose="020B0603020202020204" pitchFamily="34" charset="0"/>
                <a:cs typeface="Calibri"/>
              </a:rPr>
              <a:t> she aims</a:t>
            </a:r>
            <a:r>
              <a:rPr lang="en-GB" sz="2000" spc="-35" dirty="0">
                <a:latin typeface="Trebuchet MS" panose="020B0603020202020204" pitchFamily="34" charset="0"/>
                <a:cs typeface="Calibri"/>
              </a:rPr>
              <a:t> </a:t>
            </a:r>
            <a:r>
              <a:rPr lang="en-GB" sz="2000" dirty="0">
                <a:latin typeface="Trebuchet MS" panose="020B0603020202020204" pitchFamily="34" charset="0"/>
                <a:cs typeface="Calibri"/>
              </a:rPr>
              <a:t>to</a:t>
            </a:r>
            <a:r>
              <a:rPr lang="en-GB" sz="2000" spc="-35" dirty="0">
                <a:latin typeface="Trebuchet MS" panose="020B0603020202020204" pitchFamily="34" charset="0"/>
                <a:cs typeface="Calibri"/>
              </a:rPr>
              <a:t> </a:t>
            </a:r>
            <a:r>
              <a:rPr lang="en-GB" sz="2000" dirty="0">
                <a:latin typeface="Trebuchet MS" panose="020B0603020202020204" pitchFamily="34" charset="0"/>
                <a:cs typeface="Calibri"/>
              </a:rPr>
              <a:t>invest</a:t>
            </a:r>
            <a:r>
              <a:rPr lang="en-GB" sz="2000" spc="-40" dirty="0">
                <a:latin typeface="Trebuchet MS" panose="020B0603020202020204" pitchFamily="34" charset="0"/>
                <a:cs typeface="Calibri"/>
              </a:rPr>
              <a:t> </a:t>
            </a:r>
            <a:r>
              <a:rPr lang="en-GB" sz="2000" dirty="0">
                <a:latin typeface="Trebuchet MS" panose="020B0603020202020204" pitchFamily="34" charset="0"/>
                <a:cs typeface="Calibri"/>
              </a:rPr>
              <a:t>1.1 million</a:t>
            </a:r>
            <a:r>
              <a:rPr lang="en-GB" sz="2000" spc="-15" dirty="0">
                <a:latin typeface="Trebuchet MS" panose="020B0603020202020204" pitchFamily="34" charset="0"/>
                <a:cs typeface="Calibri"/>
              </a:rPr>
              <a:t> </a:t>
            </a:r>
            <a:r>
              <a:rPr lang="en-GB" sz="2000" dirty="0">
                <a:latin typeface="Trebuchet MS" panose="020B0603020202020204" pitchFamily="34" charset="0"/>
                <a:cs typeface="Calibri"/>
              </a:rPr>
              <a:t>to</a:t>
            </a:r>
            <a:r>
              <a:rPr lang="en-GB" sz="2000" spc="-40" dirty="0">
                <a:latin typeface="Trebuchet MS" panose="020B0603020202020204" pitchFamily="34" charset="0"/>
                <a:cs typeface="Calibri"/>
              </a:rPr>
              <a:t> </a:t>
            </a:r>
            <a:r>
              <a:rPr lang="en-GB" sz="2000" spc="-10" dirty="0">
                <a:latin typeface="Trebuchet MS" panose="020B0603020202020204" pitchFamily="34" charset="0"/>
                <a:cs typeface="Calibri"/>
              </a:rPr>
              <a:t>improve</a:t>
            </a:r>
            <a:r>
              <a:rPr lang="en-GB" sz="2000" spc="-30" dirty="0">
                <a:latin typeface="Trebuchet MS" panose="020B0603020202020204" pitchFamily="34" charset="0"/>
                <a:cs typeface="Calibri"/>
              </a:rPr>
              <a:t> </a:t>
            </a:r>
            <a:r>
              <a:rPr lang="en-GB" sz="2000" spc="-25" dirty="0">
                <a:latin typeface="Trebuchet MS" panose="020B0603020202020204" pitchFamily="34" charset="0"/>
                <a:cs typeface="Calibri"/>
              </a:rPr>
              <a:t>and </a:t>
            </a:r>
            <a:r>
              <a:rPr lang="en-GB" sz="2000" spc="-10" dirty="0">
                <a:latin typeface="Trebuchet MS" panose="020B0603020202020204" pitchFamily="34" charset="0"/>
                <a:cs typeface="Calibri"/>
              </a:rPr>
              <a:t>personalize</a:t>
            </a:r>
            <a:r>
              <a:rPr lang="en-GB" sz="2000" spc="-45" dirty="0">
                <a:latin typeface="Trebuchet MS" panose="020B0603020202020204" pitchFamily="34" charset="0"/>
                <a:cs typeface="Calibri"/>
              </a:rPr>
              <a:t> </a:t>
            </a:r>
            <a:r>
              <a:rPr lang="en-GB" sz="2000" dirty="0">
                <a:latin typeface="Trebuchet MS" panose="020B0603020202020204" pitchFamily="34" charset="0"/>
                <a:cs typeface="Calibri"/>
              </a:rPr>
              <a:t>insurance</a:t>
            </a:r>
            <a:r>
              <a:rPr lang="en-GB" sz="2000" spc="-45" dirty="0">
                <a:latin typeface="Trebuchet MS" panose="020B0603020202020204" pitchFamily="34" charset="0"/>
                <a:cs typeface="Calibri"/>
              </a:rPr>
              <a:t> </a:t>
            </a:r>
            <a:r>
              <a:rPr lang="en-GB" sz="2000" dirty="0">
                <a:latin typeface="Trebuchet MS" panose="020B0603020202020204" pitchFamily="34" charset="0"/>
                <a:cs typeface="Calibri"/>
              </a:rPr>
              <a:t>plans</a:t>
            </a:r>
            <a:r>
              <a:rPr lang="en-GB" sz="2000" spc="-50" dirty="0">
                <a:latin typeface="Trebuchet MS" panose="020B0603020202020204" pitchFamily="34" charset="0"/>
                <a:cs typeface="Calibri"/>
              </a:rPr>
              <a:t> </a:t>
            </a:r>
            <a:r>
              <a:rPr lang="en-US" sz="2000" b="0" i="0" kern="1200" dirty="0">
                <a:latin typeface="Trebuchet MS" panose="020B0603020202020204" pitchFamily="34" charset="0"/>
                <a:cs typeface="+mn-cs"/>
              </a:rPr>
              <a:t>to ensure fairness in enrollment and accommodate preferences for every individual.</a:t>
            </a:r>
            <a:endParaRPr lang="en-GB" sz="2000" dirty="0">
              <a:latin typeface="Trebuchet MS" panose="020B0603020202020204" pitchFamily="34" charset="0"/>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solidFill>
                  <a:srgbClr val="000000"/>
                </a:solidFill>
              </a:rPr>
              <a:t>6</a:t>
            </a:fld>
            <a:endParaRPr spc="-25" dirty="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988" y="152062"/>
            <a:ext cx="12253976" cy="443070"/>
          </a:xfrm>
          <a:prstGeom prst="rect">
            <a:avLst/>
          </a:prstGeom>
        </p:spPr>
        <p:txBody>
          <a:bodyPr vert="horz" wrap="square" lIns="0" tIns="12065" rIns="0" bIns="0" rtlCol="0">
            <a:spAutoFit/>
          </a:bodyPr>
          <a:lstStyle/>
          <a:p>
            <a:pPr marL="2746375">
              <a:lnSpc>
                <a:spcPct val="100000"/>
              </a:lnSpc>
              <a:spcBef>
                <a:spcPts val="95"/>
              </a:spcBef>
            </a:pPr>
            <a:r>
              <a:rPr lang="en-US" sz="2800" dirty="0"/>
              <a:t>Customer’s and Plan’s Summary Statistics</a:t>
            </a:r>
            <a:endParaRPr sz="2800" dirty="0"/>
          </a:p>
        </p:txBody>
      </p:sp>
      <p:sp>
        <p:nvSpPr>
          <p:cNvPr id="3" name="object 3"/>
          <p:cNvSpPr txBox="1"/>
          <p:nvPr/>
        </p:nvSpPr>
        <p:spPr>
          <a:xfrm>
            <a:off x="871524" y="1981200"/>
            <a:ext cx="5224476" cy="1623971"/>
          </a:xfrm>
          <a:prstGeom prst="rect">
            <a:avLst/>
          </a:prstGeom>
        </p:spPr>
        <p:txBody>
          <a:bodyPr vert="horz" wrap="square" lIns="0" tIns="12700" rIns="0" bIns="0" rtlCol="0">
            <a:spAutoFit/>
          </a:bodyPr>
          <a:lstStyle/>
          <a:p>
            <a:pPr marL="12065" marR="5080">
              <a:lnSpc>
                <a:spcPct val="150000"/>
              </a:lnSpc>
              <a:spcBef>
                <a:spcPts val="100"/>
              </a:spcBef>
              <a:tabLst>
                <a:tab pos="299085" algn="l"/>
              </a:tabLst>
            </a:pPr>
            <a:r>
              <a:rPr lang="en-US" dirty="0">
                <a:latin typeface="Trebuchet MS"/>
                <a:cs typeface="Trebuchet MS"/>
              </a:rPr>
              <a:t>This view represent the Customer statistics has revealed that total 179,806 customers has procured the insurance policies over the pool of 165 distinct Insurance policies.</a:t>
            </a:r>
            <a:endParaRPr dirty="0">
              <a:latin typeface="Trebuchet MS"/>
              <a:cs typeface="Trebuchet MS"/>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solidFill>
                  <a:srgbClr val="000000"/>
                </a:solidFill>
              </a:rPr>
              <a:t>7</a:t>
            </a:fld>
            <a:endParaRPr spc="-25" dirty="0">
              <a:solidFill>
                <a:srgbClr val="000000"/>
              </a:solidFill>
            </a:endParaRPr>
          </a:p>
        </p:txBody>
      </p:sp>
      <p:pic>
        <p:nvPicPr>
          <p:cNvPr id="11" name="Picture 10">
            <a:extLst>
              <a:ext uri="{FF2B5EF4-FFF2-40B4-BE49-F238E27FC236}">
                <a16:creationId xmlns:a16="http://schemas.microsoft.com/office/drawing/2014/main" id="{79297976-F252-7C13-144E-E1A14B65969D}"/>
              </a:ext>
            </a:extLst>
          </p:cNvPr>
          <p:cNvPicPr>
            <a:picLocks noChangeAspect="1"/>
          </p:cNvPicPr>
          <p:nvPr/>
        </p:nvPicPr>
        <p:blipFill>
          <a:blip r:embed="rId2"/>
          <a:stretch>
            <a:fillRect/>
          </a:stretch>
        </p:blipFill>
        <p:spPr>
          <a:xfrm>
            <a:off x="6324600" y="1017915"/>
            <a:ext cx="3820058" cy="43535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81400" y="63644"/>
            <a:ext cx="6049010" cy="443070"/>
          </a:xfrm>
          <a:prstGeom prst="rect">
            <a:avLst/>
          </a:prstGeom>
        </p:spPr>
        <p:txBody>
          <a:bodyPr vert="horz" wrap="square" lIns="0" tIns="12065" rIns="0" bIns="0" rtlCol="0">
            <a:spAutoFit/>
          </a:bodyPr>
          <a:lstStyle/>
          <a:p>
            <a:pPr marL="12700">
              <a:lnSpc>
                <a:spcPct val="100000"/>
              </a:lnSpc>
              <a:spcBef>
                <a:spcPts val="95"/>
              </a:spcBef>
            </a:pPr>
            <a:r>
              <a:rPr sz="2800" spc="-45" dirty="0"/>
              <a:t>PLAN</a:t>
            </a:r>
            <a:r>
              <a:rPr sz="2800" spc="-260" dirty="0"/>
              <a:t> </a:t>
            </a:r>
            <a:r>
              <a:rPr sz="2800" dirty="0"/>
              <a:t>NAMES</a:t>
            </a:r>
            <a:r>
              <a:rPr sz="2800" spc="-260" dirty="0"/>
              <a:t> </a:t>
            </a:r>
            <a:r>
              <a:rPr sz="2800" spc="-95" dirty="0"/>
              <a:t>VS</a:t>
            </a:r>
            <a:r>
              <a:rPr sz="2800" spc="-285" dirty="0"/>
              <a:t> </a:t>
            </a:r>
            <a:r>
              <a:rPr sz="2800" spc="-165" dirty="0"/>
              <a:t>QUARTERS</a:t>
            </a:r>
            <a:endParaRPr sz="2800" dirty="0"/>
          </a:p>
        </p:txBody>
      </p:sp>
      <p:sp>
        <p:nvSpPr>
          <p:cNvPr id="3" name="object 3"/>
          <p:cNvSpPr txBox="1"/>
          <p:nvPr/>
        </p:nvSpPr>
        <p:spPr>
          <a:xfrm>
            <a:off x="669442" y="972057"/>
            <a:ext cx="4026535" cy="3908442"/>
          </a:xfrm>
          <a:prstGeom prst="rect">
            <a:avLst/>
          </a:prstGeom>
        </p:spPr>
        <p:txBody>
          <a:bodyPr vert="horz" wrap="square" lIns="0" tIns="12700" rIns="0" bIns="0" rtlCol="0">
            <a:spAutoFit/>
          </a:bodyPr>
          <a:lstStyle/>
          <a:p>
            <a:pPr marL="355600" marR="60325" indent="-342900" algn="l">
              <a:lnSpc>
                <a:spcPct val="120000"/>
              </a:lnSpc>
              <a:spcBef>
                <a:spcPts val="100"/>
              </a:spcBef>
              <a:buFont typeface="Arial MT"/>
              <a:buChar char="•"/>
              <a:tabLst>
                <a:tab pos="355600" algn="l"/>
              </a:tabLst>
            </a:pPr>
            <a:r>
              <a:rPr sz="1800" spc="-135" dirty="0">
                <a:latin typeface="Trebuchet MS"/>
                <a:cs typeface="Trebuchet MS"/>
              </a:rPr>
              <a:t>The</a:t>
            </a:r>
            <a:r>
              <a:rPr sz="1800" spc="-175" dirty="0">
                <a:latin typeface="Trebuchet MS"/>
                <a:cs typeface="Trebuchet MS"/>
              </a:rPr>
              <a:t> </a:t>
            </a:r>
            <a:r>
              <a:rPr sz="1800" spc="-105" dirty="0">
                <a:latin typeface="Trebuchet MS"/>
                <a:cs typeface="Trebuchet MS"/>
              </a:rPr>
              <a:t>top</a:t>
            </a:r>
            <a:r>
              <a:rPr sz="1800" spc="-170" dirty="0">
                <a:latin typeface="Trebuchet MS"/>
                <a:cs typeface="Trebuchet MS"/>
              </a:rPr>
              <a:t> </a:t>
            </a:r>
            <a:r>
              <a:rPr lang="en-US" spc="-10" dirty="0">
                <a:latin typeface="Trebuchet MS"/>
                <a:cs typeface="Trebuchet MS"/>
              </a:rPr>
              <a:t>3 insurance</a:t>
            </a:r>
            <a:r>
              <a:rPr sz="1800" spc="-170" dirty="0">
                <a:latin typeface="Trebuchet MS"/>
                <a:cs typeface="Trebuchet MS"/>
              </a:rPr>
              <a:t> </a:t>
            </a:r>
            <a:r>
              <a:rPr sz="1800" spc="-85" dirty="0">
                <a:latin typeface="Trebuchet MS"/>
                <a:cs typeface="Trebuchet MS"/>
              </a:rPr>
              <a:t>plans</a:t>
            </a:r>
            <a:r>
              <a:rPr lang="en-US" sz="1800" spc="-85" dirty="0">
                <a:latin typeface="Trebuchet MS"/>
                <a:cs typeface="Trebuchet MS"/>
              </a:rPr>
              <a:t>. All affiliated by single brand Empire </a:t>
            </a:r>
            <a:r>
              <a:rPr lang="en-US" sz="1800" spc="-85" dirty="0" err="1">
                <a:latin typeface="Trebuchet MS"/>
                <a:cs typeface="Trebuchet MS"/>
              </a:rPr>
              <a:t>Healthchoice</a:t>
            </a:r>
            <a:r>
              <a:rPr lang="en-US" sz="1800" spc="-85" dirty="0">
                <a:latin typeface="Trebuchet MS"/>
                <a:cs typeface="Trebuchet MS"/>
              </a:rPr>
              <a:t> Assurance.</a:t>
            </a:r>
          </a:p>
          <a:p>
            <a:pPr marL="355600" marR="60325" indent="-342900" algn="l">
              <a:lnSpc>
                <a:spcPct val="120000"/>
              </a:lnSpc>
              <a:spcBef>
                <a:spcPts val="100"/>
              </a:spcBef>
              <a:buFont typeface="Arial MT"/>
              <a:buChar char="•"/>
              <a:tabLst>
                <a:tab pos="355600" algn="l"/>
              </a:tabLst>
            </a:pPr>
            <a:r>
              <a:rPr sz="1800" spc="-100" dirty="0">
                <a:latin typeface="Trebuchet MS"/>
                <a:cs typeface="Trebuchet MS"/>
              </a:rPr>
              <a:t>Empire</a:t>
            </a:r>
            <a:r>
              <a:rPr sz="1800" spc="-170" dirty="0">
                <a:latin typeface="Trebuchet MS"/>
                <a:cs typeface="Trebuchet MS"/>
              </a:rPr>
              <a:t> </a:t>
            </a:r>
            <a:r>
              <a:rPr sz="1800" spc="-90" dirty="0">
                <a:latin typeface="Trebuchet MS"/>
                <a:cs typeface="Trebuchet MS"/>
              </a:rPr>
              <a:t>Health</a:t>
            </a:r>
            <a:r>
              <a:rPr sz="1800" spc="-145" dirty="0">
                <a:latin typeface="Trebuchet MS"/>
                <a:cs typeface="Trebuchet MS"/>
              </a:rPr>
              <a:t> </a:t>
            </a:r>
            <a:r>
              <a:rPr sz="1800" spc="-55" dirty="0">
                <a:latin typeface="Trebuchet MS"/>
                <a:cs typeface="Trebuchet MS"/>
              </a:rPr>
              <a:t>Choice</a:t>
            </a:r>
            <a:r>
              <a:rPr sz="1800" spc="-160" dirty="0">
                <a:latin typeface="Trebuchet MS"/>
                <a:cs typeface="Trebuchet MS"/>
              </a:rPr>
              <a:t> </a:t>
            </a:r>
            <a:r>
              <a:rPr sz="1800" spc="-50" dirty="0">
                <a:latin typeface="Trebuchet MS"/>
                <a:cs typeface="Trebuchet MS"/>
              </a:rPr>
              <a:t>Assurance</a:t>
            </a:r>
            <a:r>
              <a:rPr sz="1800" spc="-114" dirty="0">
                <a:latin typeface="Trebuchet MS"/>
                <a:cs typeface="Trebuchet MS"/>
              </a:rPr>
              <a:t> </a:t>
            </a:r>
            <a:r>
              <a:rPr sz="1800" spc="-25" dirty="0">
                <a:latin typeface="Trebuchet MS"/>
                <a:cs typeface="Trebuchet MS"/>
              </a:rPr>
              <a:t>PPO </a:t>
            </a:r>
            <a:r>
              <a:rPr sz="1800" spc="-105" dirty="0">
                <a:latin typeface="Trebuchet MS"/>
                <a:cs typeface="Trebuchet MS"/>
              </a:rPr>
              <a:t>dominated</a:t>
            </a:r>
            <a:r>
              <a:rPr sz="1800" spc="-210" dirty="0">
                <a:latin typeface="Trebuchet MS"/>
                <a:cs typeface="Trebuchet MS"/>
              </a:rPr>
              <a:t> </a:t>
            </a:r>
            <a:r>
              <a:rPr sz="1800" dirty="0">
                <a:latin typeface="Trebuchet MS"/>
                <a:cs typeface="Trebuchet MS"/>
              </a:rPr>
              <a:t>in</a:t>
            </a:r>
            <a:r>
              <a:rPr sz="1800" spc="114" dirty="0">
                <a:latin typeface="Trebuchet MS"/>
                <a:cs typeface="Trebuchet MS"/>
              </a:rPr>
              <a:t> </a:t>
            </a:r>
            <a:r>
              <a:rPr sz="1800" spc="-110" dirty="0">
                <a:latin typeface="Trebuchet MS"/>
                <a:cs typeface="Trebuchet MS"/>
              </a:rPr>
              <a:t>Quarter</a:t>
            </a:r>
            <a:r>
              <a:rPr sz="1800" spc="-195" dirty="0">
                <a:latin typeface="Trebuchet MS"/>
                <a:cs typeface="Trebuchet MS"/>
              </a:rPr>
              <a:t> </a:t>
            </a:r>
            <a:r>
              <a:rPr sz="1800" spc="-10" dirty="0">
                <a:latin typeface="Trebuchet MS"/>
                <a:cs typeface="Trebuchet MS"/>
              </a:rPr>
              <a:t>3</a:t>
            </a:r>
            <a:r>
              <a:rPr sz="1800" spc="-204" dirty="0">
                <a:latin typeface="Trebuchet MS"/>
                <a:cs typeface="Trebuchet MS"/>
              </a:rPr>
              <a:t> </a:t>
            </a:r>
            <a:r>
              <a:rPr sz="1800" spc="-114" dirty="0">
                <a:latin typeface="Trebuchet MS"/>
                <a:cs typeface="Trebuchet MS"/>
              </a:rPr>
              <a:t>but</a:t>
            </a:r>
            <a:r>
              <a:rPr sz="1800" spc="-195" dirty="0">
                <a:latin typeface="Trebuchet MS"/>
                <a:cs typeface="Trebuchet MS"/>
              </a:rPr>
              <a:t> </a:t>
            </a:r>
            <a:r>
              <a:rPr sz="1800" spc="-20" dirty="0">
                <a:latin typeface="Trebuchet MS"/>
                <a:cs typeface="Trebuchet MS"/>
              </a:rPr>
              <a:t>saw</a:t>
            </a:r>
            <a:r>
              <a:rPr sz="1800" spc="-195" dirty="0">
                <a:latin typeface="Trebuchet MS"/>
                <a:cs typeface="Trebuchet MS"/>
              </a:rPr>
              <a:t> </a:t>
            </a:r>
            <a:r>
              <a:rPr sz="1800" spc="-85" dirty="0">
                <a:latin typeface="Trebuchet MS"/>
                <a:cs typeface="Trebuchet MS"/>
              </a:rPr>
              <a:t>a</a:t>
            </a:r>
            <a:r>
              <a:rPr sz="1800" spc="-195" dirty="0">
                <a:latin typeface="Trebuchet MS"/>
                <a:cs typeface="Trebuchet MS"/>
              </a:rPr>
              <a:t> </a:t>
            </a:r>
            <a:r>
              <a:rPr sz="1800" spc="-10" dirty="0">
                <a:latin typeface="Trebuchet MS"/>
                <a:cs typeface="Trebuchet MS"/>
              </a:rPr>
              <a:t>sharp </a:t>
            </a:r>
            <a:r>
              <a:rPr sz="1800" spc="-90" dirty="0">
                <a:latin typeface="Trebuchet MS"/>
                <a:cs typeface="Trebuchet MS"/>
              </a:rPr>
              <a:t>decline</a:t>
            </a:r>
            <a:r>
              <a:rPr sz="1800" spc="-190" dirty="0">
                <a:latin typeface="Trebuchet MS"/>
                <a:cs typeface="Trebuchet MS"/>
              </a:rPr>
              <a:t> </a:t>
            </a:r>
            <a:r>
              <a:rPr sz="1800" spc="-114" dirty="0">
                <a:latin typeface="Trebuchet MS"/>
                <a:cs typeface="Trebuchet MS"/>
              </a:rPr>
              <a:t>in</a:t>
            </a:r>
            <a:r>
              <a:rPr sz="1800" spc="-185" dirty="0">
                <a:latin typeface="Trebuchet MS"/>
                <a:cs typeface="Trebuchet MS"/>
              </a:rPr>
              <a:t> </a:t>
            </a:r>
            <a:r>
              <a:rPr sz="1800" spc="-25" dirty="0">
                <a:latin typeface="Trebuchet MS"/>
                <a:cs typeface="Trebuchet MS"/>
              </a:rPr>
              <a:t>Q4.</a:t>
            </a:r>
            <a:endParaRPr sz="1800" dirty="0">
              <a:latin typeface="Trebuchet MS"/>
              <a:cs typeface="Trebuchet MS"/>
            </a:endParaRPr>
          </a:p>
          <a:p>
            <a:pPr marL="355600" marR="479425" indent="-342900" algn="l">
              <a:lnSpc>
                <a:spcPct val="120000"/>
              </a:lnSpc>
              <a:spcBef>
                <a:spcPts val="1010"/>
              </a:spcBef>
              <a:buFont typeface="Arial MT"/>
              <a:buChar char="•"/>
              <a:tabLst>
                <a:tab pos="355600" algn="l"/>
              </a:tabLst>
            </a:pPr>
            <a:r>
              <a:rPr sz="1800" spc="-100" dirty="0">
                <a:latin typeface="Trebuchet MS"/>
                <a:cs typeface="Trebuchet MS"/>
              </a:rPr>
              <a:t>Empire</a:t>
            </a:r>
            <a:r>
              <a:rPr sz="1800" spc="-180" dirty="0">
                <a:latin typeface="Trebuchet MS"/>
                <a:cs typeface="Trebuchet MS"/>
              </a:rPr>
              <a:t> </a:t>
            </a:r>
            <a:r>
              <a:rPr sz="1800" spc="-90" dirty="0">
                <a:latin typeface="Trebuchet MS"/>
                <a:cs typeface="Trebuchet MS"/>
              </a:rPr>
              <a:t>Health</a:t>
            </a:r>
            <a:r>
              <a:rPr sz="1800" spc="-155" dirty="0">
                <a:latin typeface="Trebuchet MS"/>
                <a:cs typeface="Trebuchet MS"/>
              </a:rPr>
              <a:t> </a:t>
            </a:r>
            <a:r>
              <a:rPr sz="1800" spc="-55" dirty="0">
                <a:latin typeface="Trebuchet MS"/>
                <a:cs typeface="Trebuchet MS"/>
              </a:rPr>
              <a:t>Choice</a:t>
            </a:r>
            <a:r>
              <a:rPr sz="1800" spc="-170" dirty="0">
                <a:latin typeface="Trebuchet MS"/>
                <a:cs typeface="Trebuchet MS"/>
              </a:rPr>
              <a:t> </a:t>
            </a:r>
            <a:r>
              <a:rPr sz="1800" spc="-10" dirty="0">
                <a:latin typeface="Trebuchet MS"/>
                <a:cs typeface="Trebuchet MS"/>
              </a:rPr>
              <a:t>Assurance's </a:t>
            </a:r>
            <a:r>
              <a:rPr sz="1800" spc="-114" dirty="0">
                <a:latin typeface="Trebuchet MS"/>
                <a:cs typeface="Trebuchet MS"/>
              </a:rPr>
              <a:t>Indemnity</a:t>
            </a:r>
            <a:r>
              <a:rPr sz="1800" spc="-170" dirty="0">
                <a:latin typeface="Trebuchet MS"/>
                <a:cs typeface="Trebuchet MS"/>
              </a:rPr>
              <a:t> </a:t>
            </a:r>
            <a:r>
              <a:rPr sz="1800" spc="-85" dirty="0">
                <a:latin typeface="Trebuchet MS"/>
                <a:cs typeface="Trebuchet MS"/>
              </a:rPr>
              <a:t>plan</a:t>
            </a:r>
            <a:r>
              <a:rPr sz="1800" spc="-160" dirty="0">
                <a:latin typeface="Trebuchet MS"/>
                <a:cs typeface="Trebuchet MS"/>
              </a:rPr>
              <a:t> </a:t>
            </a:r>
            <a:r>
              <a:rPr sz="1800" spc="-100" dirty="0">
                <a:latin typeface="Trebuchet MS"/>
                <a:cs typeface="Trebuchet MS"/>
              </a:rPr>
              <a:t>faced</a:t>
            </a:r>
            <a:r>
              <a:rPr sz="1800" spc="-150" dirty="0">
                <a:latin typeface="Trebuchet MS"/>
                <a:cs typeface="Trebuchet MS"/>
              </a:rPr>
              <a:t> </a:t>
            </a:r>
            <a:r>
              <a:rPr sz="1800" spc="-75" dirty="0">
                <a:latin typeface="Trebuchet MS"/>
                <a:cs typeface="Trebuchet MS"/>
              </a:rPr>
              <a:t>low</a:t>
            </a:r>
            <a:r>
              <a:rPr sz="1800" spc="-160" dirty="0">
                <a:latin typeface="Trebuchet MS"/>
                <a:cs typeface="Trebuchet MS"/>
              </a:rPr>
              <a:t> </a:t>
            </a:r>
            <a:r>
              <a:rPr sz="1800" spc="-10" dirty="0">
                <a:latin typeface="Trebuchet MS"/>
                <a:cs typeface="Trebuchet MS"/>
              </a:rPr>
              <a:t>uptake.</a:t>
            </a:r>
            <a:endParaRPr lang="en-US" sz="1800" spc="-10" dirty="0">
              <a:latin typeface="Trebuchet MS"/>
              <a:cs typeface="Trebuchet MS"/>
            </a:endParaRPr>
          </a:p>
          <a:p>
            <a:pPr marL="355600" marR="479425" indent="-342900" algn="l">
              <a:lnSpc>
                <a:spcPct val="120000"/>
              </a:lnSpc>
              <a:spcBef>
                <a:spcPts val="1010"/>
              </a:spcBef>
              <a:buFont typeface="Arial MT"/>
              <a:buChar char="•"/>
              <a:tabLst>
                <a:tab pos="355600" algn="l"/>
              </a:tabLst>
            </a:pPr>
            <a:r>
              <a:rPr lang="en-IN" spc="-10" dirty="0">
                <a:latin typeface="Trebuchet MS"/>
                <a:cs typeface="Trebuchet MS"/>
              </a:rPr>
              <a:t>Quarter 3 shows a more insurance plans purchased by customers.</a:t>
            </a:r>
            <a:endParaRPr sz="1800" dirty="0">
              <a:latin typeface="Trebuchet MS"/>
              <a:cs typeface="Trebuchet MS"/>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solidFill>
                  <a:srgbClr val="000000"/>
                </a:solidFill>
              </a:rPr>
              <a:t>8</a:t>
            </a:fld>
            <a:endParaRPr spc="-25" dirty="0">
              <a:solidFill>
                <a:srgbClr val="000000"/>
              </a:solidFill>
            </a:endParaRPr>
          </a:p>
        </p:txBody>
      </p:sp>
      <p:pic>
        <p:nvPicPr>
          <p:cNvPr id="9" name="Picture 8">
            <a:extLst>
              <a:ext uri="{FF2B5EF4-FFF2-40B4-BE49-F238E27FC236}">
                <a16:creationId xmlns:a16="http://schemas.microsoft.com/office/drawing/2014/main" id="{13E78FCB-24D3-A286-D2E5-1087EA3D175A}"/>
              </a:ext>
            </a:extLst>
          </p:cNvPr>
          <p:cNvPicPr>
            <a:picLocks noChangeAspect="1"/>
          </p:cNvPicPr>
          <p:nvPr/>
        </p:nvPicPr>
        <p:blipFill>
          <a:blip r:embed="rId2"/>
          <a:stretch>
            <a:fillRect/>
          </a:stretch>
        </p:blipFill>
        <p:spPr>
          <a:xfrm>
            <a:off x="4847200" y="762001"/>
            <a:ext cx="6582800" cy="5333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9120"/>
            <a:ext cx="12253976" cy="443711"/>
          </a:xfrm>
          <a:prstGeom prst="rect">
            <a:avLst/>
          </a:prstGeom>
        </p:spPr>
        <p:txBody>
          <a:bodyPr vert="horz" wrap="square" lIns="0" tIns="12700" rIns="0" bIns="0" rtlCol="0">
            <a:spAutoFit/>
          </a:bodyPr>
          <a:lstStyle/>
          <a:p>
            <a:pPr marL="280670" algn="ctr">
              <a:lnSpc>
                <a:spcPct val="100000"/>
              </a:lnSpc>
              <a:spcBef>
                <a:spcPts val="100"/>
              </a:spcBef>
            </a:pPr>
            <a:r>
              <a:rPr sz="2800" spc="-175" dirty="0"/>
              <a:t>REGIONAL</a:t>
            </a:r>
            <a:r>
              <a:rPr sz="2800" spc="-265" dirty="0"/>
              <a:t> </a:t>
            </a:r>
            <a:r>
              <a:rPr sz="2800" spc="-200" dirty="0"/>
              <a:t>DISTRIBUTION</a:t>
            </a:r>
            <a:r>
              <a:rPr sz="2800" spc="-270" dirty="0"/>
              <a:t> </a:t>
            </a:r>
            <a:r>
              <a:rPr sz="2800" spc="-315" dirty="0"/>
              <a:t>OF</a:t>
            </a:r>
            <a:r>
              <a:rPr sz="2800" spc="-235" dirty="0"/>
              <a:t> </a:t>
            </a:r>
            <a:r>
              <a:rPr sz="2800" spc="-114" dirty="0"/>
              <a:t>INSURANCE</a:t>
            </a:r>
            <a:r>
              <a:rPr sz="2800" spc="-254" dirty="0"/>
              <a:t> </a:t>
            </a:r>
            <a:r>
              <a:rPr sz="2800" spc="-125" dirty="0"/>
              <a:t>POLICIES</a:t>
            </a:r>
          </a:p>
        </p:txBody>
      </p:sp>
      <p:sp>
        <p:nvSpPr>
          <p:cNvPr id="3" name="object 3"/>
          <p:cNvSpPr txBox="1"/>
          <p:nvPr/>
        </p:nvSpPr>
        <p:spPr>
          <a:xfrm>
            <a:off x="679500" y="843762"/>
            <a:ext cx="3789679" cy="4355616"/>
          </a:xfrm>
          <a:prstGeom prst="rect">
            <a:avLst/>
          </a:prstGeom>
        </p:spPr>
        <p:txBody>
          <a:bodyPr vert="horz" wrap="square" lIns="0" tIns="12065" rIns="0" bIns="0" rtlCol="0">
            <a:spAutoFit/>
          </a:bodyPr>
          <a:lstStyle/>
          <a:p>
            <a:pPr marL="299085" marR="444500" indent="-287020">
              <a:lnSpc>
                <a:spcPct val="120000"/>
              </a:lnSpc>
              <a:spcBef>
                <a:spcPts val="994"/>
              </a:spcBef>
              <a:buFont typeface="Arial MT"/>
              <a:buChar char="•"/>
              <a:tabLst>
                <a:tab pos="299085" algn="l"/>
              </a:tabLst>
            </a:pPr>
            <a:r>
              <a:rPr spc="-30" dirty="0">
                <a:latin typeface="Trebuchet MS"/>
                <a:cs typeface="Trebuchet MS"/>
              </a:rPr>
              <a:t>New</a:t>
            </a:r>
            <a:r>
              <a:rPr spc="-165" dirty="0">
                <a:latin typeface="Trebuchet MS"/>
                <a:cs typeface="Trebuchet MS"/>
              </a:rPr>
              <a:t> </a:t>
            </a:r>
            <a:r>
              <a:rPr spc="-130" dirty="0">
                <a:latin typeface="Trebuchet MS"/>
                <a:cs typeface="Trebuchet MS"/>
              </a:rPr>
              <a:t>York</a:t>
            </a:r>
            <a:r>
              <a:rPr spc="-160" dirty="0">
                <a:latin typeface="Trebuchet MS"/>
                <a:cs typeface="Trebuchet MS"/>
              </a:rPr>
              <a:t> </a:t>
            </a:r>
            <a:r>
              <a:rPr spc="-85" dirty="0">
                <a:latin typeface="Trebuchet MS"/>
                <a:cs typeface="Trebuchet MS"/>
              </a:rPr>
              <a:t>City</a:t>
            </a:r>
            <a:r>
              <a:rPr spc="-155" dirty="0">
                <a:latin typeface="Trebuchet MS"/>
                <a:cs typeface="Trebuchet MS"/>
              </a:rPr>
              <a:t> </a:t>
            </a:r>
            <a:r>
              <a:rPr spc="-10" dirty="0">
                <a:latin typeface="Trebuchet MS"/>
                <a:cs typeface="Trebuchet MS"/>
              </a:rPr>
              <a:t>was</a:t>
            </a:r>
            <a:r>
              <a:rPr spc="-165" dirty="0">
                <a:latin typeface="Trebuchet MS"/>
                <a:cs typeface="Trebuchet MS"/>
              </a:rPr>
              <a:t> </a:t>
            </a:r>
            <a:r>
              <a:rPr spc="-120" dirty="0">
                <a:latin typeface="Trebuchet MS"/>
                <a:cs typeface="Trebuchet MS"/>
              </a:rPr>
              <a:t>identified</a:t>
            </a:r>
            <a:r>
              <a:rPr spc="-140" dirty="0">
                <a:latin typeface="Trebuchet MS"/>
                <a:cs typeface="Trebuchet MS"/>
              </a:rPr>
              <a:t> </a:t>
            </a:r>
            <a:r>
              <a:rPr dirty="0">
                <a:latin typeface="Trebuchet MS"/>
                <a:cs typeface="Trebuchet MS"/>
              </a:rPr>
              <a:t>as</a:t>
            </a:r>
            <a:r>
              <a:rPr spc="-150" dirty="0">
                <a:latin typeface="Trebuchet MS"/>
                <a:cs typeface="Trebuchet MS"/>
              </a:rPr>
              <a:t> </a:t>
            </a:r>
            <a:r>
              <a:rPr spc="-60" dirty="0">
                <a:latin typeface="Trebuchet MS"/>
                <a:cs typeface="Trebuchet MS"/>
              </a:rPr>
              <a:t>the </a:t>
            </a:r>
            <a:r>
              <a:rPr spc="-110" dirty="0">
                <a:latin typeface="Trebuchet MS"/>
                <a:cs typeface="Trebuchet MS"/>
              </a:rPr>
              <a:t>primary</a:t>
            </a:r>
            <a:r>
              <a:rPr spc="-145" dirty="0">
                <a:latin typeface="Trebuchet MS"/>
                <a:cs typeface="Trebuchet MS"/>
              </a:rPr>
              <a:t> </a:t>
            </a:r>
            <a:r>
              <a:rPr spc="-75" dirty="0">
                <a:latin typeface="Trebuchet MS"/>
                <a:cs typeface="Trebuchet MS"/>
              </a:rPr>
              <a:t>hub</a:t>
            </a:r>
            <a:r>
              <a:rPr spc="-150" dirty="0">
                <a:latin typeface="Trebuchet MS"/>
                <a:cs typeface="Trebuchet MS"/>
              </a:rPr>
              <a:t> </a:t>
            </a:r>
            <a:r>
              <a:rPr spc="-125" dirty="0">
                <a:latin typeface="Trebuchet MS"/>
                <a:cs typeface="Trebuchet MS"/>
              </a:rPr>
              <a:t>for</a:t>
            </a:r>
            <a:r>
              <a:rPr spc="-135" dirty="0">
                <a:latin typeface="Trebuchet MS"/>
                <a:cs typeface="Trebuchet MS"/>
              </a:rPr>
              <a:t> </a:t>
            </a:r>
            <a:r>
              <a:rPr spc="-80" dirty="0">
                <a:latin typeface="Trebuchet MS"/>
                <a:cs typeface="Trebuchet MS"/>
              </a:rPr>
              <a:t>policy</a:t>
            </a:r>
            <a:r>
              <a:rPr spc="-145" dirty="0">
                <a:latin typeface="Trebuchet MS"/>
                <a:cs typeface="Trebuchet MS"/>
              </a:rPr>
              <a:t> </a:t>
            </a:r>
            <a:r>
              <a:rPr spc="-55" dirty="0">
                <a:latin typeface="Trebuchet MS"/>
                <a:cs typeface="Trebuchet MS"/>
              </a:rPr>
              <a:t>sales,</a:t>
            </a:r>
            <a:r>
              <a:rPr spc="-175" dirty="0">
                <a:latin typeface="Trebuchet MS"/>
                <a:cs typeface="Trebuchet MS"/>
              </a:rPr>
              <a:t> </a:t>
            </a:r>
            <a:r>
              <a:rPr lang="en-US" spc="-20" dirty="0">
                <a:latin typeface="Trebuchet MS"/>
                <a:cs typeface="Trebuchet MS"/>
              </a:rPr>
              <a:t>and Buffalo shows the least sales.</a:t>
            </a:r>
            <a:endParaRPr lang="en-US" dirty="0">
              <a:latin typeface="Trebuchet MS"/>
              <a:cs typeface="Trebuchet MS"/>
            </a:endParaRPr>
          </a:p>
          <a:p>
            <a:pPr marL="299085" marR="444500" indent="-287020">
              <a:lnSpc>
                <a:spcPct val="120000"/>
              </a:lnSpc>
              <a:spcBef>
                <a:spcPts val="994"/>
              </a:spcBef>
              <a:buFont typeface="Arial MT"/>
              <a:buChar char="•"/>
              <a:tabLst>
                <a:tab pos="299085" algn="l"/>
              </a:tabLst>
            </a:pPr>
            <a:r>
              <a:rPr spc="-60" dirty="0">
                <a:latin typeface="Trebuchet MS"/>
              </a:rPr>
              <a:t>The top </a:t>
            </a:r>
            <a:r>
              <a:rPr lang="en-US" spc="-60" dirty="0">
                <a:latin typeface="Trebuchet MS"/>
              </a:rPr>
              <a:t>five</a:t>
            </a:r>
            <a:r>
              <a:rPr spc="-60" dirty="0">
                <a:latin typeface="Trebuchet MS"/>
              </a:rPr>
              <a:t> regions for policy distribution are New York, Brooklyn,</a:t>
            </a:r>
            <a:r>
              <a:rPr lang="en-US" spc="-60" dirty="0">
                <a:latin typeface="Trebuchet MS"/>
              </a:rPr>
              <a:t> </a:t>
            </a:r>
            <a:r>
              <a:rPr spc="-60" dirty="0">
                <a:latin typeface="Trebuchet MS"/>
              </a:rPr>
              <a:t>the Bronx, </a:t>
            </a:r>
            <a:r>
              <a:rPr lang="en-US" spc="-60" dirty="0">
                <a:latin typeface="Trebuchet MS"/>
              </a:rPr>
              <a:t>States Island and Buffalo.</a:t>
            </a:r>
          </a:p>
          <a:p>
            <a:pPr marL="299085" marR="444500" indent="-287020">
              <a:lnSpc>
                <a:spcPct val="120000"/>
              </a:lnSpc>
              <a:spcBef>
                <a:spcPts val="994"/>
              </a:spcBef>
              <a:buFont typeface="Arial MT"/>
              <a:buChar char="•"/>
              <a:tabLst>
                <a:tab pos="299085" algn="l"/>
              </a:tabLst>
            </a:pPr>
            <a:r>
              <a:rPr lang="en-US" spc="-60" dirty="0">
                <a:latin typeface="Trebuchet MS"/>
              </a:rPr>
              <a:t>New York City is highlighted as Sponsor needs to focus on metropolitan area.</a:t>
            </a:r>
          </a:p>
          <a:p>
            <a:pPr marL="299085" marR="444500" indent="-287020">
              <a:lnSpc>
                <a:spcPct val="120000"/>
              </a:lnSpc>
              <a:spcBef>
                <a:spcPts val="994"/>
              </a:spcBef>
              <a:buFont typeface="Arial MT"/>
              <a:buChar char="•"/>
              <a:tabLst>
                <a:tab pos="299085" algn="l"/>
              </a:tabLst>
            </a:pPr>
            <a:endParaRPr dirty="0">
              <a:latin typeface="Trebuchet MS"/>
              <a:cs typeface="Trebuchet MS"/>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solidFill>
                  <a:srgbClr val="000000"/>
                </a:solidFill>
              </a:rPr>
              <a:t>9</a:t>
            </a:fld>
            <a:endParaRPr spc="-25" dirty="0">
              <a:solidFill>
                <a:srgbClr val="000000"/>
              </a:solidFill>
            </a:endParaRPr>
          </a:p>
        </p:txBody>
      </p:sp>
      <p:pic>
        <p:nvPicPr>
          <p:cNvPr id="7" name="Picture 6">
            <a:extLst>
              <a:ext uri="{FF2B5EF4-FFF2-40B4-BE49-F238E27FC236}">
                <a16:creationId xmlns:a16="http://schemas.microsoft.com/office/drawing/2014/main" id="{EA5360BC-00DE-758D-AAE2-50E6DBD6AA62}"/>
              </a:ext>
            </a:extLst>
          </p:cNvPr>
          <p:cNvPicPr>
            <a:picLocks noChangeAspect="1"/>
          </p:cNvPicPr>
          <p:nvPr/>
        </p:nvPicPr>
        <p:blipFill>
          <a:blip r:embed="rId2"/>
          <a:stretch>
            <a:fillRect/>
          </a:stretch>
        </p:blipFill>
        <p:spPr>
          <a:xfrm>
            <a:off x="4399421" y="893976"/>
            <a:ext cx="7682516" cy="47917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3800" y="76200"/>
            <a:ext cx="5214620" cy="443070"/>
          </a:xfrm>
          <a:prstGeom prst="rect">
            <a:avLst/>
          </a:prstGeom>
        </p:spPr>
        <p:txBody>
          <a:bodyPr vert="horz" wrap="square" lIns="0" tIns="12065" rIns="0" bIns="0" rtlCol="0">
            <a:spAutoFit/>
          </a:bodyPr>
          <a:lstStyle/>
          <a:p>
            <a:pPr marL="12700">
              <a:lnSpc>
                <a:spcPct val="100000"/>
              </a:lnSpc>
              <a:spcBef>
                <a:spcPts val="95"/>
              </a:spcBef>
            </a:pPr>
            <a:r>
              <a:rPr sz="2800" spc="-130" dirty="0"/>
              <a:t>ALL</a:t>
            </a:r>
            <a:r>
              <a:rPr sz="2800" spc="-295" dirty="0"/>
              <a:t> </a:t>
            </a:r>
            <a:r>
              <a:rPr sz="2800" spc="-35" dirty="0"/>
              <a:t>PLANS</a:t>
            </a:r>
            <a:r>
              <a:rPr sz="2800" spc="-270" dirty="0"/>
              <a:t> </a:t>
            </a:r>
            <a:r>
              <a:rPr sz="2800" spc="-90" dirty="0"/>
              <a:t>VS</a:t>
            </a:r>
            <a:r>
              <a:rPr sz="2800" spc="-295" dirty="0"/>
              <a:t> </a:t>
            </a:r>
            <a:r>
              <a:rPr sz="2800" spc="-150" dirty="0"/>
              <a:t>GENDERS</a:t>
            </a:r>
            <a:endParaRPr sz="2800" dirty="0"/>
          </a:p>
        </p:txBody>
      </p:sp>
      <p:sp>
        <p:nvSpPr>
          <p:cNvPr id="3" name="object 3"/>
          <p:cNvSpPr txBox="1"/>
          <p:nvPr/>
        </p:nvSpPr>
        <p:spPr>
          <a:xfrm>
            <a:off x="714857" y="869009"/>
            <a:ext cx="3589020" cy="2852704"/>
          </a:xfrm>
          <a:prstGeom prst="rect">
            <a:avLst/>
          </a:prstGeom>
        </p:spPr>
        <p:txBody>
          <a:bodyPr vert="horz" wrap="square" lIns="0" tIns="43815" rIns="0" bIns="0" rtlCol="0">
            <a:spAutoFit/>
          </a:bodyPr>
          <a:lstStyle/>
          <a:p>
            <a:pPr marL="299085" indent="-286385">
              <a:lnSpc>
                <a:spcPct val="100000"/>
              </a:lnSpc>
              <a:spcBef>
                <a:spcPts val="345"/>
              </a:spcBef>
              <a:buFont typeface="Arial MT"/>
              <a:buChar char="•"/>
              <a:tabLst>
                <a:tab pos="299085" algn="l"/>
              </a:tabLst>
            </a:pPr>
            <a:r>
              <a:rPr lang="en-US" sz="2000" b="0" i="0" dirty="0">
                <a:solidFill>
                  <a:srgbClr val="0D0D0D"/>
                </a:solidFill>
                <a:effectLst/>
                <a:highlight>
                  <a:srgbClr val="FFFFFF"/>
                </a:highlight>
                <a:latin typeface="Söhne"/>
              </a:rPr>
              <a:t>More males than females are enrolled in the plans, indicating an imbalance</a:t>
            </a:r>
          </a:p>
          <a:p>
            <a:pPr marL="299085" indent="-286385">
              <a:lnSpc>
                <a:spcPct val="100000"/>
              </a:lnSpc>
              <a:spcBef>
                <a:spcPts val="345"/>
              </a:spcBef>
              <a:buFont typeface="Arial MT"/>
              <a:buChar char="•"/>
              <a:tabLst>
                <a:tab pos="299085" algn="l"/>
              </a:tabLst>
            </a:pPr>
            <a:r>
              <a:rPr lang="en-IN" sz="2000" dirty="0">
                <a:solidFill>
                  <a:srgbClr val="0D0D0D"/>
                </a:solidFill>
                <a:effectLst/>
                <a:highlight>
                  <a:srgbClr val="FFFFFF"/>
                </a:highlight>
                <a:latin typeface="Söhne"/>
              </a:rPr>
              <a:t>The sponsor aims to boost female enrolment by improving coverage benefits tailored for them.</a:t>
            </a:r>
            <a:r>
              <a:rPr lang="en-IN" sz="2000" dirty="0">
                <a:solidFill>
                  <a:srgbClr val="0D0D0D"/>
                </a:solidFill>
                <a:highlight>
                  <a:srgbClr val="FFFFFF"/>
                </a:highlight>
                <a:latin typeface="Söhne"/>
              </a:rPr>
              <a:t> This strategy seeks to address the gender imbalance in plan enrolment.</a:t>
            </a:r>
            <a:endParaRPr lang="en-IN" sz="2000" dirty="0">
              <a:solidFill>
                <a:srgbClr val="0D0D0D"/>
              </a:solidFill>
              <a:effectLst/>
              <a:highlight>
                <a:srgbClr val="FFFFFF"/>
              </a:highlight>
              <a:latin typeface="Söhne"/>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solidFill>
                  <a:srgbClr val="000000"/>
                </a:solidFill>
              </a:rPr>
              <a:t>10</a:t>
            </a:fld>
            <a:endParaRPr spc="-25" dirty="0">
              <a:solidFill>
                <a:srgbClr val="000000"/>
              </a:solidFill>
            </a:endParaRPr>
          </a:p>
        </p:txBody>
      </p:sp>
      <p:pic>
        <p:nvPicPr>
          <p:cNvPr id="6" name="Picture 5">
            <a:extLst>
              <a:ext uri="{FF2B5EF4-FFF2-40B4-BE49-F238E27FC236}">
                <a16:creationId xmlns:a16="http://schemas.microsoft.com/office/drawing/2014/main" id="{E46DE99B-AEC9-2AF0-3F1B-E5DC6F44F7F3}"/>
              </a:ext>
            </a:extLst>
          </p:cNvPr>
          <p:cNvPicPr>
            <a:picLocks noChangeAspect="1"/>
          </p:cNvPicPr>
          <p:nvPr/>
        </p:nvPicPr>
        <p:blipFill>
          <a:blip r:embed="rId2"/>
          <a:stretch>
            <a:fillRect/>
          </a:stretch>
        </p:blipFill>
        <p:spPr>
          <a:xfrm>
            <a:off x="7162800" y="841577"/>
            <a:ext cx="3753374" cy="52152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12" y="95279"/>
            <a:ext cx="11994388" cy="443070"/>
          </a:xfrm>
          <a:prstGeom prst="rect">
            <a:avLst/>
          </a:prstGeom>
        </p:spPr>
        <p:txBody>
          <a:bodyPr vert="horz" wrap="square" lIns="0" tIns="12065" rIns="0" bIns="0" rtlCol="0">
            <a:spAutoFit/>
          </a:bodyPr>
          <a:lstStyle/>
          <a:p>
            <a:pPr marL="161290">
              <a:lnSpc>
                <a:spcPct val="100000"/>
              </a:lnSpc>
              <a:spcBef>
                <a:spcPts val="95"/>
              </a:spcBef>
            </a:pPr>
            <a:r>
              <a:rPr sz="2800" spc="-90" dirty="0"/>
              <a:t>PRIMARY</a:t>
            </a:r>
            <a:r>
              <a:rPr sz="2800" spc="-114" dirty="0"/>
              <a:t> </a:t>
            </a:r>
            <a:r>
              <a:rPr sz="2800" spc="-130" dirty="0"/>
              <a:t>DESIGNATIONS</a:t>
            </a:r>
            <a:r>
              <a:rPr sz="2800" spc="-114" dirty="0"/>
              <a:t> </a:t>
            </a:r>
            <a:r>
              <a:rPr sz="2800" spc="-254" dirty="0"/>
              <a:t>OF</a:t>
            </a:r>
            <a:r>
              <a:rPr sz="2800" spc="-155" dirty="0"/>
              <a:t> </a:t>
            </a:r>
            <a:r>
              <a:rPr sz="2800" spc="-145" dirty="0"/>
              <a:t>PROVIDERS</a:t>
            </a:r>
            <a:r>
              <a:rPr sz="2800" spc="-114" dirty="0"/>
              <a:t> </a:t>
            </a:r>
            <a:r>
              <a:rPr sz="2800" spc="-65" dirty="0"/>
              <a:t>AND</a:t>
            </a:r>
            <a:r>
              <a:rPr sz="2800" spc="-140" dirty="0"/>
              <a:t> </a:t>
            </a:r>
            <a:r>
              <a:rPr sz="2800" spc="-130" dirty="0"/>
              <a:t>CORRESPONDING</a:t>
            </a:r>
            <a:r>
              <a:rPr sz="2800" spc="-114" dirty="0"/>
              <a:t> </a:t>
            </a:r>
            <a:r>
              <a:rPr sz="2800" spc="-20" dirty="0"/>
              <a:t>PLAN</a:t>
            </a:r>
            <a:r>
              <a:rPr sz="2800" spc="-135" dirty="0"/>
              <a:t> </a:t>
            </a:r>
            <a:r>
              <a:rPr sz="2800" spc="-10" dirty="0"/>
              <a:t>NAMES</a:t>
            </a:r>
            <a:endParaRPr sz="2800" dirty="0"/>
          </a:p>
        </p:txBody>
      </p:sp>
      <p:sp>
        <p:nvSpPr>
          <p:cNvPr id="3" name="object 3"/>
          <p:cNvSpPr txBox="1"/>
          <p:nvPr/>
        </p:nvSpPr>
        <p:spPr>
          <a:xfrm>
            <a:off x="795324" y="849858"/>
            <a:ext cx="3671570" cy="2505814"/>
          </a:xfrm>
          <a:prstGeom prst="rect">
            <a:avLst/>
          </a:prstGeom>
        </p:spPr>
        <p:txBody>
          <a:bodyPr vert="horz" wrap="square" lIns="0" tIns="12700" rIns="0" bIns="0" rtlCol="0">
            <a:spAutoFit/>
          </a:bodyPr>
          <a:lstStyle/>
          <a:p>
            <a:pPr marL="285750" indent="-285750" algn="l">
              <a:buFont typeface="Arial" panose="020B0604020202020204" pitchFamily="34" charset="0"/>
              <a:buChar char="•"/>
            </a:pPr>
            <a:endParaRPr lang="en-IN" sz="1800" dirty="0">
              <a:solidFill>
                <a:srgbClr val="0D0D0D"/>
              </a:solidFill>
              <a:effectLst/>
              <a:highlight>
                <a:srgbClr val="FFFFFF"/>
              </a:highlight>
              <a:latin typeface="Söhne"/>
            </a:endParaRPr>
          </a:p>
          <a:p>
            <a:pPr marL="285750" indent="-285750" algn="l">
              <a:buFont typeface="Arial" panose="020B0604020202020204" pitchFamily="34" charset="0"/>
              <a:buChar char="•"/>
            </a:pPr>
            <a:r>
              <a:rPr lang="en-US" b="0" i="0" dirty="0">
                <a:solidFill>
                  <a:srgbClr val="0D0D0D"/>
                </a:solidFill>
                <a:effectLst/>
                <a:highlight>
                  <a:srgbClr val="FFFFFF"/>
                </a:highlight>
                <a:latin typeface="Söhne"/>
              </a:rPr>
              <a:t>Specialists comprise the majority of healthcare providers, potentially shaping patient access to specialized medical services.</a:t>
            </a:r>
          </a:p>
          <a:p>
            <a:pPr marL="285750" indent="-285750" algn="l">
              <a:buFont typeface="Arial" panose="020B0604020202020204" pitchFamily="34" charset="0"/>
              <a:buChar char="•"/>
            </a:pPr>
            <a:r>
              <a:rPr lang="en-US" b="0" i="0" dirty="0">
                <a:solidFill>
                  <a:srgbClr val="0D0D0D"/>
                </a:solidFill>
                <a:effectLst/>
                <a:highlight>
                  <a:srgbClr val="FFFFFF"/>
                </a:highlight>
                <a:latin typeface="Söhne"/>
              </a:rPr>
              <a:t>Investing in specialist providers ensures patients get the best care in their chosen field, meeting their needs effectively.</a:t>
            </a:r>
            <a:endParaRPr lang="en-IN" sz="1800" dirty="0">
              <a:solidFill>
                <a:srgbClr val="0D0D0D"/>
              </a:solidFill>
              <a:effectLst/>
              <a:highlight>
                <a:srgbClr val="FFFFFF"/>
              </a:highlight>
              <a:latin typeface="Söhne"/>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solidFill>
                  <a:srgbClr val="000000"/>
                </a:solidFill>
              </a:rPr>
              <a:t>11</a:t>
            </a:fld>
            <a:endParaRPr spc="-25" dirty="0">
              <a:solidFill>
                <a:srgbClr val="000000"/>
              </a:solidFill>
            </a:endParaRPr>
          </a:p>
        </p:txBody>
      </p:sp>
      <p:pic>
        <p:nvPicPr>
          <p:cNvPr id="6" name="Picture 5">
            <a:extLst>
              <a:ext uri="{FF2B5EF4-FFF2-40B4-BE49-F238E27FC236}">
                <a16:creationId xmlns:a16="http://schemas.microsoft.com/office/drawing/2014/main" id="{913A2AF7-363D-B5DD-AF10-24121EF411BE}"/>
              </a:ext>
            </a:extLst>
          </p:cNvPr>
          <p:cNvPicPr>
            <a:picLocks noChangeAspect="1"/>
          </p:cNvPicPr>
          <p:nvPr/>
        </p:nvPicPr>
        <p:blipFill>
          <a:blip r:embed="rId2"/>
          <a:stretch>
            <a:fillRect/>
          </a:stretch>
        </p:blipFill>
        <p:spPr>
          <a:xfrm>
            <a:off x="4466894" y="762000"/>
            <a:ext cx="6923912" cy="533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0600" y="169808"/>
            <a:ext cx="12253976" cy="443711"/>
          </a:xfrm>
          <a:prstGeom prst="rect">
            <a:avLst/>
          </a:prstGeom>
        </p:spPr>
        <p:txBody>
          <a:bodyPr vert="horz" wrap="square" lIns="0" tIns="12700" rIns="0" bIns="0" rtlCol="0">
            <a:spAutoFit/>
          </a:bodyPr>
          <a:lstStyle/>
          <a:p>
            <a:pPr marL="12700">
              <a:lnSpc>
                <a:spcPct val="100000"/>
              </a:lnSpc>
              <a:spcBef>
                <a:spcPts val="100"/>
              </a:spcBef>
            </a:pPr>
            <a:r>
              <a:rPr sz="2800" spc="-105" dirty="0"/>
              <a:t>COMPARISON</a:t>
            </a:r>
            <a:r>
              <a:rPr sz="2800" spc="-265" dirty="0"/>
              <a:t> </a:t>
            </a:r>
            <a:r>
              <a:rPr sz="2800" spc="-315" dirty="0"/>
              <a:t>OF</a:t>
            </a:r>
            <a:r>
              <a:rPr sz="2800" spc="-229" dirty="0"/>
              <a:t> </a:t>
            </a:r>
            <a:r>
              <a:rPr sz="2800" spc="-114" dirty="0"/>
              <a:t>INSURANCE</a:t>
            </a:r>
            <a:r>
              <a:rPr sz="2800" spc="-245" dirty="0"/>
              <a:t> </a:t>
            </a:r>
            <a:r>
              <a:rPr sz="2800" spc="-25" dirty="0"/>
              <a:t>PLANS</a:t>
            </a:r>
            <a:r>
              <a:rPr sz="2800" spc="-250" dirty="0"/>
              <a:t> </a:t>
            </a:r>
            <a:r>
              <a:rPr sz="2800" spc="-110" dirty="0"/>
              <a:t>ACROSS</a:t>
            </a:r>
            <a:r>
              <a:rPr sz="2800" spc="-245" dirty="0"/>
              <a:t> </a:t>
            </a:r>
            <a:r>
              <a:rPr sz="2800" spc="-215" dirty="0"/>
              <a:t>PROVIDER</a:t>
            </a:r>
            <a:r>
              <a:rPr sz="2800" spc="-250" dirty="0"/>
              <a:t> </a:t>
            </a:r>
            <a:r>
              <a:rPr sz="2800" spc="-30" dirty="0"/>
              <a:t>TYPES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solidFill>
                  <a:srgbClr val="000000"/>
                </a:solidFill>
              </a:rPr>
              <a:t>12</a:t>
            </a:fld>
            <a:endParaRPr spc="-25" dirty="0">
              <a:solidFill>
                <a:srgbClr val="000000"/>
              </a:solidFill>
            </a:endParaRPr>
          </a:p>
        </p:txBody>
      </p:sp>
      <p:sp>
        <p:nvSpPr>
          <p:cNvPr id="4" name="object 4"/>
          <p:cNvSpPr txBox="1"/>
          <p:nvPr/>
        </p:nvSpPr>
        <p:spPr>
          <a:xfrm>
            <a:off x="457200" y="845626"/>
            <a:ext cx="3941495" cy="3992183"/>
          </a:xfrm>
          <a:prstGeom prst="rect">
            <a:avLst/>
          </a:prstGeom>
        </p:spPr>
        <p:txBody>
          <a:bodyPr vert="horz" wrap="square" lIns="0" tIns="12065" rIns="0" bIns="0" rtlCol="0">
            <a:spAutoFit/>
          </a:bodyPr>
          <a:lstStyle/>
          <a:p>
            <a:pPr marL="299085" marR="418465" indent="-287020">
              <a:lnSpc>
                <a:spcPct val="110100"/>
              </a:lnSpc>
              <a:spcBef>
                <a:spcPts val="95"/>
              </a:spcBef>
              <a:buFont typeface="Arial MT"/>
              <a:buChar char="•"/>
              <a:tabLst>
                <a:tab pos="299085" algn="l"/>
              </a:tabLst>
            </a:pPr>
            <a:r>
              <a:rPr lang="en-US" b="0" i="0" dirty="0">
                <a:solidFill>
                  <a:srgbClr val="0D0D0D"/>
                </a:solidFill>
                <a:effectLst/>
                <a:highlight>
                  <a:srgbClr val="FFFFFF"/>
                </a:highlight>
                <a:latin typeface="Söhne"/>
              </a:rPr>
              <a:t>Empire </a:t>
            </a:r>
            <a:r>
              <a:rPr lang="en-US" b="0" i="0" dirty="0" err="1">
                <a:solidFill>
                  <a:srgbClr val="0D0D0D"/>
                </a:solidFill>
                <a:effectLst/>
                <a:highlight>
                  <a:srgbClr val="FFFFFF"/>
                </a:highlight>
                <a:latin typeface="Söhne"/>
              </a:rPr>
              <a:t>Healthchoice</a:t>
            </a:r>
            <a:r>
              <a:rPr lang="en-US" b="0" i="0" dirty="0">
                <a:solidFill>
                  <a:srgbClr val="0D0D0D"/>
                </a:solidFill>
                <a:effectLst/>
                <a:highlight>
                  <a:srgbClr val="FFFFFF"/>
                </a:highlight>
                <a:latin typeface="Söhne"/>
              </a:rPr>
              <a:t> Assurance has more Medial Doctors(MD) across various specialties than Aetna Life, suggesting broader coverage options.</a:t>
            </a:r>
          </a:p>
          <a:p>
            <a:pPr marL="299085" marR="418465" indent="-287020">
              <a:lnSpc>
                <a:spcPct val="110100"/>
              </a:lnSpc>
              <a:spcBef>
                <a:spcPts val="95"/>
              </a:spcBef>
              <a:buFont typeface="Arial MT"/>
              <a:buChar char="•"/>
              <a:tabLst>
                <a:tab pos="299085" algn="l"/>
              </a:tabLst>
            </a:pPr>
            <a:r>
              <a:rPr lang="en-US" b="0" i="0" dirty="0">
                <a:solidFill>
                  <a:srgbClr val="0D0D0D"/>
                </a:solidFill>
                <a:effectLst/>
                <a:highlight>
                  <a:srgbClr val="FFFFFF"/>
                </a:highlight>
                <a:latin typeface="Söhne"/>
              </a:rPr>
              <a:t>Sponsors should focus on hiring more medical doctors (MD) for Empire </a:t>
            </a:r>
            <a:r>
              <a:rPr lang="en-US" b="0" i="0" dirty="0" err="1">
                <a:solidFill>
                  <a:srgbClr val="0D0D0D"/>
                </a:solidFill>
                <a:effectLst/>
                <a:highlight>
                  <a:srgbClr val="FFFFFF"/>
                </a:highlight>
                <a:latin typeface="Söhne"/>
              </a:rPr>
              <a:t>Healthchoice</a:t>
            </a:r>
            <a:r>
              <a:rPr lang="en-US" b="0" i="0" dirty="0">
                <a:solidFill>
                  <a:srgbClr val="0D0D0D"/>
                </a:solidFill>
                <a:effectLst/>
                <a:highlight>
                  <a:srgbClr val="FFFFFF"/>
                </a:highlight>
                <a:latin typeface="Söhne"/>
              </a:rPr>
              <a:t> Assurance to improve benefits and services for customers due to higher demand.</a:t>
            </a:r>
            <a:endParaRPr lang="en-IN" dirty="0">
              <a:latin typeface="Calibri" panose="020F0502020204030204" pitchFamily="34" charset="0"/>
            </a:endParaRPr>
          </a:p>
          <a:p>
            <a:pPr marL="0" marR="0">
              <a:spcBef>
                <a:spcPts val="0"/>
              </a:spcBef>
              <a:spcAft>
                <a:spcPts val="0"/>
              </a:spcAft>
            </a:pPr>
            <a:r>
              <a:rPr lang="en-IN" sz="1800" dirty="0">
                <a:effectLst/>
                <a:latin typeface="Calibri" panose="020F0502020204030204" pitchFamily="34" charset="0"/>
              </a:rPr>
              <a:t> </a:t>
            </a:r>
          </a:p>
          <a:p>
            <a:pPr marL="299085" marR="418465" indent="-287020">
              <a:lnSpc>
                <a:spcPct val="110100"/>
              </a:lnSpc>
              <a:spcBef>
                <a:spcPts val="95"/>
              </a:spcBef>
              <a:buFont typeface="Arial MT"/>
              <a:buChar char="•"/>
              <a:tabLst>
                <a:tab pos="299085" algn="l"/>
              </a:tabLst>
            </a:pPr>
            <a:endParaRPr lang="en-IN" sz="1800" dirty="0">
              <a:effectLst/>
              <a:latin typeface="Calibri" panose="020F0502020204030204" pitchFamily="34" charset="0"/>
            </a:endParaRPr>
          </a:p>
          <a:p>
            <a:pPr marL="299085" marR="418465" indent="-287020">
              <a:lnSpc>
                <a:spcPct val="110100"/>
              </a:lnSpc>
              <a:spcBef>
                <a:spcPts val="95"/>
              </a:spcBef>
              <a:buFont typeface="Arial MT"/>
              <a:buChar char="•"/>
              <a:tabLst>
                <a:tab pos="299085" algn="l"/>
              </a:tabLst>
            </a:pPr>
            <a:endParaRPr lang="en-IN" sz="2000" dirty="0">
              <a:latin typeface="Trebuchet MS"/>
              <a:cs typeface="Trebuchet MS"/>
            </a:endParaRPr>
          </a:p>
        </p:txBody>
      </p:sp>
      <p:pic>
        <p:nvPicPr>
          <p:cNvPr id="6" name="Picture 5">
            <a:extLst>
              <a:ext uri="{FF2B5EF4-FFF2-40B4-BE49-F238E27FC236}">
                <a16:creationId xmlns:a16="http://schemas.microsoft.com/office/drawing/2014/main" id="{101DCD5B-FBDB-D0DA-1820-839D21F13590}"/>
              </a:ext>
            </a:extLst>
          </p:cNvPr>
          <p:cNvPicPr>
            <a:picLocks noChangeAspect="1"/>
          </p:cNvPicPr>
          <p:nvPr/>
        </p:nvPicPr>
        <p:blipFill>
          <a:blip r:embed="rId2"/>
          <a:stretch>
            <a:fillRect/>
          </a:stretch>
        </p:blipFill>
        <p:spPr>
          <a:xfrm>
            <a:off x="4495799" y="762000"/>
            <a:ext cx="7016701" cy="533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object 6"/>
          <p:cNvSpPr txBox="1">
            <a:spLocks noGrp="1"/>
          </p:cNvSpPr>
          <p:nvPr>
            <p:ph type="title"/>
          </p:nvPr>
        </p:nvSpPr>
        <p:spPr>
          <a:xfrm>
            <a:off x="1333480" y="258343"/>
            <a:ext cx="5393361" cy="805419"/>
          </a:xfrm>
        </p:spPr>
        <p:txBody>
          <a:bodyPr vert="horz" lIns="91440" tIns="45720" rIns="91440" bIns="45720" rtlCol="0">
            <a:normAutofit/>
          </a:bodyPr>
          <a:lstStyle/>
          <a:p>
            <a:pPr marL="12700" algn="ctr" rtl="0">
              <a:spcBef>
                <a:spcPct val="0"/>
              </a:spcBef>
            </a:pPr>
            <a:r>
              <a:rPr lang="en-US" b="0" i="0" u="sng" kern="1200" spc="-254" dirty="0">
                <a:uFill>
                  <a:solidFill>
                    <a:srgbClr val="000000"/>
                  </a:solidFill>
                </a:uFill>
                <a:latin typeface="Trebuchet MS" panose="020B0603020202020204" pitchFamily="34" charset="0"/>
                <a:cs typeface="+mj-cs"/>
              </a:rPr>
              <a:t>3-</a:t>
            </a:r>
            <a:r>
              <a:rPr lang="en-US" b="0" i="0" u="sng" kern="1200" spc="-155" dirty="0">
                <a:uFill>
                  <a:solidFill>
                    <a:srgbClr val="000000"/>
                  </a:solidFill>
                </a:uFill>
                <a:latin typeface="Trebuchet MS" panose="020B0603020202020204" pitchFamily="34" charset="0"/>
                <a:cs typeface="+mj-cs"/>
              </a:rPr>
              <a:t>MINUTE</a:t>
            </a:r>
            <a:r>
              <a:rPr lang="en-US" b="0" i="0" u="sng" kern="1200" spc="-245" dirty="0">
                <a:uFill>
                  <a:solidFill>
                    <a:srgbClr val="000000"/>
                  </a:solidFill>
                </a:uFill>
                <a:latin typeface="Trebuchet MS" panose="020B0603020202020204" pitchFamily="34" charset="0"/>
                <a:cs typeface="+mj-cs"/>
              </a:rPr>
              <a:t> </a:t>
            </a:r>
            <a:r>
              <a:rPr lang="en-US" b="0" i="0" u="sng" kern="1200" spc="-275" dirty="0">
                <a:uFill>
                  <a:solidFill>
                    <a:srgbClr val="000000"/>
                  </a:solidFill>
                </a:uFill>
                <a:latin typeface="Trebuchet MS" panose="020B0603020202020204" pitchFamily="34" charset="0"/>
                <a:cs typeface="+mj-cs"/>
              </a:rPr>
              <a:t>STORY</a:t>
            </a:r>
            <a:endParaRPr lang="en-US" b="0" i="0" kern="1200" dirty="0">
              <a:latin typeface="Trebuchet MS" panose="020B0603020202020204" pitchFamily="34" charset="0"/>
              <a:cs typeface="+mj-cs"/>
            </a:endParaRPr>
          </a:p>
        </p:txBody>
      </p:sp>
      <p:sp>
        <p:nvSpPr>
          <p:cNvPr id="15" name="Content Placeholder 3">
            <a:extLst>
              <a:ext uri="{FF2B5EF4-FFF2-40B4-BE49-F238E27FC236}">
                <a16:creationId xmlns:a16="http://schemas.microsoft.com/office/drawing/2014/main" id="{4A53B0E1-80DB-B616-D307-5A5E0465F401}"/>
              </a:ext>
            </a:extLst>
          </p:cNvPr>
          <p:cNvSpPr>
            <a:spLocks noGrp="1"/>
          </p:cNvSpPr>
          <p:nvPr>
            <p:ph sz="half" idx="3"/>
          </p:nvPr>
        </p:nvSpPr>
        <p:spPr>
          <a:xfrm>
            <a:off x="381000" y="1285789"/>
            <a:ext cx="6269661" cy="4957763"/>
          </a:xfrm>
        </p:spPr>
        <p:txBody>
          <a:bodyPr vert="horz" lIns="91440" tIns="45720" rIns="91440" bIns="45720" rtlCol="0">
            <a:normAutofit/>
          </a:bodyPr>
          <a:lstStyle/>
          <a:p>
            <a:pPr rtl="0">
              <a:lnSpc>
                <a:spcPct val="90000"/>
              </a:lnSpc>
              <a:spcAft>
                <a:spcPts val="600"/>
              </a:spcAft>
            </a:pPr>
            <a:r>
              <a:rPr lang="en-US" sz="1200" kern="1200" dirty="0">
                <a:latin typeface="Trebuchet MS" panose="020B0603020202020204" pitchFamily="34" charset="0"/>
                <a:cs typeface="+mn-cs"/>
              </a:rPr>
              <a:t>	</a:t>
            </a:r>
            <a:r>
              <a:rPr lang="en-US" sz="1200" b="0" i="0" kern="1200" dirty="0">
                <a:latin typeface="Trebuchet MS" panose="020B0603020202020204" pitchFamily="34" charset="0"/>
                <a:cs typeface="+mn-cs"/>
              </a:rPr>
              <a:t>Over the past few years, Healthcare Insurance Policies have gone through a drastic hike and a couple hundred policies were introduced in the market, with </a:t>
            </a:r>
            <a:r>
              <a:rPr lang="en-US" sz="1200" b="1" i="0" kern="1200" dirty="0">
                <a:latin typeface="Trebuchet MS" panose="020B0603020202020204" pitchFamily="34" charset="0"/>
                <a:cs typeface="+mn-cs"/>
              </a:rPr>
              <a:t>Vital Health </a:t>
            </a:r>
            <a:r>
              <a:rPr lang="en-US" sz="1200" b="0" i="0" kern="1200" dirty="0">
                <a:latin typeface="Trebuchet MS" panose="020B0603020202020204" pitchFamily="34" charset="0"/>
                <a:cs typeface="+mn-cs"/>
              </a:rPr>
              <a:t>Insurance struggling to ensure fairness in enrollment and accommodate preferences for specialized care. Fluctuations in plan purchases also hinder consistent coverage levels. Analyzing demographic trends and factors influencing healthcare preferences is crucial for understanding these challenges. By leveraging available data, </a:t>
            </a:r>
            <a:r>
              <a:rPr lang="en-US" sz="1200" b="1" i="0" kern="1200" dirty="0">
                <a:latin typeface="Trebuchet MS" panose="020B0603020202020204" pitchFamily="34" charset="0"/>
                <a:cs typeface="+mn-cs"/>
              </a:rPr>
              <a:t>Vital Health </a:t>
            </a:r>
            <a:r>
              <a:rPr lang="en-US" sz="1200" b="0" i="0" kern="1200" dirty="0">
                <a:latin typeface="Trebuchet MS" panose="020B0603020202020204" pitchFamily="34" charset="0"/>
                <a:cs typeface="+mn-cs"/>
              </a:rPr>
              <a:t>Care aims to develop targeted strategies to enhance insurance accessibility and optimize plan offerings, effectively meeting the diverse needs of its customer base.</a:t>
            </a:r>
          </a:p>
          <a:p>
            <a:pPr rtl="0">
              <a:lnSpc>
                <a:spcPct val="90000"/>
              </a:lnSpc>
              <a:spcAft>
                <a:spcPts val="600"/>
              </a:spcAft>
            </a:pPr>
            <a:endParaRPr lang="en-US" sz="1200" kern="1200" dirty="0">
              <a:latin typeface="Trebuchet MS" panose="020B0603020202020204" pitchFamily="34" charset="0"/>
              <a:cs typeface="+mn-cs"/>
            </a:endParaRPr>
          </a:p>
          <a:p>
            <a:pPr rtl="0">
              <a:lnSpc>
                <a:spcPct val="90000"/>
              </a:lnSpc>
              <a:spcAft>
                <a:spcPts val="600"/>
              </a:spcAft>
            </a:pPr>
            <a:r>
              <a:rPr lang="en-US" sz="1200" b="0" i="0" kern="1200" dirty="0">
                <a:latin typeface="Trebuchet MS" panose="020B0603020202020204" pitchFamily="34" charset="0"/>
                <a:cs typeface="+mn-cs"/>
              </a:rPr>
              <a:t>	 Through careful analysis, we can uncover patterns in provider participation, the distribution of healthcare resources across New York City, and the prevalence of different types of insurance plans among various demographics. Interestingly, our analysis reveals that while approximately 80% of males opt for insurance policies, females show less interest in obtaining coverage. Furthermore, it appears that there is a preference for purchasing plans in Quarter 3 compared to Quarter 4, indicating potential seasonal trends in insurance uptake. Additionally, it's notable that over 30,000 individuals prefer specialist care over primary care providers for their health plans. </a:t>
            </a:r>
          </a:p>
          <a:p>
            <a:pPr rtl="0">
              <a:lnSpc>
                <a:spcPct val="90000"/>
              </a:lnSpc>
              <a:spcAft>
                <a:spcPts val="600"/>
              </a:spcAft>
            </a:pPr>
            <a:endParaRPr lang="en-US" sz="2000" spc="-105" dirty="0">
              <a:latin typeface="Trebuchet MS" panose="020B0603020202020204" pitchFamily="34" charset="0"/>
            </a:endParaRPr>
          </a:p>
          <a:p>
            <a:pPr rtl="0">
              <a:lnSpc>
                <a:spcPct val="90000"/>
              </a:lnSpc>
              <a:spcAft>
                <a:spcPts val="600"/>
              </a:spcAft>
            </a:pPr>
            <a:r>
              <a:rPr lang="en-US" sz="1200" b="0" i="0" kern="1200" dirty="0">
                <a:latin typeface="Trebuchet MS" panose="020B0603020202020204" pitchFamily="34" charset="0"/>
                <a:cs typeface="+mn-cs"/>
              </a:rPr>
              <a:t>	In conclusion, the selection of individual Provider Network Data proves crucial for Vital Care Health Insurance's mission to enhance healthcare access and coverage effectiveness. Focusing on the Designation of providers and their types may provide a competitive advantage over other insurance companies. Moreover, attracting female customers is imperative for achieving broader market penetration and success. By addressing these factors, Vital Care can strengthen its position in the insurance market and effectively contribute to improving healthcare access and outcomes for its customers.</a:t>
            </a:r>
          </a:p>
        </p:txBody>
      </p:sp>
      <p:pic>
        <p:nvPicPr>
          <p:cNvPr id="17" name="Picture 16" descr="Magnifying glass showing decling performance">
            <a:extLst>
              <a:ext uri="{FF2B5EF4-FFF2-40B4-BE49-F238E27FC236}">
                <a16:creationId xmlns:a16="http://schemas.microsoft.com/office/drawing/2014/main" id="{FFF9D1F5-AB39-B678-114A-AA63919A4A9A}"/>
              </a:ext>
            </a:extLst>
          </p:cNvPr>
          <p:cNvPicPr>
            <a:picLocks noChangeAspect="1"/>
          </p:cNvPicPr>
          <p:nvPr/>
        </p:nvPicPr>
        <p:blipFill rotWithShape="1">
          <a:blip r:embed="rId2"/>
          <a:srcRect l="156" r="33093" b="-2"/>
          <a:stretch/>
        </p:blipFill>
        <p:spPr>
          <a:xfrm>
            <a:off x="7069761" y="758514"/>
            <a:ext cx="4427397"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5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0"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00862" y="724662"/>
            <a:ext cx="1638300" cy="0"/>
          </a:xfrm>
          <a:custGeom>
            <a:avLst/>
            <a:gdLst/>
            <a:ahLst/>
            <a:cxnLst/>
            <a:rect l="l" t="t" r="r" b="b"/>
            <a:pathLst>
              <a:path w="1638300">
                <a:moveTo>
                  <a:pt x="0" y="0"/>
                </a:moveTo>
                <a:lnTo>
                  <a:pt x="1638300" y="0"/>
                </a:lnTo>
              </a:path>
            </a:pathLst>
          </a:custGeom>
          <a:ln w="44450">
            <a:solidFill>
              <a:srgbClr val="000000"/>
            </a:solidFill>
          </a:ln>
        </p:spPr>
        <p:txBody>
          <a:bodyPr wrap="square" lIns="0" tIns="0" rIns="0" bIns="0" rtlCol="0"/>
          <a:lstStyle/>
          <a:p>
            <a:endParaRPr/>
          </a:p>
        </p:txBody>
      </p:sp>
      <p:pic>
        <p:nvPicPr>
          <p:cNvPr id="3" name="object 3"/>
          <p:cNvPicPr/>
          <p:nvPr/>
        </p:nvPicPr>
        <p:blipFill>
          <a:blip r:embed="rId2" cstate="print"/>
          <a:stretch>
            <a:fillRect/>
          </a:stretch>
        </p:blipFill>
        <p:spPr>
          <a:xfrm>
            <a:off x="4876800" y="47"/>
            <a:ext cx="7315200" cy="6857746"/>
          </a:xfrm>
          <a:prstGeom prst="rect">
            <a:avLst/>
          </a:prstGeom>
        </p:spPr>
      </p:pic>
      <p:sp>
        <p:nvSpPr>
          <p:cNvPr id="4" name="object 4"/>
          <p:cNvSpPr txBox="1">
            <a:spLocks noGrp="1"/>
          </p:cNvSpPr>
          <p:nvPr>
            <p:ph type="title"/>
          </p:nvPr>
        </p:nvSpPr>
        <p:spPr>
          <a:xfrm>
            <a:off x="782218" y="920623"/>
            <a:ext cx="2879090" cy="635000"/>
          </a:xfrm>
          <a:prstGeom prst="rect">
            <a:avLst/>
          </a:prstGeom>
        </p:spPr>
        <p:txBody>
          <a:bodyPr vert="horz" wrap="square" lIns="0" tIns="12065" rIns="0" bIns="0" rtlCol="0">
            <a:spAutoFit/>
          </a:bodyPr>
          <a:lstStyle/>
          <a:p>
            <a:pPr marL="12700">
              <a:lnSpc>
                <a:spcPct val="100000"/>
              </a:lnSpc>
              <a:spcBef>
                <a:spcPts val="95"/>
              </a:spcBef>
            </a:pPr>
            <a:r>
              <a:rPr sz="4000" spc="-285" dirty="0"/>
              <a:t>THE</a:t>
            </a:r>
            <a:r>
              <a:rPr sz="4000" spc="-295" dirty="0"/>
              <a:t> </a:t>
            </a:r>
            <a:r>
              <a:rPr sz="4000" spc="-180" dirty="0"/>
              <a:t>BIG</a:t>
            </a:r>
            <a:r>
              <a:rPr sz="4000" spc="-295" dirty="0"/>
              <a:t> </a:t>
            </a:r>
            <a:r>
              <a:rPr sz="4000" spc="-175" dirty="0"/>
              <a:t>IDEA</a:t>
            </a:r>
            <a:endParaRPr sz="400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t>14</a:t>
            </a:fld>
            <a:endParaRPr spc="-25" dirty="0"/>
          </a:p>
        </p:txBody>
      </p:sp>
      <p:sp>
        <p:nvSpPr>
          <p:cNvPr id="5" name="object 5"/>
          <p:cNvSpPr txBox="1"/>
          <p:nvPr/>
        </p:nvSpPr>
        <p:spPr>
          <a:xfrm>
            <a:off x="782218" y="2106391"/>
            <a:ext cx="3078480" cy="2586355"/>
          </a:xfrm>
          <a:prstGeom prst="rect">
            <a:avLst/>
          </a:prstGeom>
        </p:spPr>
        <p:txBody>
          <a:bodyPr vert="horz" wrap="square" lIns="0" tIns="12065" rIns="0" bIns="0" rtlCol="0">
            <a:spAutoFit/>
          </a:bodyPr>
          <a:lstStyle/>
          <a:p>
            <a:pPr marL="12700" marR="5080">
              <a:lnSpc>
                <a:spcPct val="120000"/>
              </a:lnSpc>
              <a:spcBef>
                <a:spcPts val="95"/>
              </a:spcBef>
            </a:pPr>
            <a:r>
              <a:rPr sz="2000" spc="-10" dirty="0">
                <a:solidFill>
                  <a:srgbClr val="0D0D0D"/>
                </a:solidFill>
                <a:latin typeface="Georgia"/>
                <a:cs typeface="Georgia"/>
              </a:rPr>
              <a:t>Vital</a:t>
            </a:r>
            <a:r>
              <a:rPr sz="2000" spc="-75" dirty="0">
                <a:solidFill>
                  <a:srgbClr val="0D0D0D"/>
                </a:solidFill>
                <a:latin typeface="Georgia"/>
                <a:cs typeface="Georgia"/>
              </a:rPr>
              <a:t> </a:t>
            </a:r>
            <a:r>
              <a:rPr sz="2000" dirty="0">
                <a:solidFill>
                  <a:srgbClr val="0D0D0D"/>
                </a:solidFill>
                <a:latin typeface="Georgia"/>
                <a:cs typeface="Georgia"/>
              </a:rPr>
              <a:t>Care</a:t>
            </a:r>
            <a:r>
              <a:rPr sz="2000" spc="-65" dirty="0">
                <a:solidFill>
                  <a:srgbClr val="0D0D0D"/>
                </a:solidFill>
                <a:latin typeface="Georgia"/>
                <a:cs typeface="Georgia"/>
              </a:rPr>
              <a:t> </a:t>
            </a:r>
            <a:r>
              <a:rPr sz="2000" spc="-35" dirty="0">
                <a:solidFill>
                  <a:srgbClr val="0D0D0D"/>
                </a:solidFill>
                <a:latin typeface="Georgia"/>
                <a:cs typeface="Georgia"/>
              </a:rPr>
              <a:t>Health</a:t>
            </a:r>
            <a:r>
              <a:rPr sz="2000" spc="-70" dirty="0">
                <a:solidFill>
                  <a:srgbClr val="0D0D0D"/>
                </a:solidFill>
                <a:latin typeface="Georgia"/>
                <a:cs typeface="Georgia"/>
              </a:rPr>
              <a:t> </a:t>
            </a:r>
            <a:r>
              <a:rPr sz="2000" spc="-30" dirty="0">
                <a:solidFill>
                  <a:srgbClr val="0D0D0D"/>
                </a:solidFill>
                <a:latin typeface="Georgia"/>
                <a:cs typeface="Georgia"/>
              </a:rPr>
              <a:t>Insurance </a:t>
            </a:r>
            <a:r>
              <a:rPr sz="2000" spc="-55" dirty="0">
                <a:solidFill>
                  <a:srgbClr val="0D0D0D"/>
                </a:solidFill>
                <a:latin typeface="Georgia"/>
                <a:cs typeface="Georgia"/>
              </a:rPr>
              <a:t>uses</a:t>
            </a:r>
            <a:r>
              <a:rPr sz="2000" spc="-50" dirty="0">
                <a:solidFill>
                  <a:srgbClr val="0D0D0D"/>
                </a:solidFill>
                <a:latin typeface="Georgia"/>
                <a:cs typeface="Georgia"/>
              </a:rPr>
              <a:t> </a:t>
            </a:r>
            <a:r>
              <a:rPr sz="2000" spc="-45" dirty="0">
                <a:solidFill>
                  <a:srgbClr val="0D0D0D"/>
                </a:solidFill>
                <a:latin typeface="Georgia"/>
                <a:cs typeface="Georgia"/>
              </a:rPr>
              <a:t>detailed</a:t>
            </a:r>
            <a:r>
              <a:rPr sz="2000" spc="-60" dirty="0">
                <a:solidFill>
                  <a:srgbClr val="0D0D0D"/>
                </a:solidFill>
                <a:latin typeface="Georgia"/>
                <a:cs typeface="Georgia"/>
              </a:rPr>
              <a:t> </a:t>
            </a:r>
            <a:r>
              <a:rPr sz="2000" spc="-50" dirty="0">
                <a:solidFill>
                  <a:srgbClr val="0D0D0D"/>
                </a:solidFill>
                <a:latin typeface="Georgia"/>
                <a:cs typeface="Georgia"/>
              </a:rPr>
              <a:t>information</a:t>
            </a:r>
            <a:r>
              <a:rPr sz="2000" spc="-75" dirty="0">
                <a:solidFill>
                  <a:srgbClr val="0D0D0D"/>
                </a:solidFill>
                <a:latin typeface="Georgia"/>
                <a:cs typeface="Georgia"/>
              </a:rPr>
              <a:t> </a:t>
            </a:r>
            <a:r>
              <a:rPr sz="2000" spc="-25" dirty="0">
                <a:solidFill>
                  <a:srgbClr val="0D0D0D"/>
                </a:solidFill>
                <a:latin typeface="Georgia"/>
                <a:cs typeface="Georgia"/>
              </a:rPr>
              <a:t>to </a:t>
            </a:r>
            <a:r>
              <a:rPr sz="2000" spc="-55" dirty="0">
                <a:solidFill>
                  <a:srgbClr val="0D0D0D"/>
                </a:solidFill>
                <a:latin typeface="Georgia"/>
                <a:cs typeface="Georgia"/>
              </a:rPr>
              <a:t>improve</a:t>
            </a:r>
            <a:r>
              <a:rPr sz="2000" spc="-40" dirty="0">
                <a:solidFill>
                  <a:srgbClr val="0D0D0D"/>
                </a:solidFill>
                <a:latin typeface="Georgia"/>
                <a:cs typeface="Georgia"/>
              </a:rPr>
              <a:t> </a:t>
            </a:r>
            <a:r>
              <a:rPr sz="2000" spc="-55" dirty="0">
                <a:solidFill>
                  <a:srgbClr val="0D0D0D"/>
                </a:solidFill>
                <a:latin typeface="Georgia"/>
                <a:cs typeface="Georgia"/>
              </a:rPr>
              <a:t>healthcare</a:t>
            </a:r>
            <a:r>
              <a:rPr sz="2000" spc="-60" dirty="0">
                <a:solidFill>
                  <a:srgbClr val="0D0D0D"/>
                </a:solidFill>
                <a:latin typeface="Georgia"/>
                <a:cs typeface="Georgia"/>
              </a:rPr>
              <a:t> </a:t>
            </a:r>
            <a:r>
              <a:rPr sz="2000" spc="-55" dirty="0">
                <a:solidFill>
                  <a:srgbClr val="0D0D0D"/>
                </a:solidFill>
                <a:latin typeface="Georgia"/>
                <a:cs typeface="Georgia"/>
              </a:rPr>
              <a:t>plans</a:t>
            </a:r>
            <a:r>
              <a:rPr sz="2000" spc="-40" dirty="0">
                <a:solidFill>
                  <a:srgbClr val="0D0D0D"/>
                </a:solidFill>
                <a:latin typeface="Georgia"/>
                <a:cs typeface="Georgia"/>
              </a:rPr>
              <a:t> </a:t>
            </a:r>
            <a:r>
              <a:rPr sz="2000" spc="-25" dirty="0">
                <a:solidFill>
                  <a:srgbClr val="0D0D0D"/>
                </a:solidFill>
                <a:latin typeface="Georgia"/>
                <a:cs typeface="Georgia"/>
              </a:rPr>
              <a:t>for </a:t>
            </a:r>
            <a:r>
              <a:rPr sz="2000" spc="-35" dirty="0">
                <a:solidFill>
                  <a:srgbClr val="0D0D0D"/>
                </a:solidFill>
                <a:latin typeface="Georgia"/>
                <a:cs typeface="Georgia"/>
              </a:rPr>
              <a:t>people</a:t>
            </a:r>
            <a:r>
              <a:rPr sz="2000" spc="-90" dirty="0">
                <a:solidFill>
                  <a:srgbClr val="0D0D0D"/>
                </a:solidFill>
                <a:latin typeface="Georgia"/>
                <a:cs typeface="Georgia"/>
              </a:rPr>
              <a:t> </a:t>
            </a:r>
            <a:r>
              <a:rPr sz="2000" dirty="0">
                <a:solidFill>
                  <a:srgbClr val="0D0D0D"/>
                </a:solidFill>
                <a:latin typeface="Georgia"/>
                <a:cs typeface="Georgia"/>
              </a:rPr>
              <a:t>in</a:t>
            </a:r>
            <a:r>
              <a:rPr sz="2000" spc="-70" dirty="0">
                <a:solidFill>
                  <a:srgbClr val="0D0D0D"/>
                </a:solidFill>
                <a:latin typeface="Georgia"/>
                <a:cs typeface="Georgia"/>
              </a:rPr>
              <a:t> </a:t>
            </a:r>
            <a:r>
              <a:rPr sz="2000" spc="-40" dirty="0">
                <a:solidFill>
                  <a:srgbClr val="0D0D0D"/>
                </a:solidFill>
                <a:latin typeface="Georgia"/>
                <a:cs typeface="Georgia"/>
              </a:rPr>
              <a:t>various</a:t>
            </a:r>
            <a:r>
              <a:rPr sz="2000" spc="-75" dirty="0">
                <a:solidFill>
                  <a:srgbClr val="0D0D0D"/>
                </a:solidFill>
                <a:latin typeface="Georgia"/>
                <a:cs typeface="Georgia"/>
              </a:rPr>
              <a:t> </a:t>
            </a:r>
            <a:r>
              <a:rPr sz="2000" spc="-65" dirty="0">
                <a:solidFill>
                  <a:srgbClr val="0D0D0D"/>
                </a:solidFill>
                <a:latin typeface="Georgia"/>
                <a:cs typeface="Georgia"/>
              </a:rPr>
              <a:t>parts</a:t>
            </a:r>
            <a:r>
              <a:rPr sz="2000" spc="-60" dirty="0">
                <a:solidFill>
                  <a:srgbClr val="0D0D0D"/>
                </a:solidFill>
                <a:latin typeface="Georgia"/>
                <a:cs typeface="Georgia"/>
              </a:rPr>
              <a:t> </a:t>
            </a:r>
            <a:r>
              <a:rPr sz="2000" spc="-25" dirty="0">
                <a:solidFill>
                  <a:srgbClr val="0D0D0D"/>
                </a:solidFill>
                <a:latin typeface="Georgia"/>
                <a:cs typeface="Georgia"/>
              </a:rPr>
              <a:t>of </a:t>
            </a:r>
            <a:r>
              <a:rPr sz="2000" dirty="0">
                <a:solidFill>
                  <a:srgbClr val="0D0D0D"/>
                </a:solidFill>
                <a:latin typeface="Georgia"/>
                <a:cs typeface="Georgia"/>
              </a:rPr>
              <a:t>New</a:t>
            </a:r>
            <a:r>
              <a:rPr sz="2000" spc="-25" dirty="0">
                <a:solidFill>
                  <a:srgbClr val="0D0D0D"/>
                </a:solidFill>
                <a:latin typeface="Georgia"/>
                <a:cs typeface="Georgia"/>
              </a:rPr>
              <a:t> </a:t>
            </a:r>
            <a:r>
              <a:rPr sz="2000" dirty="0">
                <a:solidFill>
                  <a:srgbClr val="0D0D0D"/>
                </a:solidFill>
                <a:latin typeface="Georgia"/>
                <a:cs typeface="Georgia"/>
              </a:rPr>
              <a:t>York,</a:t>
            </a:r>
            <a:r>
              <a:rPr sz="2000" spc="-5" dirty="0">
                <a:solidFill>
                  <a:srgbClr val="0D0D0D"/>
                </a:solidFill>
                <a:latin typeface="Georgia"/>
                <a:cs typeface="Georgia"/>
              </a:rPr>
              <a:t> </a:t>
            </a:r>
            <a:r>
              <a:rPr sz="2000" spc="-60" dirty="0">
                <a:solidFill>
                  <a:srgbClr val="0D0D0D"/>
                </a:solidFill>
                <a:latin typeface="Georgia"/>
                <a:cs typeface="Georgia"/>
              </a:rPr>
              <a:t>ensuring</a:t>
            </a:r>
            <a:r>
              <a:rPr sz="2000" spc="-25" dirty="0">
                <a:solidFill>
                  <a:srgbClr val="0D0D0D"/>
                </a:solidFill>
                <a:latin typeface="Georgia"/>
                <a:cs typeface="Georgia"/>
              </a:rPr>
              <a:t> </a:t>
            </a:r>
            <a:r>
              <a:rPr sz="2000" spc="-20" dirty="0">
                <a:solidFill>
                  <a:srgbClr val="0D0D0D"/>
                </a:solidFill>
                <a:latin typeface="Georgia"/>
                <a:cs typeface="Georgia"/>
              </a:rPr>
              <a:t>they </a:t>
            </a:r>
            <a:r>
              <a:rPr sz="2000" spc="-55" dirty="0">
                <a:solidFill>
                  <a:srgbClr val="0D0D0D"/>
                </a:solidFill>
                <a:latin typeface="Georgia"/>
                <a:cs typeface="Georgia"/>
              </a:rPr>
              <a:t>meet</a:t>
            </a:r>
            <a:r>
              <a:rPr sz="2000" spc="-35" dirty="0">
                <a:solidFill>
                  <a:srgbClr val="0D0D0D"/>
                </a:solidFill>
                <a:latin typeface="Georgia"/>
                <a:cs typeface="Georgia"/>
              </a:rPr>
              <a:t> </a:t>
            </a:r>
            <a:r>
              <a:rPr sz="2000" spc="-55" dirty="0">
                <a:solidFill>
                  <a:srgbClr val="0D0D0D"/>
                </a:solidFill>
                <a:latin typeface="Georgia"/>
                <a:cs typeface="Georgia"/>
              </a:rPr>
              <a:t>everyone's</a:t>
            </a:r>
            <a:r>
              <a:rPr sz="2000" spc="-45" dirty="0">
                <a:solidFill>
                  <a:srgbClr val="0D0D0D"/>
                </a:solidFill>
                <a:latin typeface="Georgia"/>
                <a:cs typeface="Georgia"/>
              </a:rPr>
              <a:t> </a:t>
            </a:r>
            <a:r>
              <a:rPr sz="2000" spc="-10" dirty="0">
                <a:solidFill>
                  <a:srgbClr val="0D0D0D"/>
                </a:solidFill>
                <a:latin typeface="Georgia"/>
                <a:cs typeface="Georgia"/>
              </a:rPr>
              <a:t>different </a:t>
            </a:r>
            <a:r>
              <a:rPr sz="2000" spc="-55" dirty="0">
                <a:solidFill>
                  <a:srgbClr val="0D0D0D"/>
                </a:solidFill>
                <a:latin typeface="Georgia"/>
                <a:cs typeface="Georgia"/>
              </a:rPr>
              <a:t>healthcare</a:t>
            </a:r>
            <a:r>
              <a:rPr sz="2000" spc="-40" dirty="0">
                <a:solidFill>
                  <a:srgbClr val="0D0D0D"/>
                </a:solidFill>
                <a:latin typeface="Georgia"/>
                <a:cs typeface="Georgia"/>
              </a:rPr>
              <a:t> </a:t>
            </a:r>
            <a:r>
              <a:rPr sz="2000" spc="-60" dirty="0">
                <a:solidFill>
                  <a:srgbClr val="0D0D0D"/>
                </a:solidFill>
                <a:latin typeface="Georgia"/>
                <a:cs typeface="Georgia"/>
              </a:rPr>
              <a:t>needs</a:t>
            </a:r>
            <a:r>
              <a:rPr sz="2000" spc="-25" dirty="0">
                <a:solidFill>
                  <a:srgbClr val="0D0D0D"/>
                </a:solidFill>
                <a:latin typeface="Georgia"/>
                <a:cs typeface="Georgia"/>
              </a:rPr>
              <a:t> </a:t>
            </a:r>
            <a:r>
              <a:rPr sz="2000" spc="-10" dirty="0">
                <a:solidFill>
                  <a:srgbClr val="0D0D0D"/>
                </a:solidFill>
                <a:latin typeface="Georgia"/>
                <a:cs typeface="Georgia"/>
              </a:rPr>
              <a:t>effectively.</a:t>
            </a:r>
            <a:endParaRPr sz="2000">
              <a:latin typeface="Georgia"/>
              <a:cs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00862" y="724662"/>
            <a:ext cx="10591800" cy="0"/>
          </a:xfrm>
          <a:custGeom>
            <a:avLst/>
            <a:gdLst/>
            <a:ahLst/>
            <a:cxnLst/>
            <a:rect l="l" t="t" r="r" b="b"/>
            <a:pathLst>
              <a:path w="10591800">
                <a:moveTo>
                  <a:pt x="0" y="0"/>
                </a:moveTo>
                <a:lnTo>
                  <a:pt x="10591800" y="0"/>
                </a:lnTo>
              </a:path>
            </a:pathLst>
          </a:custGeom>
          <a:ln w="44450">
            <a:solidFill>
              <a:srgbClr val="000000"/>
            </a:solidFill>
          </a:ln>
        </p:spPr>
        <p:txBody>
          <a:bodyPr wrap="square" lIns="0" tIns="0" rIns="0" bIns="0" rtlCol="0"/>
          <a:lstStyle/>
          <a:p>
            <a:endParaRPr/>
          </a:p>
        </p:txBody>
      </p:sp>
      <p:sp>
        <p:nvSpPr>
          <p:cNvPr id="3" name="object 3"/>
          <p:cNvSpPr/>
          <p:nvPr/>
        </p:nvSpPr>
        <p:spPr>
          <a:xfrm>
            <a:off x="800100" y="6147815"/>
            <a:ext cx="10591800" cy="0"/>
          </a:xfrm>
          <a:custGeom>
            <a:avLst/>
            <a:gdLst/>
            <a:ahLst/>
            <a:cxnLst/>
            <a:rect l="l" t="t" r="r" b="b"/>
            <a:pathLst>
              <a:path w="10591800">
                <a:moveTo>
                  <a:pt x="0" y="0"/>
                </a:moveTo>
                <a:lnTo>
                  <a:pt x="10591800" y="0"/>
                </a:lnTo>
              </a:path>
            </a:pathLst>
          </a:custGeom>
          <a:ln w="12700">
            <a:solidFill>
              <a:srgbClr val="000000"/>
            </a:solidFill>
          </a:ln>
        </p:spPr>
        <p:txBody>
          <a:bodyPr wrap="square" lIns="0" tIns="0" rIns="0" bIns="0" rtlCol="0"/>
          <a:lstStyle/>
          <a:p>
            <a:endParaRPr/>
          </a:p>
        </p:txBody>
      </p:sp>
      <p:sp>
        <p:nvSpPr>
          <p:cNvPr id="4" name="object 4"/>
          <p:cNvSpPr txBox="1">
            <a:spLocks noGrp="1"/>
          </p:cNvSpPr>
          <p:nvPr>
            <p:ph type="title"/>
          </p:nvPr>
        </p:nvSpPr>
        <p:spPr>
          <a:xfrm>
            <a:off x="726440" y="875741"/>
            <a:ext cx="4138295" cy="848994"/>
          </a:xfrm>
          <a:prstGeom prst="rect">
            <a:avLst/>
          </a:prstGeom>
        </p:spPr>
        <p:txBody>
          <a:bodyPr vert="horz" wrap="square" lIns="0" tIns="12700" rIns="0" bIns="0" rtlCol="0">
            <a:spAutoFit/>
          </a:bodyPr>
          <a:lstStyle/>
          <a:p>
            <a:pPr marL="12700">
              <a:lnSpc>
                <a:spcPct val="100000"/>
              </a:lnSpc>
              <a:spcBef>
                <a:spcPts val="100"/>
              </a:spcBef>
            </a:pPr>
            <a:r>
              <a:rPr sz="5400" spc="-350" dirty="0"/>
              <a:t>STORY</a:t>
            </a:r>
            <a:r>
              <a:rPr sz="5400" spc="-455" dirty="0"/>
              <a:t> </a:t>
            </a:r>
            <a:r>
              <a:rPr sz="5400" spc="-160" dirty="0"/>
              <a:t>BOARD</a:t>
            </a:r>
            <a:endParaRPr sz="5400"/>
          </a:p>
        </p:txBody>
      </p:sp>
      <p:sp>
        <p:nvSpPr>
          <p:cNvPr id="5" name="object 5"/>
          <p:cNvSpPr/>
          <p:nvPr/>
        </p:nvSpPr>
        <p:spPr>
          <a:xfrm>
            <a:off x="414527" y="2333244"/>
            <a:ext cx="2707005" cy="2333625"/>
          </a:xfrm>
          <a:custGeom>
            <a:avLst/>
            <a:gdLst/>
            <a:ahLst/>
            <a:cxnLst/>
            <a:rect l="l" t="t" r="r" b="b"/>
            <a:pathLst>
              <a:path w="2707005" h="2333625">
                <a:moveTo>
                  <a:pt x="2706624" y="0"/>
                </a:moveTo>
                <a:lnTo>
                  <a:pt x="0" y="0"/>
                </a:lnTo>
                <a:lnTo>
                  <a:pt x="0" y="2333243"/>
                </a:lnTo>
                <a:lnTo>
                  <a:pt x="2706624" y="2333243"/>
                </a:lnTo>
                <a:lnTo>
                  <a:pt x="2706624" y="0"/>
                </a:lnTo>
                <a:close/>
              </a:path>
            </a:pathLst>
          </a:custGeom>
          <a:solidFill>
            <a:srgbClr val="949EBA"/>
          </a:solidFill>
        </p:spPr>
        <p:txBody>
          <a:bodyPr wrap="square" lIns="0" tIns="0" rIns="0" bIns="0" rtlCol="0"/>
          <a:lstStyle/>
          <a:p>
            <a:endParaRPr/>
          </a:p>
        </p:txBody>
      </p:sp>
      <p:sp>
        <p:nvSpPr>
          <p:cNvPr id="6" name="object 6"/>
          <p:cNvSpPr/>
          <p:nvPr/>
        </p:nvSpPr>
        <p:spPr>
          <a:xfrm>
            <a:off x="3369564" y="2363723"/>
            <a:ext cx="2707005" cy="2296795"/>
          </a:xfrm>
          <a:custGeom>
            <a:avLst/>
            <a:gdLst/>
            <a:ahLst/>
            <a:cxnLst/>
            <a:rect l="l" t="t" r="r" b="b"/>
            <a:pathLst>
              <a:path w="2707004" h="2296795">
                <a:moveTo>
                  <a:pt x="2706624" y="0"/>
                </a:moveTo>
                <a:lnTo>
                  <a:pt x="0" y="0"/>
                </a:lnTo>
                <a:lnTo>
                  <a:pt x="0" y="2296668"/>
                </a:lnTo>
                <a:lnTo>
                  <a:pt x="2706624" y="2296668"/>
                </a:lnTo>
                <a:lnTo>
                  <a:pt x="2706624" y="0"/>
                </a:lnTo>
                <a:close/>
              </a:path>
            </a:pathLst>
          </a:custGeom>
          <a:solidFill>
            <a:srgbClr val="949EBA"/>
          </a:solidFill>
        </p:spPr>
        <p:txBody>
          <a:bodyPr wrap="square" lIns="0" tIns="0" rIns="0" bIns="0" rtlCol="0"/>
          <a:lstStyle/>
          <a:p>
            <a:endParaRPr/>
          </a:p>
        </p:txBody>
      </p:sp>
      <p:sp>
        <p:nvSpPr>
          <p:cNvPr id="7" name="object 7"/>
          <p:cNvSpPr/>
          <p:nvPr/>
        </p:nvSpPr>
        <p:spPr>
          <a:xfrm>
            <a:off x="6324600" y="2363723"/>
            <a:ext cx="2707005" cy="2296795"/>
          </a:xfrm>
          <a:custGeom>
            <a:avLst/>
            <a:gdLst/>
            <a:ahLst/>
            <a:cxnLst/>
            <a:rect l="l" t="t" r="r" b="b"/>
            <a:pathLst>
              <a:path w="2707004" h="2296795">
                <a:moveTo>
                  <a:pt x="2706624" y="0"/>
                </a:moveTo>
                <a:lnTo>
                  <a:pt x="0" y="0"/>
                </a:lnTo>
                <a:lnTo>
                  <a:pt x="0" y="2296668"/>
                </a:lnTo>
                <a:lnTo>
                  <a:pt x="2706624" y="2296668"/>
                </a:lnTo>
                <a:lnTo>
                  <a:pt x="2706624" y="0"/>
                </a:lnTo>
                <a:close/>
              </a:path>
            </a:pathLst>
          </a:custGeom>
          <a:solidFill>
            <a:srgbClr val="949EBA"/>
          </a:solidFill>
        </p:spPr>
        <p:txBody>
          <a:bodyPr wrap="square" lIns="0" tIns="0" rIns="0" bIns="0" rtlCol="0"/>
          <a:lstStyle/>
          <a:p>
            <a:endParaRPr/>
          </a:p>
        </p:txBody>
      </p:sp>
      <p:sp>
        <p:nvSpPr>
          <p:cNvPr id="8" name="object 8"/>
          <p:cNvSpPr/>
          <p:nvPr/>
        </p:nvSpPr>
        <p:spPr>
          <a:xfrm>
            <a:off x="9259823" y="2369820"/>
            <a:ext cx="2707005" cy="2296795"/>
          </a:xfrm>
          <a:custGeom>
            <a:avLst/>
            <a:gdLst/>
            <a:ahLst/>
            <a:cxnLst/>
            <a:rect l="l" t="t" r="r" b="b"/>
            <a:pathLst>
              <a:path w="2707004" h="2296795">
                <a:moveTo>
                  <a:pt x="2706624" y="0"/>
                </a:moveTo>
                <a:lnTo>
                  <a:pt x="0" y="0"/>
                </a:lnTo>
                <a:lnTo>
                  <a:pt x="0" y="2296667"/>
                </a:lnTo>
                <a:lnTo>
                  <a:pt x="2706624" y="2296667"/>
                </a:lnTo>
                <a:lnTo>
                  <a:pt x="2706624" y="0"/>
                </a:lnTo>
                <a:close/>
              </a:path>
            </a:pathLst>
          </a:custGeom>
          <a:solidFill>
            <a:srgbClr val="949EBA"/>
          </a:solidFill>
        </p:spPr>
        <p:txBody>
          <a:bodyPr wrap="square" lIns="0" tIns="0" rIns="0" bIns="0" rtlCol="0"/>
          <a:lstStyle/>
          <a:p>
            <a:endParaRPr/>
          </a:p>
        </p:txBody>
      </p:sp>
      <p:sp>
        <p:nvSpPr>
          <p:cNvPr id="9" name="object 9"/>
          <p:cNvSpPr txBox="1"/>
          <p:nvPr/>
        </p:nvSpPr>
        <p:spPr>
          <a:xfrm>
            <a:off x="414527" y="2333244"/>
            <a:ext cx="2707005" cy="2333625"/>
          </a:xfrm>
          <a:prstGeom prst="rect">
            <a:avLst/>
          </a:prstGeom>
          <a:ln w="12700">
            <a:solidFill>
              <a:srgbClr val="3B404D"/>
            </a:solidFill>
          </a:ln>
        </p:spPr>
        <p:txBody>
          <a:bodyPr vert="horz" wrap="square" lIns="0" tIns="43180" rIns="0" bIns="0" rtlCol="0">
            <a:spAutoFit/>
          </a:bodyPr>
          <a:lstStyle/>
          <a:p>
            <a:pPr marL="106680">
              <a:lnSpc>
                <a:spcPct val="100000"/>
              </a:lnSpc>
              <a:spcBef>
                <a:spcPts val="340"/>
              </a:spcBef>
            </a:pPr>
            <a:r>
              <a:rPr sz="1800" u="sng" spc="-10" dirty="0">
                <a:uFill>
                  <a:solidFill>
                    <a:srgbClr val="000000"/>
                  </a:solidFill>
                </a:uFill>
                <a:latin typeface="Georgia"/>
                <a:cs typeface="Georgia"/>
              </a:rPr>
              <a:t>Introduction</a:t>
            </a:r>
            <a:endParaRPr sz="1800">
              <a:latin typeface="Georgia"/>
              <a:cs typeface="Georgia"/>
            </a:endParaRPr>
          </a:p>
          <a:p>
            <a:pPr>
              <a:lnSpc>
                <a:spcPct val="100000"/>
              </a:lnSpc>
              <a:spcBef>
                <a:spcPts val="120"/>
              </a:spcBef>
            </a:pPr>
            <a:endParaRPr sz="1800">
              <a:latin typeface="Georgia"/>
              <a:cs typeface="Georgia"/>
            </a:endParaRPr>
          </a:p>
          <a:p>
            <a:pPr marL="393065" indent="-286385">
              <a:lnSpc>
                <a:spcPct val="100000"/>
              </a:lnSpc>
              <a:buFont typeface="Arial MT"/>
              <a:buChar char="•"/>
              <a:tabLst>
                <a:tab pos="393065" algn="l"/>
              </a:tabLst>
            </a:pPr>
            <a:r>
              <a:rPr sz="1600" spc="-35" dirty="0">
                <a:latin typeface="Georgia"/>
                <a:cs typeface="Georgia"/>
              </a:rPr>
              <a:t>Prioritizes</a:t>
            </a:r>
            <a:r>
              <a:rPr sz="1600" spc="-20" dirty="0">
                <a:latin typeface="Georgia"/>
                <a:cs typeface="Georgia"/>
              </a:rPr>
              <a:t> </a:t>
            </a:r>
            <a:r>
              <a:rPr sz="1600" spc="-10" dirty="0">
                <a:latin typeface="Georgia"/>
                <a:cs typeface="Georgia"/>
              </a:rPr>
              <a:t>understanding</a:t>
            </a:r>
            <a:endParaRPr sz="1600">
              <a:latin typeface="Georgia"/>
              <a:cs typeface="Georgia"/>
            </a:endParaRPr>
          </a:p>
          <a:p>
            <a:pPr marL="393065">
              <a:lnSpc>
                <a:spcPct val="100000"/>
              </a:lnSpc>
            </a:pPr>
            <a:r>
              <a:rPr sz="1600" spc="-40" dirty="0">
                <a:latin typeface="Georgia"/>
                <a:cs typeface="Georgia"/>
              </a:rPr>
              <a:t>healthcare</a:t>
            </a:r>
            <a:r>
              <a:rPr sz="1600" spc="-30" dirty="0">
                <a:latin typeface="Georgia"/>
                <a:cs typeface="Georgia"/>
              </a:rPr>
              <a:t> </a:t>
            </a:r>
            <a:r>
              <a:rPr sz="1600" spc="-10" dirty="0">
                <a:latin typeface="Georgia"/>
                <a:cs typeface="Georgia"/>
              </a:rPr>
              <a:t>needs</a:t>
            </a:r>
            <a:endParaRPr sz="1600">
              <a:latin typeface="Georgia"/>
              <a:cs typeface="Georgia"/>
            </a:endParaRPr>
          </a:p>
          <a:p>
            <a:pPr marL="393065" marR="224790" indent="-287020">
              <a:lnSpc>
                <a:spcPct val="100000"/>
              </a:lnSpc>
              <a:spcBef>
                <a:spcPts val="5"/>
              </a:spcBef>
              <a:buFont typeface="Arial MT"/>
              <a:buChar char="•"/>
              <a:tabLst>
                <a:tab pos="393065" algn="l"/>
              </a:tabLst>
            </a:pPr>
            <a:r>
              <a:rPr sz="1600" dirty="0">
                <a:latin typeface="Georgia"/>
                <a:cs typeface="Georgia"/>
              </a:rPr>
              <a:t>Active</a:t>
            </a:r>
            <a:r>
              <a:rPr sz="1600" spc="-55" dirty="0">
                <a:latin typeface="Georgia"/>
                <a:cs typeface="Georgia"/>
              </a:rPr>
              <a:t> </a:t>
            </a:r>
            <a:r>
              <a:rPr sz="1600" spc="-50" dirty="0">
                <a:latin typeface="Georgia"/>
                <a:cs typeface="Georgia"/>
              </a:rPr>
              <a:t>research</a:t>
            </a:r>
            <a:r>
              <a:rPr sz="1600" spc="-45" dirty="0">
                <a:latin typeface="Georgia"/>
                <a:cs typeface="Georgia"/>
              </a:rPr>
              <a:t> </a:t>
            </a:r>
            <a:r>
              <a:rPr sz="1600" dirty="0">
                <a:latin typeface="Georgia"/>
                <a:cs typeface="Georgia"/>
              </a:rPr>
              <a:t>on</a:t>
            </a:r>
            <a:r>
              <a:rPr sz="1600" spc="-45" dirty="0">
                <a:latin typeface="Georgia"/>
                <a:cs typeface="Georgia"/>
              </a:rPr>
              <a:t> </a:t>
            </a:r>
            <a:r>
              <a:rPr sz="1600" spc="-40" dirty="0">
                <a:latin typeface="Georgia"/>
                <a:cs typeface="Georgia"/>
              </a:rPr>
              <a:t>cities </a:t>
            </a:r>
            <a:r>
              <a:rPr sz="1600" spc="-10" dirty="0">
                <a:latin typeface="Georgia"/>
                <a:cs typeface="Georgia"/>
              </a:rPr>
              <a:t>with</a:t>
            </a:r>
            <a:r>
              <a:rPr sz="1600" spc="-65" dirty="0">
                <a:latin typeface="Georgia"/>
                <a:cs typeface="Georgia"/>
              </a:rPr>
              <a:t> </a:t>
            </a:r>
            <a:r>
              <a:rPr sz="1600" spc="-35" dirty="0">
                <a:latin typeface="Georgia"/>
                <a:cs typeface="Georgia"/>
              </a:rPr>
              <a:t>health</a:t>
            </a:r>
            <a:r>
              <a:rPr sz="1600" spc="-40" dirty="0">
                <a:latin typeface="Georgia"/>
                <a:cs typeface="Georgia"/>
              </a:rPr>
              <a:t> </a:t>
            </a:r>
            <a:r>
              <a:rPr sz="1600" spc="-10" dirty="0">
                <a:latin typeface="Georgia"/>
                <a:cs typeface="Georgia"/>
              </a:rPr>
              <a:t>insurance plans</a:t>
            </a:r>
            <a:endParaRPr sz="1600">
              <a:latin typeface="Georgia"/>
              <a:cs typeface="Georgia"/>
            </a:endParaRPr>
          </a:p>
          <a:p>
            <a:pPr marL="393065" indent="-286385">
              <a:lnSpc>
                <a:spcPct val="100000"/>
              </a:lnSpc>
              <a:buFont typeface="Arial MT"/>
              <a:buChar char="•"/>
              <a:tabLst>
                <a:tab pos="393065" algn="l"/>
              </a:tabLst>
            </a:pPr>
            <a:r>
              <a:rPr sz="1600" spc="-20" dirty="0">
                <a:latin typeface="Georgia"/>
                <a:cs typeface="Georgia"/>
              </a:rPr>
              <a:t>Plans</a:t>
            </a:r>
            <a:r>
              <a:rPr sz="1600" spc="-75" dirty="0">
                <a:latin typeface="Georgia"/>
                <a:cs typeface="Georgia"/>
              </a:rPr>
              <a:t> </a:t>
            </a:r>
            <a:r>
              <a:rPr sz="1600" spc="-20" dirty="0">
                <a:latin typeface="Georgia"/>
                <a:cs typeface="Georgia"/>
              </a:rPr>
              <a:t>for</a:t>
            </a:r>
            <a:r>
              <a:rPr sz="1600" spc="-75" dirty="0">
                <a:latin typeface="Georgia"/>
                <a:cs typeface="Georgia"/>
              </a:rPr>
              <a:t> </a:t>
            </a:r>
            <a:r>
              <a:rPr sz="1600" dirty="0">
                <a:latin typeface="Georgia"/>
                <a:cs typeface="Georgia"/>
              </a:rPr>
              <a:t>all</a:t>
            </a:r>
            <a:r>
              <a:rPr sz="1600" spc="-75" dirty="0">
                <a:latin typeface="Georgia"/>
                <a:cs typeface="Georgia"/>
              </a:rPr>
              <a:t> </a:t>
            </a:r>
            <a:r>
              <a:rPr sz="1600" dirty="0">
                <a:latin typeface="Georgia"/>
                <a:cs typeface="Georgia"/>
              </a:rPr>
              <a:t>age</a:t>
            </a:r>
            <a:r>
              <a:rPr sz="1600" spc="-55" dirty="0">
                <a:latin typeface="Georgia"/>
                <a:cs typeface="Georgia"/>
              </a:rPr>
              <a:t> </a:t>
            </a:r>
            <a:r>
              <a:rPr sz="1600" spc="-10" dirty="0">
                <a:latin typeface="Georgia"/>
                <a:cs typeface="Georgia"/>
              </a:rPr>
              <a:t>groups</a:t>
            </a:r>
            <a:endParaRPr sz="1600">
              <a:latin typeface="Georgia"/>
              <a:cs typeface="Georgia"/>
            </a:endParaRPr>
          </a:p>
        </p:txBody>
      </p:sp>
      <p:sp>
        <p:nvSpPr>
          <p:cNvPr id="10" name="object 10"/>
          <p:cNvSpPr txBox="1"/>
          <p:nvPr/>
        </p:nvSpPr>
        <p:spPr>
          <a:xfrm>
            <a:off x="3369564" y="2363723"/>
            <a:ext cx="2707005" cy="2296795"/>
          </a:xfrm>
          <a:prstGeom prst="rect">
            <a:avLst/>
          </a:prstGeom>
          <a:ln w="12700">
            <a:solidFill>
              <a:srgbClr val="3B404D"/>
            </a:solidFill>
          </a:ln>
        </p:spPr>
        <p:txBody>
          <a:bodyPr vert="horz" wrap="square" lIns="0" tIns="42545" rIns="0" bIns="0" rtlCol="0">
            <a:spAutoFit/>
          </a:bodyPr>
          <a:lstStyle/>
          <a:p>
            <a:pPr marL="130175">
              <a:lnSpc>
                <a:spcPct val="100000"/>
              </a:lnSpc>
              <a:spcBef>
                <a:spcPts val="335"/>
              </a:spcBef>
            </a:pPr>
            <a:r>
              <a:rPr sz="1800" u="sng" spc="-10" dirty="0">
                <a:uFill>
                  <a:solidFill>
                    <a:srgbClr val="000000"/>
                  </a:solidFill>
                </a:uFill>
                <a:latin typeface="Georgia"/>
                <a:cs typeface="Georgia"/>
              </a:rPr>
              <a:t>Finding</a:t>
            </a:r>
            <a:endParaRPr sz="1800">
              <a:latin typeface="Georgia"/>
              <a:cs typeface="Georgia"/>
            </a:endParaRPr>
          </a:p>
          <a:p>
            <a:pPr>
              <a:lnSpc>
                <a:spcPct val="100000"/>
              </a:lnSpc>
              <a:spcBef>
                <a:spcPts val="120"/>
              </a:spcBef>
            </a:pPr>
            <a:endParaRPr sz="1800">
              <a:latin typeface="Georgia"/>
              <a:cs typeface="Georgia"/>
            </a:endParaRPr>
          </a:p>
          <a:p>
            <a:pPr marL="416559" indent="-286385">
              <a:lnSpc>
                <a:spcPct val="100000"/>
              </a:lnSpc>
              <a:buFont typeface="Arial MT"/>
              <a:buChar char="•"/>
              <a:tabLst>
                <a:tab pos="416559" algn="l"/>
              </a:tabLst>
            </a:pPr>
            <a:r>
              <a:rPr sz="1600" dirty="0">
                <a:latin typeface="Georgia"/>
                <a:cs typeface="Georgia"/>
              </a:rPr>
              <a:t>NPIs</a:t>
            </a:r>
            <a:r>
              <a:rPr sz="1600" spc="-35" dirty="0">
                <a:latin typeface="Georgia"/>
                <a:cs typeface="Georgia"/>
              </a:rPr>
              <a:t> </a:t>
            </a:r>
            <a:r>
              <a:rPr sz="1600" spc="-25" dirty="0">
                <a:latin typeface="Georgia"/>
                <a:cs typeface="Georgia"/>
              </a:rPr>
              <a:t>location</a:t>
            </a:r>
            <a:r>
              <a:rPr sz="1600" spc="-15" dirty="0">
                <a:latin typeface="Georgia"/>
                <a:cs typeface="Georgia"/>
              </a:rPr>
              <a:t> </a:t>
            </a:r>
            <a:r>
              <a:rPr sz="1600" spc="-10" dirty="0">
                <a:latin typeface="Georgia"/>
                <a:cs typeface="Georgia"/>
              </a:rPr>
              <a:t>details</a:t>
            </a:r>
            <a:endParaRPr sz="1600">
              <a:latin typeface="Georgia"/>
              <a:cs typeface="Georgia"/>
            </a:endParaRPr>
          </a:p>
          <a:p>
            <a:pPr marL="416559" marR="274955" indent="-287020">
              <a:lnSpc>
                <a:spcPct val="100000"/>
              </a:lnSpc>
              <a:buFont typeface="Arial MT"/>
              <a:buChar char="•"/>
              <a:tabLst>
                <a:tab pos="416559" algn="l"/>
              </a:tabLst>
            </a:pPr>
            <a:r>
              <a:rPr sz="1600" spc="-20" dirty="0">
                <a:latin typeface="Georgia"/>
                <a:cs typeface="Georgia"/>
              </a:rPr>
              <a:t>Plans</a:t>
            </a:r>
            <a:r>
              <a:rPr sz="1600" spc="-75" dirty="0">
                <a:latin typeface="Georgia"/>
                <a:cs typeface="Georgia"/>
              </a:rPr>
              <a:t> </a:t>
            </a:r>
            <a:r>
              <a:rPr sz="1600" spc="-20" dirty="0">
                <a:latin typeface="Georgia"/>
                <a:cs typeface="Georgia"/>
              </a:rPr>
              <a:t>for</a:t>
            </a:r>
            <a:r>
              <a:rPr sz="1600" spc="-75" dirty="0">
                <a:latin typeface="Georgia"/>
                <a:cs typeface="Georgia"/>
              </a:rPr>
              <a:t> </a:t>
            </a:r>
            <a:r>
              <a:rPr sz="1600" dirty="0">
                <a:latin typeface="Georgia"/>
                <a:cs typeface="Georgia"/>
              </a:rPr>
              <a:t>all</a:t>
            </a:r>
            <a:r>
              <a:rPr sz="1600" spc="-75" dirty="0">
                <a:latin typeface="Georgia"/>
                <a:cs typeface="Georgia"/>
              </a:rPr>
              <a:t> </a:t>
            </a:r>
            <a:r>
              <a:rPr sz="1600" dirty="0">
                <a:latin typeface="Georgia"/>
                <a:cs typeface="Georgia"/>
              </a:rPr>
              <a:t>age</a:t>
            </a:r>
            <a:r>
              <a:rPr sz="1600" spc="-55" dirty="0">
                <a:latin typeface="Georgia"/>
                <a:cs typeface="Georgia"/>
              </a:rPr>
              <a:t> </a:t>
            </a:r>
            <a:r>
              <a:rPr sz="1600" spc="-50" dirty="0">
                <a:latin typeface="Georgia"/>
                <a:cs typeface="Georgia"/>
              </a:rPr>
              <a:t>groups </a:t>
            </a:r>
            <a:r>
              <a:rPr sz="1600" spc="-10" dirty="0">
                <a:latin typeface="Georgia"/>
                <a:cs typeface="Georgia"/>
              </a:rPr>
              <a:t>with</a:t>
            </a:r>
            <a:r>
              <a:rPr sz="1600" spc="-65" dirty="0">
                <a:latin typeface="Georgia"/>
                <a:cs typeface="Georgia"/>
              </a:rPr>
              <a:t> </a:t>
            </a:r>
            <a:r>
              <a:rPr sz="1600" spc="-10" dirty="0">
                <a:latin typeface="Georgia"/>
                <a:cs typeface="Georgia"/>
              </a:rPr>
              <a:t>gender identifications</a:t>
            </a:r>
            <a:endParaRPr sz="1600">
              <a:latin typeface="Georgia"/>
              <a:cs typeface="Georgia"/>
            </a:endParaRPr>
          </a:p>
          <a:p>
            <a:pPr marL="416559" marR="685800" indent="-287020">
              <a:lnSpc>
                <a:spcPct val="100000"/>
              </a:lnSpc>
              <a:buFont typeface="Arial MT"/>
              <a:buChar char="•"/>
              <a:tabLst>
                <a:tab pos="416559" algn="l"/>
              </a:tabLst>
            </a:pPr>
            <a:r>
              <a:rPr sz="1600" spc="-35" dirty="0">
                <a:latin typeface="Georgia"/>
                <a:cs typeface="Georgia"/>
              </a:rPr>
              <a:t>Differentiate</a:t>
            </a:r>
            <a:r>
              <a:rPr sz="1600" spc="-10" dirty="0">
                <a:latin typeface="Georgia"/>
                <a:cs typeface="Georgia"/>
              </a:rPr>
              <a:t> </a:t>
            </a:r>
            <a:r>
              <a:rPr sz="1600" spc="-60" dirty="0">
                <a:latin typeface="Georgia"/>
                <a:cs typeface="Georgia"/>
              </a:rPr>
              <a:t>plans </a:t>
            </a:r>
            <a:r>
              <a:rPr sz="1600" spc="-35" dirty="0">
                <a:latin typeface="Georgia"/>
                <a:cs typeface="Georgia"/>
              </a:rPr>
              <a:t>according </a:t>
            </a:r>
            <a:r>
              <a:rPr sz="1600" dirty="0">
                <a:latin typeface="Georgia"/>
                <a:cs typeface="Georgia"/>
              </a:rPr>
              <a:t>to</a:t>
            </a:r>
            <a:r>
              <a:rPr sz="1600" spc="-40" dirty="0">
                <a:latin typeface="Georgia"/>
                <a:cs typeface="Georgia"/>
              </a:rPr>
              <a:t> </a:t>
            </a:r>
            <a:r>
              <a:rPr sz="1600" spc="-25" dirty="0">
                <a:latin typeface="Georgia"/>
                <a:cs typeface="Georgia"/>
              </a:rPr>
              <a:t>the </a:t>
            </a:r>
            <a:r>
              <a:rPr sz="1600" spc="-10" dirty="0">
                <a:latin typeface="Georgia"/>
                <a:cs typeface="Georgia"/>
              </a:rPr>
              <a:t>Gender.</a:t>
            </a:r>
            <a:endParaRPr sz="1600">
              <a:latin typeface="Georgia"/>
              <a:cs typeface="Georgia"/>
            </a:endParaRPr>
          </a:p>
        </p:txBody>
      </p:sp>
      <p:sp>
        <p:nvSpPr>
          <p:cNvPr id="11" name="object 11"/>
          <p:cNvSpPr txBox="1"/>
          <p:nvPr/>
        </p:nvSpPr>
        <p:spPr>
          <a:xfrm>
            <a:off x="6324600" y="2363723"/>
            <a:ext cx="2707005" cy="2296795"/>
          </a:xfrm>
          <a:prstGeom prst="rect">
            <a:avLst/>
          </a:prstGeom>
          <a:ln w="12700">
            <a:solidFill>
              <a:srgbClr val="3B404D"/>
            </a:solidFill>
          </a:ln>
        </p:spPr>
        <p:txBody>
          <a:bodyPr vert="horz" wrap="square" lIns="0" tIns="186690" rIns="0" bIns="0" rtlCol="0">
            <a:spAutoFit/>
          </a:bodyPr>
          <a:lstStyle/>
          <a:p>
            <a:pPr marL="502920" marR="156210" indent="-287020">
              <a:lnSpc>
                <a:spcPct val="100000"/>
              </a:lnSpc>
              <a:spcBef>
                <a:spcPts val="1470"/>
              </a:spcBef>
              <a:buFont typeface="Arial MT"/>
              <a:buChar char="•"/>
              <a:tabLst>
                <a:tab pos="502920" algn="l"/>
              </a:tabLst>
            </a:pPr>
            <a:r>
              <a:rPr sz="1600" spc="-30" dirty="0">
                <a:latin typeface="Georgia"/>
                <a:cs typeface="Georgia"/>
              </a:rPr>
              <a:t>Different</a:t>
            </a:r>
            <a:r>
              <a:rPr sz="1600" spc="-25" dirty="0">
                <a:latin typeface="Georgia"/>
                <a:cs typeface="Georgia"/>
              </a:rPr>
              <a:t> </a:t>
            </a:r>
            <a:r>
              <a:rPr sz="1600" spc="-35" dirty="0">
                <a:latin typeface="Georgia"/>
                <a:cs typeface="Georgia"/>
              </a:rPr>
              <a:t>levels</a:t>
            </a:r>
            <a:r>
              <a:rPr sz="1600" spc="-50" dirty="0">
                <a:latin typeface="Georgia"/>
                <a:cs typeface="Georgia"/>
              </a:rPr>
              <a:t> </a:t>
            </a:r>
            <a:r>
              <a:rPr sz="1600" spc="-25" dirty="0">
                <a:latin typeface="Georgia"/>
                <a:cs typeface="Georgia"/>
              </a:rPr>
              <a:t>of </a:t>
            </a:r>
            <a:r>
              <a:rPr sz="1600" spc="-40" dirty="0">
                <a:latin typeface="Georgia"/>
                <a:cs typeface="Georgia"/>
              </a:rPr>
              <a:t>coverage</a:t>
            </a:r>
            <a:r>
              <a:rPr sz="1600" spc="-50" dirty="0">
                <a:latin typeface="Georgia"/>
                <a:cs typeface="Georgia"/>
              </a:rPr>
              <a:t> </a:t>
            </a:r>
            <a:r>
              <a:rPr sz="1600" spc="-20" dirty="0">
                <a:latin typeface="Georgia"/>
                <a:cs typeface="Georgia"/>
              </a:rPr>
              <a:t>like</a:t>
            </a:r>
            <a:r>
              <a:rPr sz="1600" spc="-60" dirty="0">
                <a:latin typeface="Georgia"/>
                <a:cs typeface="Georgia"/>
              </a:rPr>
              <a:t> </a:t>
            </a:r>
            <a:r>
              <a:rPr sz="1600" spc="-40" dirty="0">
                <a:latin typeface="Georgia"/>
                <a:cs typeface="Georgia"/>
              </a:rPr>
              <a:t>silver</a:t>
            </a:r>
            <a:r>
              <a:rPr sz="1600" spc="-50" dirty="0">
                <a:latin typeface="Georgia"/>
                <a:cs typeface="Georgia"/>
              </a:rPr>
              <a:t> </a:t>
            </a:r>
            <a:r>
              <a:rPr sz="1600" spc="-20" dirty="0">
                <a:latin typeface="Georgia"/>
                <a:cs typeface="Georgia"/>
              </a:rPr>
              <a:t>gold </a:t>
            </a:r>
            <a:r>
              <a:rPr sz="1600" spc="-30" dirty="0">
                <a:latin typeface="Georgia"/>
                <a:cs typeface="Georgia"/>
              </a:rPr>
              <a:t>bronze</a:t>
            </a:r>
            <a:r>
              <a:rPr sz="1600" spc="-60" dirty="0">
                <a:latin typeface="Georgia"/>
                <a:cs typeface="Georgia"/>
              </a:rPr>
              <a:t> </a:t>
            </a:r>
            <a:r>
              <a:rPr sz="1600" spc="-10" dirty="0">
                <a:latin typeface="Georgia"/>
                <a:cs typeface="Georgia"/>
              </a:rPr>
              <a:t>diamond platinum</a:t>
            </a:r>
            <a:endParaRPr sz="1600">
              <a:latin typeface="Georgia"/>
              <a:cs typeface="Georgia"/>
            </a:endParaRPr>
          </a:p>
          <a:p>
            <a:pPr marL="502920" marR="306070" indent="-287020">
              <a:lnSpc>
                <a:spcPct val="100000"/>
              </a:lnSpc>
              <a:spcBef>
                <a:spcPts val="5"/>
              </a:spcBef>
              <a:buFont typeface="Arial MT"/>
              <a:buChar char="•"/>
              <a:tabLst>
                <a:tab pos="502920" algn="l"/>
              </a:tabLst>
            </a:pPr>
            <a:r>
              <a:rPr sz="1600" dirty="0">
                <a:latin typeface="Georgia"/>
                <a:cs typeface="Georgia"/>
              </a:rPr>
              <a:t>Most</a:t>
            </a:r>
            <a:r>
              <a:rPr sz="1600" spc="-85" dirty="0">
                <a:latin typeface="Georgia"/>
                <a:cs typeface="Georgia"/>
              </a:rPr>
              <a:t> </a:t>
            </a:r>
            <a:r>
              <a:rPr sz="1600" spc="-25" dirty="0">
                <a:latin typeface="Georgia"/>
                <a:cs typeface="Georgia"/>
              </a:rPr>
              <a:t>highly</a:t>
            </a:r>
            <a:r>
              <a:rPr sz="1600" spc="-50" dirty="0">
                <a:latin typeface="Georgia"/>
                <a:cs typeface="Georgia"/>
              </a:rPr>
              <a:t> </a:t>
            </a:r>
            <a:r>
              <a:rPr sz="1600" spc="-10" dirty="0">
                <a:latin typeface="Georgia"/>
                <a:cs typeface="Georgia"/>
              </a:rPr>
              <a:t>taken </a:t>
            </a:r>
            <a:r>
              <a:rPr sz="1600" spc="-50" dirty="0">
                <a:latin typeface="Georgia"/>
                <a:cs typeface="Georgia"/>
              </a:rPr>
              <a:t>plans</a:t>
            </a:r>
            <a:r>
              <a:rPr sz="1600" spc="-25" dirty="0">
                <a:latin typeface="Georgia"/>
                <a:cs typeface="Georgia"/>
              </a:rPr>
              <a:t> </a:t>
            </a:r>
            <a:r>
              <a:rPr sz="1600" spc="-35" dirty="0">
                <a:latin typeface="Georgia"/>
                <a:cs typeface="Georgia"/>
              </a:rPr>
              <a:t>according</a:t>
            </a:r>
            <a:r>
              <a:rPr sz="1600" spc="-20" dirty="0">
                <a:latin typeface="Georgia"/>
                <a:cs typeface="Georgia"/>
              </a:rPr>
              <a:t> </a:t>
            </a:r>
            <a:r>
              <a:rPr sz="1600" dirty="0">
                <a:latin typeface="Georgia"/>
                <a:cs typeface="Georgia"/>
              </a:rPr>
              <a:t>to</a:t>
            </a:r>
            <a:r>
              <a:rPr sz="1600" spc="-35" dirty="0">
                <a:latin typeface="Georgia"/>
                <a:cs typeface="Georgia"/>
              </a:rPr>
              <a:t> </a:t>
            </a:r>
            <a:r>
              <a:rPr sz="1600" spc="-45" dirty="0">
                <a:latin typeface="Georgia"/>
                <a:cs typeface="Georgia"/>
              </a:rPr>
              <a:t>the </a:t>
            </a:r>
            <a:r>
              <a:rPr sz="1600" spc="-10" dirty="0">
                <a:latin typeface="Georgia"/>
                <a:cs typeface="Georgia"/>
              </a:rPr>
              <a:t>cities.</a:t>
            </a:r>
            <a:endParaRPr sz="1600">
              <a:latin typeface="Georgia"/>
              <a:cs typeface="Georgia"/>
            </a:endParaRPr>
          </a:p>
        </p:txBody>
      </p:sp>
      <p:sp>
        <p:nvSpPr>
          <p:cNvPr id="12" name="object 12"/>
          <p:cNvSpPr txBox="1"/>
          <p:nvPr/>
        </p:nvSpPr>
        <p:spPr>
          <a:xfrm>
            <a:off x="9259823" y="2369820"/>
            <a:ext cx="2707005" cy="2296795"/>
          </a:xfrm>
          <a:prstGeom prst="rect">
            <a:avLst/>
          </a:prstGeom>
          <a:ln w="12700">
            <a:solidFill>
              <a:srgbClr val="3B404D"/>
            </a:solidFill>
          </a:ln>
        </p:spPr>
        <p:txBody>
          <a:bodyPr vert="horz" wrap="square" lIns="0" tIns="635" rIns="0" bIns="0" rtlCol="0">
            <a:spAutoFit/>
          </a:bodyPr>
          <a:lstStyle/>
          <a:p>
            <a:pPr marL="120650">
              <a:lnSpc>
                <a:spcPct val="100000"/>
              </a:lnSpc>
              <a:spcBef>
                <a:spcPts val="5"/>
              </a:spcBef>
            </a:pPr>
            <a:r>
              <a:rPr sz="1800" u="sng" spc="-10" dirty="0">
                <a:uFill>
                  <a:solidFill>
                    <a:srgbClr val="000000"/>
                  </a:solidFill>
                </a:uFill>
                <a:latin typeface="Georgia"/>
                <a:cs typeface="Georgia"/>
              </a:rPr>
              <a:t>Conclusion</a:t>
            </a:r>
            <a:endParaRPr sz="1800">
              <a:latin typeface="Georgia"/>
              <a:cs typeface="Georgia"/>
            </a:endParaRPr>
          </a:p>
          <a:p>
            <a:pPr>
              <a:lnSpc>
                <a:spcPct val="100000"/>
              </a:lnSpc>
              <a:spcBef>
                <a:spcPts val="120"/>
              </a:spcBef>
            </a:pPr>
            <a:endParaRPr sz="1800">
              <a:latin typeface="Georgia"/>
              <a:cs typeface="Georgia"/>
            </a:endParaRPr>
          </a:p>
          <a:p>
            <a:pPr marL="407034" marR="13970" indent="-287020">
              <a:lnSpc>
                <a:spcPct val="100000"/>
              </a:lnSpc>
              <a:buFont typeface="Arial MT"/>
              <a:buChar char="•"/>
              <a:tabLst>
                <a:tab pos="407034" algn="l"/>
              </a:tabLst>
            </a:pPr>
            <a:r>
              <a:rPr sz="1600" spc="-35" dirty="0">
                <a:latin typeface="Georgia"/>
                <a:cs typeface="Georgia"/>
              </a:rPr>
              <a:t>Addressing</a:t>
            </a:r>
            <a:r>
              <a:rPr sz="1600" spc="-55" dirty="0">
                <a:latin typeface="Georgia"/>
                <a:cs typeface="Georgia"/>
              </a:rPr>
              <a:t> </a:t>
            </a:r>
            <a:r>
              <a:rPr sz="1600" spc="-25" dirty="0">
                <a:latin typeface="Georgia"/>
                <a:cs typeface="Georgia"/>
              </a:rPr>
              <a:t>the</a:t>
            </a:r>
            <a:r>
              <a:rPr sz="1600" spc="-50" dirty="0">
                <a:latin typeface="Georgia"/>
                <a:cs typeface="Georgia"/>
              </a:rPr>
              <a:t> </a:t>
            </a:r>
            <a:r>
              <a:rPr sz="1600" spc="-10" dirty="0">
                <a:latin typeface="Georgia"/>
                <a:cs typeface="Georgia"/>
              </a:rPr>
              <a:t>top</a:t>
            </a:r>
            <a:r>
              <a:rPr sz="1600" spc="-70" dirty="0">
                <a:latin typeface="Georgia"/>
                <a:cs typeface="Georgia"/>
              </a:rPr>
              <a:t> </a:t>
            </a:r>
            <a:r>
              <a:rPr sz="1600" spc="-25" dirty="0">
                <a:latin typeface="Georgia"/>
                <a:cs typeface="Georgia"/>
              </a:rPr>
              <a:t>10 </a:t>
            </a:r>
            <a:r>
              <a:rPr sz="1600" spc="-40" dirty="0">
                <a:latin typeface="Georgia"/>
                <a:cs typeface="Georgia"/>
              </a:rPr>
              <a:t>healthcare</a:t>
            </a:r>
            <a:r>
              <a:rPr sz="1600" spc="-20" dirty="0">
                <a:latin typeface="Georgia"/>
                <a:cs typeface="Georgia"/>
              </a:rPr>
              <a:t> </a:t>
            </a:r>
            <a:r>
              <a:rPr sz="1600" spc="-50" dirty="0">
                <a:latin typeface="Georgia"/>
                <a:cs typeface="Georgia"/>
              </a:rPr>
              <a:t>insurance</a:t>
            </a:r>
            <a:r>
              <a:rPr sz="1600" spc="-25" dirty="0">
                <a:latin typeface="Georgia"/>
                <a:cs typeface="Georgia"/>
              </a:rPr>
              <a:t> </a:t>
            </a:r>
            <a:r>
              <a:rPr sz="1600" spc="-45" dirty="0">
                <a:latin typeface="Georgia"/>
                <a:cs typeface="Georgia"/>
              </a:rPr>
              <a:t>plans </a:t>
            </a:r>
            <a:r>
              <a:rPr sz="1600" spc="-35" dirty="0">
                <a:latin typeface="Georgia"/>
                <a:cs typeface="Georgia"/>
              </a:rPr>
              <a:t>according</a:t>
            </a:r>
            <a:r>
              <a:rPr sz="1600" spc="-55" dirty="0">
                <a:latin typeface="Georgia"/>
                <a:cs typeface="Georgia"/>
              </a:rPr>
              <a:t> </a:t>
            </a:r>
            <a:r>
              <a:rPr sz="1600" dirty="0">
                <a:latin typeface="Georgia"/>
                <a:cs typeface="Georgia"/>
              </a:rPr>
              <a:t>to</a:t>
            </a:r>
            <a:r>
              <a:rPr sz="1600" spc="-60" dirty="0">
                <a:latin typeface="Georgia"/>
                <a:cs typeface="Georgia"/>
              </a:rPr>
              <a:t> </a:t>
            </a:r>
            <a:r>
              <a:rPr sz="1600" spc="-20" dirty="0">
                <a:latin typeface="Georgia"/>
                <a:cs typeface="Georgia"/>
              </a:rPr>
              <a:t>the</a:t>
            </a:r>
            <a:r>
              <a:rPr sz="1600" spc="-35" dirty="0">
                <a:latin typeface="Georgia"/>
                <a:cs typeface="Georgia"/>
              </a:rPr>
              <a:t> </a:t>
            </a:r>
            <a:r>
              <a:rPr sz="1600" spc="-10" dirty="0">
                <a:latin typeface="Georgia"/>
                <a:cs typeface="Georgia"/>
              </a:rPr>
              <a:t>cities.</a:t>
            </a:r>
            <a:endParaRPr sz="1600">
              <a:latin typeface="Georgia"/>
              <a:cs typeface="Georgia"/>
            </a:endParaRPr>
          </a:p>
          <a:p>
            <a:pPr marL="407034" marR="168275" indent="-287020">
              <a:lnSpc>
                <a:spcPct val="100000"/>
              </a:lnSpc>
              <a:spcBef>
                <a:spcPts val="5"/>
              </a:spcBef>
              <a:buFont typeface="Arial MT"/>
              <a:buChar char="•"/>
              <a:tabLst>
                <a:tab pos="407034" algn="l"/>
              </a:tabLst>
            </a:pPr>
            <a:r>
              <a:rPr sz="1600" spc="-10" dirty="0">
                <a:latin typeface="Georgia"/>
                <a:cs typeface="Georgia"/>
              </a:rPr>
              <a:t>Utilizing</a:t>
            </a:r>
            <a:r>
              <a:rPr sz="1600" spc="-40" dirty="0">
                <a:latin typeface="Georgia"/>
                <a:cs typeface="Georgia"/>
              </a:rPr>
              <a:t> </a:t>
            </a:r>
            <a:r>
              <a:rPr sz="1600" spc="-35" dirty="0">
                <a:latin typeface="Georgia"/>
                <a:cs typeface="Georgia"/>
              </a:rPr>
              <a:t>source</a:t>
            </a:r>
            <a:r>
              <a:rPr sz="1600" spc="-60" dirty="0">
                <a:latin typeface="Georgia"/>
                <a:cs typeface="Georgia"/>
              </a:rPr>
              <a:t> </a:t>
            </a:r>
            <a:r>
              <a:rPr sz="1600" spc="-25" dirty="0">
                <a:latin typeface="Georgia"/>
                <a:cs typeface="Georgia"/>
              </a:rPr>
              <a:t>data</a:t>
            </a:r>
            <a:r>
              <a:rPr sz="1600" spc="-55" dirty="0">
                <a:latin typeface="Georgia"/>
                <a:cs typeface="Georgia"/>
              </a:rPr>
              <a:t> </a:t>
            </a:r>
            <a:r>
              <a:rPr sz="1600" spc="-25" dirty="0">
                <a:latin typeface="Georgia"/>
                <a:cs typeface="Georgia"/>
              </a:rPr>
              <a:t>to </a:t>
            </a:r>
            <a:r>
              <a:rPr sz="1600" spc="-40" dirty="0">
                <a:latin typeface="Georgia"/>
                <a:cs typeface="Georgia"/>
              </a:rPr>
              <a:t>enhance</a:t>
            </a:r>
            <a:r>
              <a:rPr sz="1600" spc="-35" dirty="0">
                <a:latin typeface="Georgia"/>
                <a:cs typeface="Georgia"/>
              </a:rPr>
              <a:t> </a:t>
            </a:r>
            <a:r>
              <a:rPr sz="1600" spc="-20" dirty="0">
                <a:latin typeface="Georgia"/>
                <a:cs typeface="Georgia"/>
              </a:rPr>
              <a:t>the</a:t>
            </a:r>
            <a:r>
              <a:rPr sz="1600" spc="-40" dirty="0">
                <a:latin typeface="Georgia"/>
                <a:cs typeface="Georgia"/>
              </a:rPr>
              <a:t> </a:t>
            </a:r>
            <a:r>
              <a:rPr sz="1600" spc="-50" dirty="0">
                <a:latin typeface="Georgia"/>
                <a:cs typeface="Georgia"/>
              </a:rPr>
              <a:t>plans</a:t>
            </a:r>
            <a:r>
              <a:rPr sz="1600" spc="-45" dirty="0">
                <a:latin typeface="Georgia"/>
                <a:cs typeface="Georgia"/>
              </a:rPr>
              <a:t> </a:t>
            </a:r>
            <a:r>
              <a:rPr sz="1600" spc="-40" dirty="0">
                <a:latin typeface="Georgia"/>
                <a:cs typeface="Georgia"/>
              </a:rPr>
              <a:t>across </a:t>
            </a:r>
            <a:r>
              <a:rPr sz="1600" spc="130" dirty="0">
                <a:latin typeface="Georgia"/>
                <a:cs typeface="Georgia"/>
              </a:rPr>
              <a:t>NY</a:t>
            </a:r>
            <a:r>
              <a:rPr sz="1600" spc="-5" dirty="0">
                <a:latin typeface="Georgia"/>
                <a:cs typeface="Georgia"/>
              </a:rPr>
              <a:t> </a:t>
            </a:r>
            <a:r>
              <a:rPr sz="1600" spc="-35" dirty="0">
                <a:latin typeface="Georgia"/>
                <a:cs typeface="Georgia"/>
              </a:rPr>
              <a:t>cities</a:t>
            </a:r>
            <a:r>
              <a:rPr sz="1600" spc="5" dirty="0">
                <a:latin typeface="Georgia"/>
                <a:cs typeface="Georgia"/>
              </a:rPr>
              <a:t> </a:t>
            </a:r>
            <a:r>
              <a:rPr sz="1600" spc="-60" dirty="0">
                <a:latin typeface="Georgia"/>
                <a:cs typeface="Georgia"/>
              </a:rPr>
              <a:t>based</a:t>
            </a:r>
            <a:r>
              <a:rPr sz="1600" dirty="0">
                <a:latin typeface="Georgia"/>
                <a:cs typeface="Georgia"/>
              </a:rPr>
              <a:t> </a:t>
            </a:r>
            <a:r>
              <a:rPr sz="1600" spc="-35" dirty="0">
                <a:latin typeface="Georgia"/>
                <a:cs typeface="Georgia"/>
              </a:rPr>
              <a:t>on </a:t>
            </a:r>
            <a:r>
              <a:rPr sz="1600" spc="-40" dirty="0">
                <a:latin typeface="Georgia"/>
                <a:cs typeface="Georgia"/>
              </a:rPr>
              <a:t>coverage</a:t>
            </a:r>
            <a:r>
              <a:rPr sz="1600" spc="-50" dirty="0">
                <a:latin typeface="Georgia"/>
                <a:cs typeface="Georgia"/>
              </a:rPr>
              <a:t> </a:t>
            </a:r>
            <a:r>
              <a:rPr sz="1600" spc="-20" dirty="0">
                <a:latin typeface="Georgia"/>
                <a:cs typeface="Georgia"/>
              </a:rPr>
              <a:t>level</a:t>
            </a:r>
            <a:endParaRPr sz="1600">
              <a:latin typeface="Georgia"/>
              <a:cs typeface="Georgia"/>
            </a:endParaRPr>
          </a:p>
        </p:txBody>
      </p:sp>
      <p:grpSp>
        <p:nvGrpSpPr>
          <p:cNvPr id="13" name="object 13"/>
          <p:cNvGrpSpPr/>
          <p:nvPr/>
        </p:nvGrpSpPr>
        <p:grpSpPr>
          <a:xfrm>
            <a:off x="2736850" y="2357373"/>
            <a:ext cx="391160" cy="383540"/>
            <a:chOff x="2736850" y="2357373"/>
            <a:chExt cx="391160" cy="383540"/>
          </a:xfrm>
        </p:grpSpPr>
        <p:sp>
          <p:nvSpPr>
            <p:cNvPr id="14" name="object 14"/>
            <p:cNvSpPr/>
            <p:nvPr/>
          </p:nvSpPr>
          <p:spPr>
            <a:xfrm>
              <a:off x="2743200" y="2363723"/>
              <a:ext cx="378460" cy="370840"/>
            </a:xfrm>
            <a:custGeom>
              <a:avLst/>
              <a:gdLst/>
              <a:ahLst/>
              <a:cxnLst/>
              <a:rect l="l" t="t" r="r" b="b"/>
              <a:pathLst>
                <a:path w="378460" h="370839">
                  <a:moveTo>
                    <a:pt x="0" y="0"/>
                  </a:moveTo>
                  <a:lnTo>
                    <a:pt x="0" y="370331"/>
                  </a:lnTo>
                  <a:lnTo>
                    <a:pt x="377951" y="370331"/>
                  </a:lnTo>
                  <a:lnTo>
                    <a:pt x="0" y="0"/>
                  </a:lnTo>
                  <a:close/>
                </a:path>
              </a:pathLst>
            </a:custGeom>
            <a:solidFill>
              <a:srgbClr val="586781"/>
            </a:solidFill>
          </p:spPr>
          <p:txBody>
            <a:bodyPr wrap="square" lIns="0" tIns="0" rIns="0" bIns="0" rtlCol="0"/>
            <a:lstStyle/>
            <a:p>
              <a:endParaRPr/>
            </a:p>
          </p:txBody>
        </p:sp>
        <p:sp>
          <p:nvSpPr>
            <p:cNvPr id="15" name="object 15"/>
            <p:cNvSpPr/>
            <p:nvPr/>
          </p:nvSpPr>
          <p:spPr>
            <a:xfrm>
              <a:off x="2743200" y="2363723"/>
              <a:ext cx="378460" cy="370840"/>
            </a:xfrm>
            <a:custGeom>
              <a:avLst/>
              <a:gdLst/>
              <a:ahLst/>
              <a:cxnLst/>
              <a:rect l="l" t="t" r="r" b="b"/>
              <a:pathLst>
                <a:path w="378460" h="370839">
                  <a:moveTo>
                    <a:pt x="0" y="370331"/>
                  </a:moveTo>
                  <a:lnTo>
                    <a:pt x="0" y="0"/>
                  </a:lnTo>
                  <a:lnTo>
                    <a:pt x="377951" y="370331"/>
                  </a:lnTo>
                  <a:lnTo>
                    <a:pt x="0" y="370331"/>
                  </a:lnTo>
                  <a:close/>
                </a:path>
              </a:pathLst>
            </a:custGeom>
            <a:ln w="12700">
              <a:solidFill>
                <a:srgbClr val="202733"/>
              </a:solidFill>
            </a:ln>
          </p:spPr>
          <p:txBody>
            <a:bodyPr wrap="square" lIns="0" tIns="0" rIns="0" bIns="0" rtlCol="0"/>
            <a:lstStyle/>
            <a:p>
              <a:endParaRPr/>
            </a:p>
          </p:txBody>
        </p:sp>
      </p:grpSp>
      <p:grpSp>
        <p:nvGrpSpPr>
          <p:cNvPr id="16" name="object 16"/>
          <p:cNvGrpSpPr/>
          <p:nvPr/>
        </p:nvGrpSpPr>
        <p:grpSpPr>
          <a:xfrm>
            <a:off x="8646921" y="2363470"/>
            <a:ext cx="391160" cy="383540"/>
            <a:chOff x="8646921" y="2363470"/>
            <a:chExt cx="391160" cy="383540"/>
          </a:xfrm>
        </p:grpSpPr>
        <p:sp>
          <p:nvSpPr>
            <p:cNvPr id="17" name="object 17"/>
            <p:cNvSpPr/>
            <p:nvPr/>
          </p:nvSpPr>
          <p:spPr>
            <a:xfrm>
              <a:off x="8653271" y="2369820"/>
              <a:ext cx="378460" cy="370840"/>
            </a:xfrm>
            <a:custGeom>
              <a:avLst/>
              <a:gdLst/>
              <a:ahLst/>
              <a:cxnLst/>
              <a:rect l="l" t="t" r="r" b="b"/>
              <a:pathLst>
                <a:path w="378459" h="370839">
                  <a:moveTo>
                    <a:pt x="0" y="0"/>
                  </a:moveTo>
                  <a:lnTo>
                    <a:pt x="0" y="370331"/>
                  </a:lnTo>
                  <a:lnTo>
                    <a:pt x="377951" y="370331"/>
                  </a:lnTo>
                  <a:lnTo>
                    <a:pt x="0" y="0"/>
                  </a:lnTo>
                  <a:close/>
                </a:path>
              </a:pathLst>
            </a:custGeom>
            <a:solidFill>
              <a:srgbClr val="586781"/>
            </a:solidFill>
          </p:spPr>
          <p:txBody>
            <a:bodyPr wrap="square" lIns="0" tIns="0" rIns="0" bIns="0" rtlCol="0"/>
            <a:lstStyle/>
            <a:p>
              <a:endParaRPr/>
            </a:p>
          </p:txBody>
        </p:sp>
        <p:sp>
          <p:nvSpPr>
            <p:cNvPr id="18" name="object 18"/>
            <p:cNvSpPr/>
            <p:nvPr/>
          </p:nvSpPr>
          <p:spPr>
            <a:xfrm>
              <a:off x="8653271" y="2369820"/>
              <a:ext cx="378460" cy="370840"/>
            </a:xfrm>
            <a:custGeom>
              <a:avLst/>
              <a:gdLst/>
              <a:ahLst/>
              <a:cxnLst/>
              <a:rect l="l" t="t" r="r" b="b"/>
              <a:pathLst>
                <a:path w="378459" h="370839">
                  <a:moveTo>
                    <a:pt x="0" y="370331"/>
                  </a:moveTo>
                  <a:lnTo>
                    <a:pt x="0" y="0"/>
                  </a:lnTo>
                  <a:lnTo>
                    <a:pt x="377951" y="370331"/>
                  </a:lnTo>
                  <a:lnTo>
                    <a:pt x="0" y="370331"/>
                  </a:lnTo>
                  <a:close/>
                </a:path>
              </a:pathLst>
            </a:custGeom>
            <a:ln w="12700">
              <a:solidFill>
                <a:srgbClr val="202733"/>
              </a:solidFill>
            </a:ln>
          </p:spPr>
          <p:txBody>
            <a:bodyPr wrap="square" lIns="0" tIns="0" rIns="0" bIns="0" rtlCol="0"/>
            <a:lstStyle/>
            <a:p>
              <a:endParaRPr/>
            </a:p>
          </p:txBody>
        </p:sp>
      </p:grpSp>
      <p:grpSp>
        <p:nvGrpSpPr>
          <p:cNvPr id="19" name="object 19"/>
          <p:cNvGrpSpPr/>
          <p:nvPr/>
        </p:nvGrpSpPr>
        <p:grpSpPr>
          <a:xfrm>
            <a:off x="5691885" y="2363470"/>
            <a:ext cx="389255" cy="383540"/>
            <a:chOff x="5691885" y="2363470"/>
            <a:chExt cx="389255" cy="383540"/>
          </a:xfrm>
        </p:grpSpPr>
        <p:sp>
          <p:nvSpPr>
            <p:cNvPr id="20" name="object 20"/>
            <p:cNvSpPr/>
            <p:nvPr/>
          </p:nvSpPr>
          <p:spPr>
            <a:xfrm>
              <a:off x="5698235" y="2369820"/>
              <a:ext cx="376555" cy="370840"/>
            </a:xfrm>
            <a:custGeom>
              <a:avLst/>
              <a:gdLst/>
              <a:ahLst/>
              <a:cxnLst/>
              <a:rect l="l" t="t" r="r" b="b"/>
              <a:pathLst>
                <a:path w="376554" h="370839">
                  <a:moveTo>
                    <a:pt x="0" y="0"/>
                  </a:moveTo>
                  <a:lnTo>
                    <a:pt x="0" y="370331"/>
                  </a:lnTo>
                  <a:lnTo>
                    <a:pt x="376427" y="370331"/>
                  </a:lnTo>
                  <a:lnTo>
                    <a:pt x="0" y="0"/>
                  </a:lnTo>
                  <a:close/>
                </a:path>
              </a:pathLst>
            </a:custGeom>
            <a:solidFill>
              <a:srgbClr val="586781"/>
            </a:solidFill>
          </p:spPr>
          <p:txBody>
            <a:bodyPr wrap="square" lIns="0" tIns="0" rIns="0" bIns="0" rtlCol="0"/>
            <a:lstStyle/>
            <a:p>
              <a:endParaRPr/>
            </a:p>
          </p:txBody>
        </p:sp>
        <p:sp>
          <p:nvSpPr>
            <p:cNvPr id="21" name="object 21"/>
            <p:cNvSpPr/>
            <p:nvPr/>
          </p:nvSpPr>
          <p:spPr>
            <a:xfrm>
              <a:off x="5698235" y="2369820"/>
              <a:ext cx="376555" cy="370840"/>
            </a:xfrm>
            <a:custGeom>
              <a:avLst/>
              <a:gdLst/>
              <a:ahLst/>
              <a:cxnLst/>
              <a:rect l="l" t="t" r="r" b="b"/>
              <a:pathLst>
                <a:path w="376554" h="370839">
                  <a:moveTo>
                    <a:pt x="0" y="370331"/>
                  </a:moveTo>
                  <a:lnTo>
                    <a:pt x="0" y="0"/>
                  </a:lnTo>
                  <a:lnTo>
                    <a:pt x="376427" y="370331"/>
                  </a:lnTo>
                  <a:lnTo>
                    <a:pt x="0" y="370331"/>
                  </a:lnTo>
                  <a:close/>
                </a:path>
              </a:pathLst>
            </a:custGeom>
            <a:ln w="12700">
              <a:solidFill>
                <a:srgbClr val="202733"/>
              </a:solidFill>
            </a:ln>
          </p:spPr>
          <p:txBody>
            <a:bodyPr wrap="square" lIns="0" tIns="0" rIns="0" bIns="0" rtlCol="0"/>
            <a:lstStyle/>
            <a:p>
              <a:endParaRPr/>
            </a:p>
          </p:txBody>
        </p:sp>
      </p:grpSp>
      <p:grpSp>
        <p:nvGrpSpPr>
          <p:cNvPr id="22" name="object 22"/>
          <p:cNvGrpSpPr/>
          <p:nvPr/>
        </p:nvGrpSpPr>
        <p:grpSpPr>
          <a:xfrm>
            <a:off x="11569954" y="2357373"/>
            <a:ext cx="391160" cy="383540"/>
            <a:chOff x="11569954" y="2357373"/>
            <a:chExt cx="391160" cy="383540"/>
          </a:xfrm>
        </p:grpSpPr>
        <p:sp>
          <p:nvSpPr>
            <p:cNvPr id="23" name="object 23"/>
            <p:cNvSpPr/>
            <p:nvPr/>
          </p:nvSpPr>
          <p:spPr>
            <a:xfrm>
              <a:off x="11576304" y="2363723"/>
              <a:ext cx="378460" cy="370840"/>
            </a:xfrm>
            <a:custGeom>
              <a:avLst/>
              <a:gdLst/>
              <a:ahLst/>
              <a:cxnLst/>
              <a:rect l="l" t="t" r="r" b="b"/>
              <a:pathLst>
                <a:path w="378459" h="370839">
                  <a:moveTo>
                    <a:pt x="0" y="0"/>
                  </a:moveTo>
                  <a:lnTo>
                    <a:pt x="0" y="370331"/>
                  </a:lnTo>
                  <a:lnTo>
                    <a:pt x="377951" y="370331"/>
                  </a:lnTo>
                  <a:lnTo>
                    <a:pt x="0" y="0"/>
                  </a:lnTo>
                  <a:close/>
                </a:path>
              </a:pathLst>
            </a:custGeom>
            <a:solidFill>
              <a:srgbClr val="586781"/>
            </a:solidFill>
          </p:spPr>
          <p:txBody>
            <a:bodyPr wrap="square" lIns="0" tIns="0" rIns="0" bIns="0" rtlCol="0"/>
            <a:lstStyle/>
            <a:p>
              <a:endParaRPr/>
            </a:p>
          </p:txBody>
        </p:sp>
        <p:sp>
          <p:nvSpPr>
            <p:cNvPr id="24" name="object 24"/>
            <p:cNvSpPr/>
            <p:nvPr/>
          </p:nvSpPr>
          <p:spPr>
            <a:xfrm>
              <a:off x="11576304" y="2363723"/>
              <a:ext cx="378460" cy="370840"/>
            </a:xfrm>
            <a:custGeom>
              <a:avLst/>
              <a:gdLst/>
              <a:ahLst/>
              <a:cxnLst/>
              <a:rect l="l" t="t" r="r" b="b"/>
              <a:pathLst>
                <a:path w="378459" h="370839">
                  <a:moveTo>
                    <a:pt x="0" y="370331"/>
                  </a:moveTo>
                  <a:lnTo>
                    <a:pt x="0" y="0"/>
                  </a:lnTo>
                  <a:lnTo>
                    <a:pt x="377951" y="370331"/>
                  </a:lnTo>
                  <a:lnTo>
                    <a:pt x="0" y="370331"/>
                  </a:lnTo>
                  <a:close/>
                </a:path>
              </a:pathLst>
            </a:custGeom>
            <a:ln w="12700">
              <a:solidFill>
                <a:srgbClr val="202733"/>
              </a:solidFill>
            </a:ln>
          </p:spPr>
          <p:txBody>
            <a:bodyPr wrap="square" lIns="0" tIns="0" rIns="0" bIns="0" rtlCol="0"/>
            <a:lstStyle/>
            <a:p>
              <a:endParaRPr/>
            </a:p>
          </p:txBody>
        </p:sp>
      </p:grpSp>
      <p:sp>
        <p:nvSpPr>
          <p:cNvPr id="25" name="object 25"/>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422897" y="723137"/>
            <a:ext cx="1600200" cy="0"/>
          </a:xfrm>
          <a:custGeom>
            <a:avLst/>
            <a:gdLst/>
            <a:ahLst/>
            <a:cxnLst/>
            <a:rect l="l" t="t" r="r" b="b"/>
            <a:pathLst>
              <a:path w="1600200">
                <a:moveTo>
                  <a:pt x="0" y="0"/>
                </a:moveTo>
                <a:lnTo>
                  <a:pt x="1600200" y="0"/>
                </a:lnTo>
              </a:path>
            </a:pathLst>
          </a:custGeom>
          <a:ln w="44450">
            <a:solidFill>
              <a:srgbClr val="000000"/>
            </a:solidFill>
          </a:ln>
        </p:spPr>
        <p:txBody>
          <a:bodyPr wrap="square" lIns="0" tIns="0" rIns="0" bIns="0" rtlCol="0"/>
          <a:lstStyle/>
          <a:p>
            <a:endParaRPr/>
          </a:p>
        </p:txBody>
      </p:sp>
      <p:pic>
        <p:nvPicPr>
          <p:cNvPr id="3" name="object 3"/>
          <p:cNvPicPr/>
          <p:nvPr/>
        </p:nvPicPr>
        <p:blipFill>
          <a:blip r:embed="rId2" cstate="print"/>
          <a:stretch>
            <a:fillRect/>
          </a:stretch>
        </p:blipFill>
        <p:spPr>
          <a:xfrm>
            <a:off x="0" y="17"/>
            <a:ext cx="5686043" cy="6857365"/>
          </a:xfrm>
          <a:prstGeom prst="rect">
            <a:avLst/>
          </a:prstGeom>
        </p:spPr>
      </p:pic>
      <p:sp>
        <p:nvSpPr>
          <p:cNvPr id="4" name="object 4"/>
          <p:cNvSpPr txBox="1">
            <a:spLocks noGrp="1"/>
          </p:cNvSpPr>
          <p:nvPr>
            <p:ph type="title"/>
          </p:nvPr>
        </p:nvSpPr>
        <p:spPr>
          <a:xfrm>
            <a:off x="6364351" y="921207"/>
            <a:ext cx="2324100" cy="635000"/>
          </a:xfrm>
          <a:prstGeom prst="rect">
            <a:avLst/>
          </a:prstGeom>
        </p:spPr>
        <p:txBody>
          <a:bodyPr vert="horz" wrap="square" lIns="0" tIns="12065" rIns="0" bIns="0" rtlCol="0">
            <a:spAutoFit/>
          </a:bodyPr>
          <a:lstStyle/>
          <a:p>
            <a:pPr marL="12700">
              <a:lnSpc>
                <a:spcPct val="100000"/>
              </a:lnSpc>
              <a:spcBef>
                <a:spcPts val="95"/>
              </a:spcBef>
            </a:pPr>
            <a:r>
              <a:rPr sz="4000" spc="-10" dirty="0"/>
              <a:t>SUMMARY</a:t>
            </a:r>
            <a:endParaRPr sz="400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t>16</a:t>
            </a:fld>
            <a:endParaRPr spc="-25" dirty="0"/>
          </a:p>
        </p:txBody>
      </p:sp>
      <p:sp>
        <p:nvSpPr>
          <p:cNvPr id="5" name="object 5"/>
          <p:cNvSpPr txBox="1">
            <a:spLocks noGrp="1"/>
          </p:cNvSpPr>
          <p:nvPr>
            <p:ph type="body" idx="1"/>
          </p:nvPr>
        </p:nvSpPr>
        <p:spPr>
          <a:prstGeom prst="rect">
            <a:avLst/>
          </a:prstGeom>
        </p:spPr>
        <p:txBody>
          <a:bodyPr vert="horz" wrap="square" lIns="0" tIns="13335" rIns="0" bIns="0" rtlCol="0">
            <a:spAutoFit/>
          </a:bodyPr>
          <a:lstStyle/>
          <a:p>
            <a:pPr marL="12700" marR="5080">
              <a:lnSpc>
                <a:spcPct val="110000"/>
              </a:lnSpc>
              <a:spcBef>
                <a:spcPts val="105"/>
              </a:spcBef>
            </a:pPr>
            <a:r>
              <a:rPr dirty="0"/>
              <a:t>Our</a:t>
            </a:r>
            <a:r>
              <a:rPr spc="-85" dirty="0"/>
              <a:t> </a:t>
            </a:r>
            <a:r>
              <a:rPr spc="-60" dirty="0"/>
              <a:t>team</a:t>
            </a:r>
            <a:r>
              <a:rPr spc="-80" dirty="0"/>
              <a:t> </a:t>
            </a:r>
            <a:r>
              <a:rPr dirty="0"/>
              <a:t>is</a:t>
            </a:r>
            <a:r>
              <a:rPr spc="-80" dirty="0"/>
              <a:t> </a:t>
            </a:r>
            <a:r>
              <a:rPr spc="-45" dirty="0"/>
              <a:t>working</a:t>
            </a:r>
            <a:r>
              <a:rPr spc="-75" dirty="0"/>
              <a:t> </a:t>
            </a:r>
            <a:r>
              <a:rPr spc="-70" dirty="0"/>
              <a:t>together</a:t>
            </a:r>
            <a:r>
              <a:rPr spc="-65" dirty="0"/>
              <a:t> </a:t>
            </a:r>
            <a:r>
              <a:rPr dirty="0"/>
              <a:t>on</a:t>
            </a:r>
            <a:r>
              <a:rPr spc="-90" dirty="0"/>
              <a:t> </a:t>
            </a:r>
            <a:r>
              <a:rPr spc="-25" dirty="0"/>
              <a:t>the </a:t>
            </a:r>
            <a:r>
              <a:rPr spc="-75" dirty="0"/>
              <a:t>quest</a:t>
            </a:r>
            <a:r>
              <a:rPr spc="-65" dirty="0"/>
              <a:t> </a:t>
            </a:r>
            <a:r>
              <a:rPr dirty="0"/>
              <a:t>of</a:t>
            </a:r>
            <a:r>
              <a:rPr spc="140" dirty="0"/>
              <a:t> </a:t>
            </a:r>
            <a:r>
              <a:rPr dirty="0"/>
              <a:t>Dr.</a:t>
            </a:r>
            <a:r>
              <a:rPr spc="-70" dirty="0"/>
              <a:t> </a:t>
            </a:r>
            <a:r>
              <a:rPr dirty="0"/>
              <a:t>Martiez</a:t>
            </a:r>
            <a:r>
              <a:rPr spc="-65" dirty="0"/>
              <a:t> </a:t>
            </a:r>
            <a:r>
              <a:rPr dirty="0"/>
              <a:t>to</a:t>
            </a:r>
            <a:r>
              <a:rPr spc="-80" dirty="0"/>
              <a:t> </a:t>
            </a:r>
            <a:r>
              <a:rPr spc="-75" dirty="0"/>
              <a:t>improve</a:t>
            </a:r>
            <a:r>
              <a:rPr spc="-70" dirty="0"/>
              <a:t> </a:t>
            </a:r>
            <a:r>
              <a:rPr spc="-25" dirty="0"/>
              <a:t>the </a:t>
            </a:r>
            <a:r>
              <a:rPr spc="-55" dirty="0"/>
              <a:t>Healthcare</a:t>
            </a:r>
            <a:r>
              <a:rPr spc="-70" dirty="0"/>
              <a:t> </a:t>
            </a:r>
            <a:r>
              <a:rPr spc="-80" dirty="0"/>
              <a:t>system</a:t>
            </a:r>
            <a:r>
              <a:rPr spc="-60" dirty="0"/>
              <a:t> </a:t>
            </a:r>
            <a:r>
              <a:rPr dirty="0"/>
              <a:t>by</a:t>
            </a:r>
            <a:r>
              <a:rPr spc="-70" dirty="0"/>
              <a:t> </a:t>
            </a:r>
            <a:r>
              <a:rPr spc="-55" dirty="0"/>
              <a:t>using</a:t>
            </a:r>
            <a:r>
              <a:rPr spc="-50" dirty="0"/>
              <a:t> </a:t>
            </a:r>
            <a:r>
              <a:rPr spc="-45" dirty="0"/>
              <a:t>the</a:t>
            </a:r>
            <a:r>
              <a:rPr spc="-65" dirty="0"/>
              <a:t> </a:t>
            </a:r>
            <a:r>
              <a:rPr spc="-20" dirty="0"/>
              <a:t>data and</a:t>
            </a:r>
            <a:r>
              <a:rPr spc="-100" dirty="0"/>
              <a:t> </a:t>
            </a:r>
            <a:r>
              <a:rPr spc="-45" dirty="0"/>
              <a:t>applying</a:t>
            </a:r>
            <a:r>
              <a:rPr spc="-85" dirty="0"/>
              <a:t> </a:t>
            </a:r>
            <a:r>
              <a:rPr spc="-40" dirty="0"/>
              <a:t>analytical</a:t>
            </a:r>
            <a:r>
              <a:rPr spc="-100" dirty="0"/>
              <a:t> </a:t>
            </a:r>
            <a:r>
              <a:rPr spc="-50" dirty="0"/>
              <a:t>skills.</a:t>
            </a:r>
            <a:r>
              <a:rPr spc="-80" dirty="0"/>
              <a:t> </a:t>
            </a:r>
            <a:r>
              <a:rPr dirty="0"/>
              <a:t>Our</a:t>
            </a:r>
            <a:r>
              <a:rPr spc="-95" dirty="0"/>
              <a:t> </a:t>
            </a:r>
            <a:r>
              <a:rPr spc="-25" dirty="0"/>
              <a:t>aim </a:t>
            </a:r>
            <a:r>
              <a:rPr dirty="0"/>
              <a:t>is</a:t>
            </a:r>
            <a:r>
              <a:rPr spc="-80" dirty="0"/>
              <a:t> </a:t>
            </a:r>
            <a:r>
              <a:rPr dirty="0"/>
              <a:t>to</a:t>
            </a:r>
            <a:r>
              <a:rPr spc="-75" dirty="0"/>
              <a:t> </a:t>
            </a:r>
            <a:r>
              <a:rPr spc="-60" dirty="0"/>
              <a:t>provide</a:t>
            </a:r>
            <a:r>
              <a:rPr spc="-65" dirty="0"/>
              <a:t> insight</a:t>
            </a:r>
            <a:r>
              <a:rPr spc="-80" dirty="0"/>
              <a:t> </a:t>
            </a:r>
            <a:r>
              <a:rPr dirty="0"/>
              <a:t>to</a:t>
            </a:r>
            <a:r>
              <a:rPr spc="-75" dirty="0"/>
              <a:t> </a:t>
            </a:r>
            <a:r>
              <a:rPr spc="-10" dirty="0"/>
              <a:t>Vital</a:t>
            </a:r>
            <a:r>
              <a:rPr spc="-80" dirty="0"/>
              <a:t> </a:t>
            </a:r>
            <a:r>
              <a:rPr spc="-20" dirty="0"/>
              <a:t>Care </a:t>
            </a:r>
            <a:r>
              <a:rPr spc="-50" dirty="0"/>
              <a:t>Health </a:t>
            </a:r>
            <a:r>
              <a:rPr spc="-65" dirty="0"/>
              <a:t>Insurance</a:t>
            </a:r>
            <a:r>
              <a:rPr spc="-50" dirty="0"/>
              <a:t> </a:t>
            </a:r>
            <a:r>
              <a:rPr dirty="0"/>
              <a:t>to</a:t>
            </a:r>
            <a:r>
              <a:rPr spc="-55" dirty="0"/>
              <a:t> </a:t>
            </a:r>
            <a:r>
              <a:rPr spc="-80" dirty="0"/>
              <a:t>addressing</a:t>
            </a:r>
            <a:r>
              <a:rPr spc="-45" dirty="0"/>
              <a:t> </a:t>
            </a:r>
            <a:r>
              <a:rPr spc="-70" dirty="0"/>
              <a:t>diverse </a:t>
            </a:r>
            <a:r>
              <a:rPr spc="-60" dirty="0"/>
              <a:t>healthcare</a:t>
            </a:r>
            <a:r>
              <a:rPr spc="-45" dirty="0"/>
              <a:t> </a:t>
            </a:r>
            <a:r>
              <a:rPr spc="-70" dirty="0"/>
              <a:t>needs</a:t>
            </a:r>
            <a:r>
              <a:rPr spc="-50" dirty="0"/>
              <a:t> </a:t>
            </a:r>
            <a:r>
              <a:rPr spc="-10" dirty="0"/>
              <a:t>effectively.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1745" cy="6857997"/>
            </a:xfrm>
            <a:prstGeom prst="rect">
              <a:avLst/>
            </a:prstGeom>
          </p:spPr>
        </p:pic>
        <p:pic>
          <p:nvPicPr>
            <p:cNvPr id="4" name="object 4"/>
            <p:cNvPicPr/>
            <p:nvPr/>
          </p:nvPicPr>
          <p:blipFill>
            <a:blip r:embed="rId3" cstate="print"/>
            <a:stretch>
              <a:fillRect/>
            </a:stretch>
          </p:blipFill>
          <p:spPr>
            <a:xfrm>
              <a:off x="0" y="0"/>
              <a:ext cx="6771132" cy="6857996"/>
            </a:xfrm>
            <a:prstGeom prst="rect">
              <a:avLst/>
            </a:prstGeom>
          </p:spPr>
        </p:pic>
        <p:pic>
          <p:nvPicPr>
            <p:cNvPr id="5" name="object 5"/>
            <p:cNvPicPr/>
            <p:nvPr/>
          </p:nvPicPr>
          <p:blipFill>
            <a:blip r:embed="rId4" cstate="print"/>
            <a:stretch>
              <a:fillRect/>
            </a:stretch>
          </p:blipFill>
          <p:spPr>
            <a:xfrm>
              <a:off x="774191" y="676643"/>
              <a:ext cx="1763268" cy="146443"/>
            </a:xfrm>
            <a:prstGeom prst="rect">
              <a:avLst/>
            </a:prstGeom>
          </p:spPr>
        </p:pic>
        <p:sp>
          <p:nvSpPr>
            <p:cNvPr id="6" name="object 6"/>
            <p:cNvSpPr/>
            <p:nvPr/>
          </p:nvSpPr>
          <p:spPr>
            <a:xfrm>
              <a:off x="800862" y="724662"/>
              <a:ext cx="1638300" cy="0"/>
            </a:xfrm>
            <a:custGeom>
              <a:avLst/>
              <a:gdLst/>
              <a:ahLst/>
              <a:cxnLst/>
              <a:rect l="l" t="t" r="r" b="b"/>
              <a:pathLst>
                <a:path w="1638300">
                  <a:moveTo>
                    <a:pt x="0" y="0"/>
                  </a:moveTo>
                  <a:lnTo>
                    <a:pt x="1638300" y="0"/>
                  </a:lnTo>
                </a:path>
              </a:pathLst>
            </a:custGeom>
            <a:ln w="44450">
              <a:solidFill>
                <a:srgbClr val="FFFFFF"/>
              </a:solidFill>
            </a:ln>
          </p:spPr>
          <p:txBody>
            <a:bodyPr wrap="square" lIns="0" tIns="0" rIns="0" bIns="0" rtlCol="0"/>
            <a:lstStyle/>
            <a:p>
              <a:endParaRPr/>
            </a:p>
          </p:txBody>
        </p:sp>
      </p:grpSp>
      <p:sp>
        <p:nvSpPr>
          <p:cNvPr id="7" name="object 7"/>
          <p:cNvSpPr txBox="1">
            <a:spLocks noGrp="1"/>
          </p:cNvSpPr>
          <p:nvPr>
            <p:ph type="title"/>
          </p:nvPr>
        </p:nvSpPr>
        <p:spPr>
          <a:xfrm>
            <a:off x="782827" y="875741"/>
            <a:ext cx="3406775" cy="848994"/>
          </a:xfrm>
          <a:prstGeom prst="rect">
            <a:avLst/>
          </a:prstGeom>
        </p:spPr>
        <p:txBody>
          <a:bodyPr vert="horz" wrap="square" lIns="0" tIns="12700" rIns="0" bIns="0" rtlCol="0">
            <a:spAutoFit/>
          </a:bodyPr>
          <a:lstStyle/>
          <a:p>
            <a:pPr marL="12700">
              <a:lnSpc>
                <a:spcPct val="100000"/>
              </a:lnSpc>
              <a:spcBef>
                <a:spcPts val="100"/>
              </a:spcBef>
            </a:pPr>
            <a:r>
              <a:rPr sz="5400" spc="-185" dirty="0">
                <a:solidFill>
                  <a:srgbClr val="FFFFFF"/>
                </a:solidFill>
              </a:rPr>
              <a:t>THANK</a:t>
            </a:r>
            <a:r>
              <a:rPr sz="5400" spc="-430" dirty="0">
                <a:solidFill>
                  <a:srgbClr val="FFFFFF"/>
                </a:solidFill>
              </a:rPr>
              <a:t> </a:t>
            </a:r>
            <a:r>
              <a:rPr sz="5400" spc="-415" dirty="0">
                <a:solidFill>
                  <a:srgbClr val="FFFFFF"/>
                </a:solidFill>
              </a:rPr>
              <a:t>YOU</a:t>
            </a:r>
            <a:endParaRPr sz="5400"/>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2125"/>
              </a:lnSpc>
            </a:pPr>
            <a:fld id="{81D60167-4931-47E6-BA6A-407CBD079E47}" type="slidenum">
              <a:rPr spc="-25" dirty="0"/>
              <a:t>17</a:t>
            </a:fld>
            <a:endParaRPr spc="-25" dirty="0"/>
          </a:p>
        </p:txBody>
      </p:sp>
      <p:sp>
        <p:nvSpPr>
          <p:cNvPr id="8" name="object 8"/>
          <p:cNvSpPr txBox="1"/>
          <p:nvPr/>
        </p:nvSpPr>
        <p:spPr>
          <a:xfrm>
            <a:off x="782827" y="5159181"/>
            <a:ext cx="3226435" cy="695960"/>
          </a:xfrm>
          <a:prstGeom prst="rect">
            <a:avLst/>
          </a:prstGeom>
        </p:spPr>
        <p:txBody>
          <a:bodyPr vert="horz" wrap="square" lIns="0" tIns="42545" rIns="0" bIns="0" rtlCol="0">
            <a:spAutoFit/>
          </a:bodyPr>
          <a:lstStyle/>
          <a:p>
            <a:pPr marL="78105">
              <a:lnSpc>
                <a:spcPct val="100000"/>
              </a:lnSpc>
              <a:spcBef>
                <a:spcPts val="335"/>
              </a:spcBef>
            </a:pPr>
            <a:r>
              <a:rPr sz="2000" b="1" dirty="0">
                <a:solidFill>
                  <a:srgbClr val="FFFFFF"/>
                </a:solidFill>
                <a:latin typeface="Times New Roman"/>
                <a:cs typeface="Times New Roman"/>
              </a:rPr>
              <a:t>POWER</a:t>
            </a:r>
            <a:r>
              <a:rPr sz="2000" b="1" spc="70" dirty="0">
                <a:solidFill>
                  <a:srgbClr val="FFFFFF"/>
                </a:solidFill>
                <a:latin typeface="Times New Roman"/>
                <a:cs typeface="Times New Roman"/>
              </a:rPr>
              <a:t> </a:t>
            </a:r>
            <a:r>
              <a:rPr sz="2000" b="1" spc="-10" dirty="0">
                <a:solidFill>
                  <a:srgbClr val="FFFFFF"/>
                </a:solidFill>
                <a:latin typeface="Times New Roman"/>
                <a:cs typeface="Times New Roman"/>
              </a:rPr>
              <a:t>VISUALIZATION</a:t>
            </a:r>
            <a:endParaRPr sz="2000">
              <a:latin typeface="Times New Roman"/>
              <a:cs typeface="Times New Roman"/>
            </a:endParaRPr>
          </a:p>
          <a:p>
            <a:pPr marL="12700">
              <a:lnSpc>
                <a:spcPct val="100000"/>
              </a:lnSpc>
              <a:spcBef>
                <a:spcPts val="240"/>
              </a:spcBef>
            </a:pPr>
            <a:r>
              <a:rPr sz="2000" b="1" spc="-10" dirty="0">
                <a:solidFill>
                  <a:srgbClr val="FFFFFF"/>
                </a:solidFill>
                <a:latin typeface="Times New Roman"/>
                <a:cs typeface="Times New Roman"/>
              </a:rPr>
              <a:t>SOLUTIONS</a:t>
            </a:r>
            <a:endParaRPr sz="20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1722</TotalTime>
  <Words>968</Words>
  <Application>Microsoft Office PowerPoint</Application>
  <PresentationFormat>Widescreen</PresentationFormat>
  <Paragraphs>91</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Arial MT</vt:lpstr>
      <vt:lpstr>Calibri</vt:lpstr>
      <vt:lpstr>Georgia</vt:lpstr>
      <vt:lpstr>Söhne</vt:lpstr>
      <vt:lpstr>Tahoma</vt:lpstr>
      <vt:lpstr>Times New Roman</vt:lpstr>
      <vt:lpstr>Trebuchet MS</vt:lpstr>
      <vt:lpstr>Office Theme</vt:lpstr>
      <vt:lpstr>NYC HEALTH PROVIDER NETWORK</vt:lpstr>
      <vt:lpstr>AGENDA</vt:lpstr>
      <vt:lpstr>MEET THE TEAM</vt:lpstr>
      <vt:lpstr>INTRODUCTION</vt:lpstr>
      <vt:lpstr>EXPLORATORY DATA ANALYSIS</vt:lpstr>
      <vt:lpstr>PROJECT SPONSOR - DR. MARTINEZ GOMEZ</vt:lpstr>
      <vt:lpstr>Customer’s and Plan’s Summary Statistics</vt:lpstr>
      <vt:lpstr>PLAN NAMES VS QUARTERS</vt:lpstr>
      <vt:lpstr>REGIONAL DISTRIBUTION OF INSURANCE POLICIES</vt:lpstr>
      <vt:lpstr>ALL PLANS VS GENDERS</vt:lpstr>
      <vt:lpstr>PRIMARY DESIGNATIONS OF PROVIDERS AND CORRESPONDING PLAN NAMES</vt:lpstr>
      <vt:lpstr>COMPARISON OF INSURANCE PLANS ACROSS PROVIDER TYPES</vt:lpstr>
      <vt:lpstr>3-MINUTE STORY</vt:lpstr>
      <vt:lpstr>THE BIG IDEA</vt:lpstr>
      <vt:lpstr>STORY BOARD</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Admin</dc:creator>
  <cp:lastModifiedBy>Vedant Patel</cp:lastModifiedBy>
  <cp:revision>9</cp:revision>
  <dcterms:created xsi:type="dcterms:W3CDTF">2024-03-18T02:24:52Z</dcterms:created>
  <dcterms:modified xsi:type="dcterms:W3CDTF">2024-05-06T21:37:14Z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2024-03-10T00:00:00Z</vt:filetime>
  </property>
  <property fmtid="{D5CDD505-2E9C-101B-9397-08002B2CF9AE}" pid="3" name="Creator">
    <vt:lpwstr>Microsoft® PowerPoint® 2021</vt:lpwstr>
  </property>
  <property fmtid="{D5CDD505-2E9C-101B-9397-08002B2CF9AE}" pid="4" name="LastSaved">
    <vt:filetime>2024-03-18T00:00:00Z</vt:filetime>
  </property>
  <property fmtid="{D5CDD505-2E9C-101B-9397-08002B2CF9AE}" pid="5" name="Producer">
    <vt:lpwstr>Microsoft® PowerPoint® 2021</vt:lpwstr>
  </property>
</Properties>
</file>